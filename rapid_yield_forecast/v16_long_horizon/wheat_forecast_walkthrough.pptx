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93" r:id="rId34"/>
    <p:sldId id="294" r:id="rId35"/>
    <p:sldId id="295" r:id="rId36"/>
    <p:sldId id="296"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224"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15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is a forecasting problem where the hard constraint is scarce ground truth, not model size. Everything in the talk follows from that. The four numbers: scale, timing, accuracy, honesty.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 the audience: by the end they can re-derive the final forecast for one district by hand. That is the test of understanding.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 seconds here. Quantile, calibration and coverage are the three that pay off later — check the audience is comfortable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sentence: 'the third problem — scarce, correlated ground truth — dominates everything.' The model produces a distribution, not a number; that is the product.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picture is the argument: the newest data source is the shortest one. Four test seasons vs nineteen is the difference between anecdote and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paper: this is the 'no leakage' section reviewers look for. The subtle one is the last: even normalisation statistics respect the cutoff.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equation aloud once. The multipliers (1.75, 0.25, 2.25) express how much each correction is trusted — they were fitted on early seasons and frozen.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methodological backbone: correction = treatment minus control on matched runs. Multipliers: amplify what averaging dampened; shrink what can't be trusted.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Residualisation is the transferable idea: predict the deviation from a persistent baseline, not the level. The illustrative arithmetic is on-slide so a reader can reproduce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 model is the interesting one for a paper: cross-country pre-training for a data-poor region. Physics voting but not averaging shows direction and level are separable signals.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an if-statement, not a learned parameter — auditable and explainable. Majority voting on direction is robust when levels are noisy.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Movement calibration = one-parameter regression through origin on movements, not levels. The Rewari back-calculation shows the audience the formula is real.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keeps attribution clean: +1.6 kg/ha is exactly what the 10-day forecast is worth, because everything else was held fixed.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paper this is a gift: a component retained at reduced weight, with the evidence against it printed beside it. That is what honest reporting looks like.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'token' here and 'attention' next slide — the two words that make transformers sound harder than they are. f: R^large -&gt; R^16 is the whole job description.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attention = data-dependent weighted averaging. The mask M is the causality guarantee inside the network. 67k parameters — about one layer of a small language model.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fast — it inoculates the audience against jargon. The novelty of the project is not here.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self-supervised pre-training in miniature: learn representation on the plentiful task, transfer to the scarce one. The same pattern as language models, at 1/1,000,000 the size.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2.25x on a 55-kg/ha signal moved Rewari 126 kg/ha — the single biggest stage move in the worked example, and the one that landed the forecast on the truth.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Cross-fitting is the less obvious leak: a network can score well by memorising district identity. Three-fold split means every district's features come from a model that never saw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Non-parametric conformal-style intervals: no Gaussian assumption anywhere. The scaling step is what lets one shared error shape serve 119 different districts.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arithmetic slowly — it is the moment the whole probability machinery becomes hand-checkable. Note the deleted 0.95: sharpness bought with dishonesty was removed.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density plot is for communication; every probability the model publishes is computed from F, the step-interpolated CDF, not from the smoothed curve.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F(4122)=46% is readable straight off the previous slide's curve — connect the two visually for the audience.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to the results section, one district carries the whole story. Everything is traceable to forecast_probabilities.csv.</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arithmetic is on the slide — invite the audience to check it on a phone calculator. 4297.01 − 9.77 − 125.65 = 4161.59.</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sentence pattern for any district: expected level, direction probability, and tail risk — all relative to last season.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is checkable by any reader from the published CSV — no trust required. Lead with this table when reporting accuracy.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four seasons, a resampling test reports 'certainty' automatically when all four agree — so report the count (4 of 4), never a probability.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Like-for-like: the 273.3 March bar is Stage 1 only (what the earlier multi-date system issued); the full model reaches 265.4. Never mix rows across those tables.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caveat: the OLD system's January intervals covered only 39.5% — rebuilt with the Stage-5 method they reach 79.3%. The January numbers shown here are the rebuilt, honest ones.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 was a calm year regionally — only 5 flagged districts. In a bad year this chart is the product.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four commands, one laptop, and a verification script that recomputes every quoted number. Rare and citable.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lesson: in this problem, resolution and sample size were the binding constraints — not architecture. That sentence is the paper's thesis.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card traces to a machine-verified number in the walkthrough or to the published forecast CSV.</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Q&amp;A.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B4D"/>
        </a:solidFill>
        <a:effectLst/>
      </p:bgPr>
    </p:bg>
    <p:spTree>
      <p:nvGrpSpPr>
        <p:cNvPr id="1" name=""/>
        <p:cNvGrpSpPr/>
        <p:nvPr/>
      </p:nvGrpSpPr>
      <p:grpSpPr>
        <a:xfrm>
          <a:off x="0" y="0"/>
          <a:ext cx="0" cy="0"/>
          <a:chOff x="0" y="0"/>
          <a:chExt cx="0" cy="0"/>
        </a:xfrm>
      </p:grpSpPr>
      <p:sp>
        <p:nvSpPr>
          <p:cNvPr id="2" name="Text 0"/>
          <p:cNvSpPr/>
          <p:nvPr/>
        </p:nvSpPr>
        <p:spPr>
          <a:xfrm>
            <a:off x="822960" y="1051560"/>
            <a:ext cx="10058400" cy="365760"/>
          </a:xfrm>
          <a:prstGeom prst="rect">
            <a:avLst/>
          </a:prstGeom>
          <a:noFill/>
          <a:ln/>
        </p:spPr>
        <p:txBody>
          <a:bodyPr wrap="square" lIns="0" tIns="0" rIns="0" bIns="0" rtlCol="0" anchor="ctr"/>
          <a:lstStyle/>
          <a:p>
            <a:pPr marL="0" indent="0">
              <a:buNone/>
            </a:pPr>
            <a:r>
              <a:rPr lang="en-US" sz="1400" b="1" kern="0" spc="300" dirty="0">
                <a:solidFill>
                  <a:srgbClr val="E8B95A"/>
                </a:solidFill>
                <a:latin typeface="Calibri" pitchFamily="34" charset="0"/>
                <a:ea typeface="Calibri" pitchFamily="34" charset="-122"/>
                <a:cs typeface="Calibri" pitchFamily="34" charset="-120"/>
              </a:rPr>
              <a:t>FORECASTING UNDER SCARCITY</a:t>
            </a:r>
            <a:endParaRPr lang="en-US" sz="1400" dirty="0"/>
          </a:p>
        </p:txBody>
      </p:sp>
      <p:sp>
        <p:nvSpPr>
          <p:cNvPr id="3" name="Text 1"/>
          <p:cNvSpPr/>
          <p:nvPr/>
        </p:nvSpPr>
        <p:spPr>
          <a:xfrm>
            <a:off x="822960" y="1481328"/>
            <a:ext cx="10607040" cy="1920240"/>
          </a:xfrm>
          <a:prstGeom prst="rect">
            <a:avLst/>
          </a:prstGeom>
          <a:noFill/>
          <a:ln/>
        </p:spPr>
        <p:txBody>
          <a:bodyPr wrap="square" lIns="0" tIns="0" rIns="0" bIns="0" rtlCol="0" anchor="ctr"/>
          <a:lstStyle/>
          <a:p>
            <a:pPr marL="0" indent="0">
              <a:lnSpc>
                <a:spcPct val="102000"/>
              </a:lnSpc>
              <a:buNone/>
            </a:pPr>
            <a:r>
              <a:rPr lang="en-US" sz="4400" b="1" dirty="0">
                <a:solidFill>
                  <a:srgbClr val="FFFFFF"/>
                </a:solidFill>
                <a:latin typeface="Calibri" pitchFamily="34" charset="0"/>
                <a:ea typeface="Calibri" pitchFamily="34" charset="-122"/>
                <a:cs typeface="Calibri" pitchFamily="34" charset="-120"/>
              </a:rPr>
              <a:t>Predicting wheat yield</a:t>
            </a:r>
            <a:endParaRPr lang="en-US" sz="4400" dirty="0"/>
          </a:p>
          <a:p>
            <a:pPr marL="0" indent="0">
              <a:lnSpc>
                <a:spcPct val="102000"/>
              </a:lnSpc>
              <a:buNone/>
            </a:pPr>
            <a:r>
              <a:rPr lang="en-US" sz="4400" b="1" dirty="0">
                <a:solidFill>
                  <a:srgbClr val="FFFFFF"/>
                </a:solidFill>
                <a:latin typeface="Calibri" pitchFamily="34" charset="0"/>
                <a:ea typeface="Calibri" pitchFamily="34" charset="-122"/>
                <a:cs typeface="Calibri" pitchFamily="34" charset="-120"/>
              </a:rPr>
              <a:t>eight weeks before harvest</a:t>
            </a:r>
            <a:endParaRPr lang="en-US" sz="4400" dirty="0"/>
          </a:p>
        </p:txBody>
      </p:sp>
      <p:sp>
        <p:nvSpPr>
          <p:cNvPr id="4" name="Text 2"/>
          <p:cNvSpPr/>
          <p:nvPr/>
        </p:nvSpPr>
        <p:spPr>
          <a:xfrm>
            <a:off x="822960" y="3520440"/>
            <a:ext cx="10241280" cy="822960"/>
          </a:xfrm>
          <a:prstGeom prst="rect">
            <a:avLst/>
          </a:prstGeom>
          <a:noFill/>
          <a:ln/>
        </p:spPr>
        <p:txBody>
          <a:bodyPr wrap="square" lIns="0" tIns="0" rIns="0" bIns="0" rtlCol="0" anchor="ctr"/>
          <a:lstStyle/>
          <a:p>
            <a:pPr marL="0" indent="0">
              <a:lnSpc>
                <a:spcPct val="120000"/>
              </a:lnSpc>
              <a:buNone/>
            </a:pPr>
            <a:r>
              <a:rPr lang="en-US" sz="1600" dirty="0">
                <a:solidFill>
                  <a:srgbClr val="D9E2F5"/>
                </a:solidFill>
                <a:latin typeface="Calibri" pitchFamily="34" charset="0"/>
                <a:ea typeface="Calibri" pitchFamily="34" charset="-122"/>
                <a:cs typeface="Calibri" pitchFamily="34" charset="-120"/>
              </a:rPr>
              <a:t>How a layered model turns satellites, weather and history into an honest probability forecast —</a:t>
            </a:r>
            <a:endParaRPr lang="en-US" sz="1600" dirty="0"/>
          </a:p>
          <a:p>
            <a:pPr marL="0" indent="0">
              <a:lnSpc>
                <a:spcPct val="120000"/>
              </a:lnSpc>
              <a:buNone/>
            </a:pPr>
            <a:r>
              <a:rPr lang="en-US" sz="1600" dirty="0">
                <a:solidFill>
                  <a:srgbClr val="D9E2F5"/>
                </a:solidFill>
                <a:latin typeface="Calibri" pitchFamily="34" charset="0"/>
                <a:ea typeface="Calibri" pitchFamily="34" charset="-122"/>
                <a:cs typeface="Calibri" pitchFamily="34" charset="-120"/>
              </a:rPr>
              <a:t>explained from zero, with every step of the arithmetic shown on one real district.</a:t>
            </a:r>
            <a:endParaRPr lang="en-US" sz="1600" dirty="0"/>
          </a:p>
        </p:txBody>
      </p:sp>
      <p:sp>
        <p:nvSpPr>
          <p:cNvPr id="5" name="Shape 3"/>
          <p:cNvSpPr/>
          <p:nvPr/>
        </p:nvSpPr>
        <p:spPr>
          <a:xfrm>
            <a:off x="822960" y="4709160"/>
            <a:ext cx="2468880" cy="1417320"/>
          </a:xfrm>
          <a:prstGeom prst="roundRect">
            <a:avLst>
              <a:gd name="adj" fmla="val 5161"/>
            </a:avLst>
          </a:prstGeom>
          <a:solidFill>
            <a:srgbClr val="2A3A66"/>
          </a:solidFill>
          <a:ln/>
        </p:spPr>
        <p:txBody>
          <a:bodyPr/>
          <a:lstStyle/>
          <a:p>
            <a:endParaRPr lang="en-US"/>
          </a:p>
        </p:txBody>
      </p:sp>
      <p:sp>
        <p:nvSpPr>
          <p:cNvPr id="6" name="Text 4"/>
          <p:cNvSpPr/>
          <p:nvPr/>
        </p:nvSpPr>
        <p:spPr>
          <a:xfrm>
            <a:off x="1005840" y="4864608"/>
            <a:ext cx="2103120" cy="457200"/>
          </a:xfrm>
          <a:prstGeom prst="rect">
            <a:avLst/>
          </a:prstGeom>
          <a:noFill/>
          <a:ln/>
        </p:spPr>
        <p:txBody>
          <a:bodyPr wrap="square" lIns="0" tIns="0" rIns="0" bIns="0" rtlCol="0" anchor="ctr"/>
          <a:lstStyle/>
          <a:p>
            <a:pPr marL="0" indent="0">
              <a:buNone/>
            </a:pPr>
            <a:r>
              <a:rPr lang="en-US" sz="2400" b="1" dirty="0">
                <a:solidFill>
                  <a:srgbClr val="E8B95A"/>
                </a:solidFill>
                <a:latin typeface="Calibri" pitchFamily="34" charset="0"/>
                <a:ea typeface="Calibri" pitchFamily="34" charset="-122"/>
                <a:cs typeface="Calibri" pitchFamily="34" charset="-120"/>
              </a:rPr>
              <a:t>119</a:t>
            </a:r>
            <a:endParaRPr lang="en-US" sz="2400" dirty="0"/>
          </a:p>
        </p:txBody>
      </p:sp>
      <p:sp>
        <p:nvSpPr>
          <p:cNvPr id="7" name="Text 5"/>
          <p:cNvSpPr/>
          <p:nvPr/>
        </p:nvSpPr>
        <p:spPr>
          <a:xfrm>
            <a:off x="1005840" y="5349240"/>
            <a:ext cx="2148840" cy="685800"/>
          </a:xfrm>
          <a:prstGeom prst="rect">
            <a:avLst/>
          </a:prstGeom>
          <a:noFill/>
          <a:ln/>
        </p:spPr>
        <p:txBody>
          <a:bodyPr wrap="square" lIns="0" tIns="0" rIns="0" bIns="0" rtlCol="0" anchor="ctr"/>
          <a:lstStyle/>
          <a:p>
            <a:pPr marL="0" indent="0">
              <a:lnSpc>
                <a:spcPct val="108000"/>
              </a:lnSpc>
              <a:buNone/>
            </a:pPr>
            <a:r>
              <a:rPr lang="en-US" sz="1050" dirty="0">
                <a:solidFill>
                  <a:srgbClr val="D9E2F5"/>
                </a:solidFill>
                <a:latin typeface="Calibri" pitchFamily="34" charset="0"/>
                <a:ea typeface="Calibri" pitchFamily="34" charset="-122"/>
                <a:cs typeface="Calibri" pitchFamily="34" charset="-120"/>
              </a:rPr>
              <a:t>districts across Haryana,</a:t>
            </a:r>
            <a:endParaRPr lang="en-US" sz="1050" dirty="0"/>
          </a:p>
          <a:p>
            <a:pPr marL="0" indent="0">
              <a:lnSpc>
                <a:spcPct val="108000"/>
              </a:lnSpc>
              <a:buNone/>
            </a:pPr>
            <a:r>
              <a:rPr lang="en-US" sz="1050" dirty="0">
                <a:solidFill>
                  <a:srgbClr val="D9E2F5"/>
                </a:solidFill>
                <a:latin typeface="Calibri" pitchFamily="34" charset="0"/>
                <a:ea typeface="Calibri" pitchFamily="34" charset="-122"/>
                <a:cs typeface="Calibri" pitchFamily="34" charset="-120"/>
              </a:rPr>
              <a:t>Punjab &amp; Uttar Pradesh</a:t>
            </a:r>
            <a:endParaRPr lang="en-US" sz="1050" dirty="0"/>
          </a:p>
        </p:txBody>
      </p:sp>
      <p:sp>
        <p:nvSpPr>
          <p:cNvPr id="8" name="Shape 6"/>
          <p:cNvSpPr/>
          <p:nvPr/>
        </p:nvSpPr>
        <p:spPr>
          <a:xfrm>
            <a:off x="3520440" y="4709160"/>
            <a:ext cx="2468880" cy="1417320"/>
          </a:xfrm>
          <a:prstGeom prst="roundRect">
            <a:avLst>
              <a:gd name="adj" fmla="val 5161"/>
            </a:avLst>
          </a:prstGeom>
          <a:solidFill>
            <a:srgbClr val="2A3A66"/>
          </a:solidFill>
          <a:ln/>
        </p:spPr>
        <p:txBody>
          <a:bodyPr/>
          <a:lstStyle/>
          <a:p>
            <a:endParaRPr lang="en-US"/>
          </a:p>
        </p:txBody>
      </p:sp>
      <p:sp>
        <p:nvSpPr>
          <p:cNvPr id="9" name="Text 7"/>
          <p:cNvSpPr/>
          <p:nvPr/>
        </p:nvSpPr>
        <p:spPr>
          <a:xfrm>
            <a:off x="3703320" y="4864608"/>
            <a:ext cx="2103120" cy="457200"/>
          </a:xfrm>
          <a:prstGeom prst="rect">
            <a:avLst/>
          </a:prstGeom>
          <a:noFill/>
          <a:ln/>
        </p:spPr>
        <p:txBody>
          <a:bodyPr wrap="square" lIns="0" tIns="0" rIns="0" bIns="0" rtlCol="0" anchor="ctr"/>
          <a:lstStyle/>
          <a:p>
            <a:pPr marL="0" indent="0">
              <a:buNone/>
            </a:pPr>
            <a:r>
              <a:rPr lang="en-US" sz="2400" b="1" dirty="0">
                <a:solidFill>
                  <a:srgbClr val="E8B95A"/>
                </a:solidFill>
                <a:latin typeface="Calibri" pitchFamily="34" charset="0"/>
                <a:ea typeface="Calibri" pitchFamily="34" charset="-122"/>
                <a:cs typeface="Calibri" pitchFamily="34" charset="-120"/>
              </a:rPr>
              <a:t>5 March</a:t>
            </a:r>
            <a:endParaRPr lang="en-US" sz="2400" dirty="0"/>
          </a:p>
        </p:txBody>
      </p:sp>
      <p:sp>
        <p:nvSpPr>
          <p:cNvPr id="10" name="Text 8"/>
          <p:cNvSpPr/>
          <p:nvPr/>
        </p:nvSpPr>
        <p:spPr>
          <a:xfrm>
            <a:off x="3703320" y="5349240"/>
            <a:ext cx="2148840" cy="685800"/>
          </a:xfrm>
          <a:prstGeom prst="rect">
            <a:avLst/>
          </a:prstGeom>
          <a:noFill/>
          <a:ln/>
        </p:spPr>
        <p:txBody>
          <a:bodyPr wrap="square" lIns="0" tIns="0" rIns="0" bIns="0" rtlCol="0" anchor="ctr"/>
          <a:lstStyle/>
          <a:p>
            <a:pPr marL="0" indent="0">
              <a:lnSpc>
                <a:spcPct val="108000"/>
              </a:lnSpc>
              <a:buNone/>
            </a:pPr>
            <a:r>
              <a:rPr lang="en-US" sz="1050" dirty="0">
                <a:solidFill>
                  <a:srgbClr val="D9E2F5"/>
                </a:solidFill>
                <a:latin typeface="Calibri" pitchFamily="34" charset="0"/>
                <a:ea typeface="Calibri" pitchFamily="34" charset="-122"/>
                <a:cs typeface="Calibri" pitchFamily="34" charset="-120"/>
              </a:rPr>
              <a:t>the forecast date — 8 weeks</a:t>
            </a:r>
            <a:endParaRPr lang="en-US" sz="1050" dirty="0"/>
          </a:p>
          <a:p>
            <a:pPr marL="0" indent="0">
              <a:lnSpc>
                <a:spcPct val="108000"/>
              </a:lnSpc>
              <a:buNone/>
            </a:pPr>
            <a:r>
              <a:rPr lang="en-US" sz="1050" dirty="0">
                <a:solidFill>
                  <a:srgbClr val="D9E2F5"/>
                </a:solidFill>
                <a:latin typeface="Calibri" pitchFamily="34" charset="0"/>
                <a:ea typeface="Calibri" pitchFamily="34" charset="-122"/>
                <a:cs typeface="Calibri" pitchFamily="34" charset="-120"/>
              </a:rPr>
              <a:t>before the April–May harvest</a:t>
            </a:r>
            <a:endParaRPr lang="en-US" sz="1050" dirty="0"/>
          </a:p>
        </p:txBody>
      </p:sp>
      <p:sp>
        <p:nvSpPr>
          <p:cNvPr id="11" name="Shape 9"/>
          <p:cNvSpPr/>
          <p:nvPr/>
        </p:nvSpPr>
        <p:spPr>
          <a:xfrm>
            <a:off x="6217920" y="4709160"/>
            <a:ext cx="2468880" cy="1417320"/>
          </a:xfrm>
          <a:prstGeom prst="roundRect">
            <a:avLst>
              <a:gd name="adj" fmla="val 5161"/>
            </a:avLst>
          </a:prstGeom>
          <a:solidFill>
            <a:srgbClr val="2A3A66"/>
          </a:solidFill>
          <a:ln/>
        </p:spPr>
        <p:txBody>
          <a:bodyPr/>
          <a:lstStyle/>
          <a:p>
            <a:endParaRPr lang="en-US"/>
          </a:p>
        </p:txBody>
      </p:sp>
      <p:sp>
        <p:nvSpPr>
          <p:cNvPr id="12" name="Text 10"/>
          <p:cNvSpPr/>
          <p:nvPr/>
        </p:nvSpPr>
        <p:spPr>
          <a:xfrm>
            <a:off x="6400800" y="4864608"/>
            <a:ext cx="2103120" cy="457200"/>
          </a:xfrm>
          <a:prstGeom prst="rect">
            <a:avLst/>
          </a:prstGeom>
          <a:noFill/>
          <a:ln/>
        </p:spPr>
        <p:txBody>
          <a:bodyPr wrap="square" lIns="0" tIns="0" rIns="0" bIns="0" rtlCol="0" anchor="ctr"/>
          <a:lstStyle/>
          <a:p>
            <a:pPr marL="0" indent="0">
              <a:buNone/>
            </a:pPr>
            <a:r>
              <a:rPr lang="en-US" sz="2400" b="1" dirty="0">
                <a:solidFill>
                  <a:srgbClr val="E8B95A"/>
                </a:solidFill>
                <a:latin typeface="Calibri" pitchFamily="34" charset="0"/>
                <a:ea typeface="Calibri" pitchFamily="34" charset="-122"/>
                <a:cs typeface="Calibri" pitchFamily="34" charset="-120"/>
              </a:rPr>
              <a:t>265 kg/ha</a:t>
            </a:r>
            <a:endParaRPr lang="en-US" sz="2400" dirty="0"/>
          </a:p>
        </p:txBody>
      </p:sp>
      <p:sp>
        <p:nvSpPr>
          <p:cNvPr id="13" name="Text 11"/>
          <p:cNvSpPr/>
          <p:nvPr/>
        </p:nvSpPr>
        <p:spPr>
          <a:xfrm>
            <a:off x="6400800" y="5349240"/>
            <a:ext cx="2148840" cy="685800"/>
          </a:xfrm>
          <a:prstGeom prst="rect">
            <a:avLst/>
          </a:prstGeom>
          <a:noFill/>
          <a:ln/>
        </p:spPr>
        <p:txBody>
          <a:bodyPr wrap="square" lIns="0" tIns="0" rIns="0" bIns="0" rtlCol="0" anchor="ctr"/>
          <a:lstStyle/>
          <a:p>
            <a:pPr marL="0" indent="0">
              <a:lnSpc>
                <a:spcPct val="108000"/>
              </a:lnSpc>
              <a:buNone/>
            </a:pPr>
            <a:r>
              <a:rPr lang="en-US" sz="1050" dirty="0">
                <a:solidFill>
                  <a:srgbClr val="D9E2F5"/>
                </a:solidFill>
                <a:latin typeface="Calibri" pitchFamily="34" charset="0"/>
                <a:ea typeface="Calibri" pitchFamily="34" charset="-122"/>
                <a:cs typeface="Calibri" pitchFamily="34" charset="-120"/>
              </a:rPr>
              <a:t>typical error, about 5.9%</a:t>
            </a:r>
            <a:endParaRPr lang="en-US" sz="1050" dirty="0"/>
          </a:p>
          <a:p>
            <a:pPr marL="0" indent="0">
              <a:lnSpc>
                <a:spcPct val="108000"/>
              </a:lnSpc>
              <a:buNone/>
            </a:pPr>
            <a:r>
              <a:rPr lang="en-US" sz="1050" dirty="0">
                <a:solidFill>
                  <a:srgbClr val="D9E2F5"/>
                </a:solidFill>
                <a:latin typeface="Calibri" pitchFamily="34" charset="0"/>
                <a:ea typeface="Calibri" pitchFamily="34" charset="-122"/>
                <a:cs typeface="Calibri" pitchFamily="34" charset="-120"/>
              </a:rPr>
              <a:t>of an average harvest</a:t>
            </a:r>
            <a:endParaRPr lang="en-US" sz="1050" dirty="0"/>
          </a:p>
        </p:txBody>
      </p:sp>
      <p:sp>
        <p:nvSpPr>
          <p:cNvPr id="14" name="Shape 12"/>
          <p:cNvSpPr/>
          <p:nvPr/>
        </p:nvSpPr>
        <p:spPr>
          <a:xfrm>
            <a:off x="8915400" y="4709160"/>
            <a:ext cx="2468880" cy="1417320"/>
          </a:xfrm>
          <a:prstGeom prst="roundRect">
            <a:avLst>
              <a:gd name="adj" fmla="val 5161"/>
            </a:avLst>
          </a:prstGeom>
          <a:solidFill>
            <a:srgbClr val="2A3A66"/>
          </a:solidFill>
          <a:ln/>
        </p:spPr>
        <p:txBody>
          <a:bodyPr/>
          <a:lstStyle/>
          <a:p>
            <a:endParaRPr lang="en-US"/>
          </a:p>
        </p:txBody>
      </p:sp>
      <p:sp>
        <p:nvSpPr>
          <p:cNvPr id="15" name="Text 13"/>
          <p:cNvSpPr/>
          <p:nvPr/>
        </p:nvSpPr>
        <p:spPr>
          <a:xfrm>
            <a:off x="9098280" y="4864608"/>
            <a:ext cx="2103120" cy="457200"/>
          </a:xfrm>
          <a:prstGeom prst="rect">
            <a:avLst/>
          </a:prstGeom>
          <a:noFill/>
          <a:ln/>
        </p:spPr>
        <p:txBody>
          <a:bodyPr wrap="square" lIns="0" tIns="0" rIns="0" bIns="0" rtlCol="0" anchor="ctr"/>
          <a:lstStyle/>
          <a:p>
            <a:pPr marL="0" indent="0">
              <a:buNone/>
            </a:pPr>
            <a:r>
              <a:rPr lang="en-US" sz="2400" b="1" dirty="0">
                <a:solidFill>
                  <a:srgbClr val="E8B95A"/>
                </a:solidFill>
                <a:latin typeface="Calibri" pitchFamily="34" charset="0"/>
                <a:ea typeface="Calibri" pitchFamily="34" charset="-122"/>
                <a:cs typeface="Calibri" pitchFamily="34" charset="-120"/>
              </a:rPr>
              <a:t>80.9%</a:t>
            </a:r>
            <a:endParaRPr lang="en-US" sz="2400" dirty="0"/>
          </a:p>
        </p:txBody>
      </p:sp>
      <p:sp>
        <p:nvSpPr>
          <p:cNvPr id="16" name="Text 14"/>
          <p:cNvSpPr/>
          <p:nvPr/>
        </p:nvSpPr>
        <p:spPr>
          <a:xfrm>
            <a:off x="9098280" y="5349240"/>
            <a:ext cx="2148840" cy="685800"/>
          </a:xfrm>
          <a:prstGeom prst="rect">
            <a:avLst/>
          </a:prstGeom>
          <a:noFill/>
          <a:ln/>
        </p:spPr>
        <p:txBody>
          <a:bodyPr wrap="square" lIns="0" tIns="0" rIns="0" bIns="0" rtlCol="0" anchor="ctr"/>
          <a:lstStyle/>
          <a:p>
            <a:pPr marL="0" indent="0">
              <a:lnSpc>
                <a:spcPct val="108000"/>
              </a:lnSpc>
              <a:buNone/>
            </a:pPr>
            <a:r>
              <a:rPr lang="en-US" sz="1050" dirty="0">
                <a:solidFill>
                  <a:srgbClr val="D9E2F5"/>
                </a:solidFill>
                <a:latin typeface="Calibri" pitchFamily="34" charset="0"/>
                <a:ea typeface="Calibri" pitchFamily="34" charset="-122"/>
                <a:cs typeface="Calibri" pitchFamily="34" charset="-120"/>
              </a:rPr>
              <a:t>of harvests landed inside the</a:t>
            </a:r>
            <a:endParaRPr lang="en-US" sz="1050" dirty="0"/>
          </a:p>
          <a:p>
            <a:pPr marL="0" indent="0">
              <a:lnSpc>
                <a:spcPct val="108000"/>
              </a:lnSpc>
              <a:buNone/>
            </a:pPr>
            <a:r>
              <a:rPr lang="en-US" sz="1050" dirty="0">
                <a:solidFill>
                  <a:srgbClr val="D9E2F5"/>
                </a:solidFill>
                <a:latin typeface="Calibri" pitchFamily="34" charset="0"/>
                <a:ea typeface="Calibri" pitchFamily="34" charset="-122"/>
                <a:cs typeface="Calibri" pitchFamily="34" charset="-120"/>
              </a:rPr>
              <a:t>model's stated 80% ranges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What this presentation covers, in the order it happens</a:t>
            </a:r>
            <a:endParaRPr lang="en-US" sz="2700" dirty="0"/>
          </a:p>
        </p:txBody>
      </p:sp>
      <p:sp>
        <p:nvSpPr>
          <p:cNvPr id="4" name="Shape 2"/>
          <p:cNvSpPr/>
          <p:nvPr/>
        </p:nvSpPr>
        <p:spPr>
          <a:xfrm>
            <a:off x="502920" y="1572768"/>
            <a:ext cx="11201400" cy="713232"/>
          </a:xfrm>
          <a:prstGeom prst="roundRect">
            <a:avLst>
              <a:gd name="adj" fmla="val 7692"/>
            </a:avLst>
          </a:prstGeom>
          <a:solidFill>
            <a:srgbClr val="F4F5F7"/>
          </a:solidFill>
          <a:ln/>
        </p:spPr>
        <p:txBody>
          <a:bodyPr/>
          <a:lstStyle/>
          <a:p>
            <a:endParaRPr lang="en-US"/>
          </a:p>
        </p:txBody>
      </p:sp>
      <p:sp>
        <p:nvSpPr>
          <p:cNvPr id="5" name="Shape 3"/>
          <p:cNvSpPr/>
          <p:nvPr/>
        </p:nvSpPr>
        <p:spPr>
          <a:xfrm>
            <a:off x="685800" y="1737360"/>
            <a:ext cx="384048" cy="384048"/>
          </a:xfrm>
          <a:prstGeom prst="ellipse">
            <a:avLst/>
          </a:prstGeom>
          <a:solidFill>
            <a:srgbClr val="2A78D6"/>
          </a:solidFill>
          <a:ln/>
        </p:spPr>
        <p:txBody>
          <a:bodyPr/>
          <a:lstStyle/>
          <a:p>
            <a:endParaRPr lang="en-US"/>
          </a:p>
        </p:txBody>
      </p:sp>
      <p:sp>
        <p:nvSpPr>
          <p:cNvPr id="6" name="Text 4"/>
          <p:cNvSpPr/>
          <p:nvPr/>
        </p:nvSpPr>
        <p:spPr>
          <a:xfrm>
            <a:off x="685800" y="17282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80160" y="1572768"/>
            <a:ext cx="3108960" cy="713232"/>
          </a:xfrm>
          <a:prstGeom prst="rect">
            <a:avLst/>
          </a:prstGeom>
          <a:noFill/>
          <a:ln/>
        </p:spPr>
        <p:txBody>
          <a:bodyPr wrap="square" lIns="0" tIns="0" rIns="0" bIns="0" rtlCol="0" anchor="ctr"/>
          <a:lstStyle/>
          <a:p>
            <a:pPr marL="0" indent="0">
              <a:buNone/>
            </a:pPr>
            <a:r>
              <a:rPr lang="en-US" sz="1500" b="1" dirty="0">
                <a:solidFill>
                  <a:srgbClr val="20242B"/>
                </a:solidFill>
                <a:latin typeface="Calibri" pitchFamily="34" charset="0"/>
                <a:ea typeface="Calibri" pitchFamily="34" charset="-122"/>
                <a:cs typeface="Calibri" pitchFamily="34" charset="-120"/>
              </a:rPr>
              <a:t>The problem</a:t>
            </a:r>
            <a:endParaRPr lang="en-US" sz="1500" dirty="0"/>
          </a:p>
        </p:txBody>
      </p:sp>
      <p:sp>
        <p:nvSpPr>
          <p:cNvPr id="8" name="Text 6"/>
          <p:cNvSpPr/>
          <p:nvPr/>
        </p:nvSpPr>
        <p:spPr>
          <a:xfrm>
            <a:off x="4480560" y="1572768"/>
            <a:ext cx="7040880" cy="713232"/>
          </a:xfrm>
          <a:prstGeom prst="rect">
            <a:avLst/>
          </a:prstGeom>
          <a:noFill/>
          <a:ln/>
        </p:spPr>
        <p:txBody>
          <a:bodyPr wrap="square" lIns="0" tIns="0" rIns="0" bIns="0" rtlCol="0" anchor="ctr"/>
          <a:lstStyle/>
          <a:p>
            <a:pPr marL="0" indent="0">
              <a:buNone/>
            </a:pPr>
            <a:r>
              <a:rPr lang="en-US" sz="1250" dirty="0">
                <a:solidFill>
                  <a:srgbClr val="5A6170"/>
                </a:solidFill>
                <a:latin typeface="Calibri" pitchFamily="34" charset="0"/>
                <a:ea typeface="Calibri" pitchFamily="34" charset="-122"/>
                <a:cs typeface="Calibri" pitchFamily="34" charset="-120"/>
              </a:rPr>
              <a:t>What must be predicted, when, and why it is genuinely hard</a:t>
            </a:r>
            <a:endParaRPr lang="en-US" sz="1250" dirty="0"/>
          </a:p>
        </p:txBody>
      </p:sp>
      <p:sp>
        <p:nvSpPr>
          <p:cNvPr id="9" name="Shape 7"/>
          <p:cNvSpPr/>
          <p:nvPr/>
        </p:nvSpPr>
        <p:spPr>
          <a:xfrm>
            <a:off x="502920" y="2414016"/>
            <a:ext cx="11201400" cy="713232"/>
          </a:xfrm>
          <a:prstGeom prst="roundRect">
            <a:avLst>
              <a:gd name="adj" fmla="val 7692"/>
            </a:avLst>
          </a:prstGeom>
          <a:solidFill>
            <a:srgbClr val="F4F5F7"/>
          </a:solidFill>
          <a:ln/>
        </p:spPr>
        <p:txBody>
          <a:bodyPr/>
          <a:lstStyle/>
          <a:p>
            <a:endParaRPr lang="en-US"/>
          </a:p>
        </p:txBody>
      </p:sp>
      <p:sp>
        <p:nvSpPr>
          <p:cNvPr id="10" name="Shape 8"/>
          <p:cNvSpPr/>
          <p:nvPr/>
        </p:nvSpPr>
        <p:spPr>
          <a:xfrm>
            <a:off x="685800" y="2578608"/>
            <a:ext cx="384048" cy="384048"/>
          </a:xfrm>
          <a:prstGeom prst="ellipse">
            <a:avLst/>
          </a:prstGeom>
          <a:solidFill>
            <a:srgbClr val="2A78D6"/>
          </a:solidFill>
          <a:ln/>
        </p:spPr>
        <p:txBody>
          <a:bodyPr/>
          <a:lstStyle/>
          <a:p>
            <a:endParaRPr lang="en-US"/>
          </a:p>
        </p:txBody>
      </p:sp>
      <p:sp>
        <p:nvSpPr>
          <p:cNvPr id="11" name="Text 9"/>
          <p:cNvSpPr/>
          <p:nvPr/>
        </p:nvSpPr>
        <p:spPr>
          <a:xfrm>
            <a:off x="685800" y="256946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280160" y="2414016"/>
            <a:ext cx="3108960" cy="713232"/>
          </a:xfrm>
          <a:prstGeom prst="rect">
            <a:avLst/>
          </a:prstGeom>
          <a:noFill/>
          <a:ln/>
        </p:spPr>
        <p:txBody>
          <a:bodyPr wrap="square" lIns="0" tIns="0" rIns="0" bIns="0" rtlCol="0" anchor="ctr"/>
          <a:lstStyle/>
          <a:p>
            <a:pPr marL="0" indent="0">
              <a:buNone/>
            </a:pPr>
            <a:r>
              <a:rPr lang="en-US" sz="1500" b="1" dirty="0">
                <a:solidFill>
                  <a:srgbClr val="20242B"/>
                </a:solidFill>
                <a:latin typeface="Calibri" pitchFamily="34" charset="0"/>
                <a:ea typeface="Calibri" pitchFamily="34" charset="-122"/>
                <a:cs typeface="Calibri" pitchFamily="34" charset="-120"/>
              </a:rPr>
              <a:t>The data</a:t>
            </a:r>
            <a:endParaRPr lang="en-US" sz="1500" dirty="0"/>
          </a:p>
        </p:txBody>
      </p:sp>
      <p:sp>
        <p:nvSpPr>
          <p:cNvPr id="13" name="Text 11"/>
          <p:cNvSpPr/>
          <p:nvPr/>
        </p:nvSpPr>
        <p:spPr>
          <a:xfrm>
            <a:off x="4480560" y="2414016"/>
            <a:ext cx="7040880" cy="713232"/>
          </a:xfrm>
          <a:prstGeom prst="rect">
            <a:avLst/>
          </a:prstGeom>
          <a:noFill/>
          <a:ln/>
        </p:spPr>
        <p:txBody>
          <a:bodyPr wrap="square" lIns="0" tIns="0" rIns="0" bIns="0" rtlCol="0" anchor="ctr"/>
          <a:lstStyle/>
          <a:p>
            <a:pPr marL="0" indent="0">
              <a:buNone/>
            </a:pPr>
            <a:r>
              <a:rPr lang="en-US" sz="1250" dirty="0">
                <a:solidFill>
                  <a:srgbClr val="5A6170"/>
                </a:solidFill>
                <a:latin typeface="Calibri" pitchFamily="34" charset="0"/>
                <a:ea typeface="Calibri" pitchFamily="34" charset="-122"/>
                <a:cs typeface="Calibri" pitchFamily="34" charset="-120"/>
              </a:rPr>
              <a:t>Five sources, and the one fact about them that shaped the whole design</a:t>
            </a:r>
            <a:endParaRPr lang="en-US" sz="1250" dirty="0"/>
          </a:p>
        </p:txBody>
      </p:sp>
      <p:sp>
        <p:nvSpPr>
          <p:cNvPr id="14" name="Shape 12"/>
          <p:cNvSpPr/>
          <p:nvPr/>
        </p:nvSpPr>
        <p:spPr>
          <a:xfrm>
            <a:off x="502920" y="3255264"/>
            <a:ext cx="11201400" cy="713232"/>
          </a:xfrm>
          <a:prstGeom prst="roundRect">
            <a:avLst>
              <a:gd name="adj" fmla="val 7692"/>
            </a:avLst>
          </a:prstGeom>
          <a:solidFill>
            <a:srgbClr val="F4F5F7"/>
          </a:solidFill>
          <a:ln/>
        </p:spPr>
        <p:txBody>
          <a:bodyPr/>
          <a:lstStyle/>
          <a:p>
            <a:endParaRPr lang="en-US"/>
          </a:p>
        </p:txBody>
      </p:sp>
      <p:sp>
        <p:nvSpPr>
          <p:cNvPr id="15" name="Shape 13"/>
          <p:cNvSpPr/>
          <p:nvPr/>
        </p:nvSpPr>
        <p:spPr>
          <a:xfrm>
            <a:off x="685800" y="3419856"/>
            <a:ext cx="384048" cy="384048"/>
          </a:xfrm>
          <a:prstGeom prst="ellipse">
            <a:avLst/>
          </a:prstGeom>
          <a:solidFill>
            <a:srgbClr val="C98500"/>
          </a:solidFill>
          <a:ln/>
        </p:spPr>
        <p:txBody>
          <a:bodyPr/>
          <a:lstStyle/>
          <a:p>
            <a:endParaRPr lang="en-US"/>
          </a:p>
        </p:txBody>
      </p:sp>
      <p:sp>
        <p:nvSpPr>
          <p:cNvPr id="16" name="Text 14"/>
          <p:cNvSpPr/>
          <p:nvPr/>
        </p:nvSpPr>
        <p:spPr>
          <a:xfrm>
            <a:off x="685800" y="34107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280160" y="3255264"/>
            <a:ext cx="3108960" cy="713232"/>
          </a:xfrm>
          <a:prstGeom prst="rect">
            <a:avLst/>
          </a:prstGeom>
          <a:noFill/>
          <a:ln/>
        </p:spPr>
        <p:txBody>
          <a:bodyPr wrap="square" lIns="0" tIns="0" rIns="0" bIns="0" rtlCol="0" anchor="ctr"/>
          <a:lstStyle/>
          <a:p>
            <a:pPr marL="0" indent="0">
              <a:buNone/>
            </a:pPr>
            <a:r>
              <a:rPr lang="en-US" sz="1500" b="1" dirty="0">
                <a:solidFill>
                  <a:srgbClr val="20242B"/>
                </a:solidFill>
                <a:latin typeface="Calibri" pitchFamily="34" charset="0"/>
                <a:ea typeface="Calibri" pitchFamily="34" charset="-122"/>
                <a:cs typeface="Calibri" pitchFamily="34" charset="-120"/>
              </a:rPr>
              <a:t>The model, stage by stage</a:t>
            </a:r>
            <a:endParaRPr lang="en-US" sz="1500" dirty="0"/>
          </a:p>
        </p:txBody>
      </p:sp>
      <p:sp>
        <p:nvSpPr>
          <p:cNvPr id="18" name="Text 16"/>
          <p:cNvSpPr/>
          <p:nvPr/>
        </p:nvSpPr>
        <p:spPr>
          <a:xfrm>
            <a:off x="4480560" y="3255264"/>
            <a:ext cx="7040880" cy="713232"/>
          </a:xfrm>
          <a:prstGeom prst="rect">
            <a:avLst/>
          </a:prstGeom>
          <a:noFill/>
          <a:ln/>
        </p:spPr>
        <p:txBody>
          <a:bodyPr wrap="square" lIns="0" tIns="0" rIns="0" bIns="0" rtlCol="0" anchor="ctr"/>
          <a:lstStyle/>
          <a:p>
            <a:pPr marL="0" indent="0">
              <a:buNone/>
            </a:pPr>
            <a:r>
              <a:rPr lang="en-US" sz="1250" dirty="0">
                <a:solidFill>
                  <a:srgbClr val="5A6170"/>
                </a:solidFill>
                <a:latin typeface="Calibri" pitchFamily="34" charset="0"/>
                <a:ea typeface="Calibri" pitchFamily="34" charset="-122"/>
                <a:cs typeface="Calibri" pitchFamily="34" charset="-120"/>
              </a:rPr>
              <a:t>A conservative base + four corrections — each with its math and a real number</a:t>
            </a:r>
            <a:endParaRPr lang="en-US" sz="1250" dirty="0"/>
          </a:p>
        </p:txBody>
      </p:sp>
      <p:sp>
        <p:nvSpPr>
          <p:cNvPr id="19" name="Shape 17"/>
          <p:cNvSpPr/>
          <p:nvPr/>
        </p:nvSpPr>
        <p:spPr>
          <a:xfrm>
            <a:off x="502920" y="4096512"/>
            <a:ext cx="11201400" cy="713232"/>
          </a:xfrm>
          <a:prstGeom prst="roundRect">
            <a:avLst>
              <a:gd name="adj" fmla="val 7692"/>
            </a:avLst>
          </a:prstGeom>
          <a:solidFill>
            <a:srgbClr val="F4F5F7"/>
          </a:solidFill>
          <a:ln/>
        </p:spPr>
        <p:txBody>
          <a:bodyPr/>
          <a:lstStyle/>
          <a:p>
            <a:endParaRPr lang="en-US"/>
          </a:p>
        </p:txBody>
      </p:sp>
      <p:sp>
        <p:nvSpPr>
          <p:cNvPr id="20" name="Shape 18"/>
          <p:cNvSpPr/>
          <p:nvPr/>
        </p:nvSpPr>
        <p:spPr>
          <a:xfrm>
            <a:off x="685800" y="4261104"/>
            <a:ext cx="384048" cy="384048"/>
          </a:xfrm>
          <a:prstGeom prst="ellipse">
            <a:avLst/>
          </a:prstGeom>
          <a:solidFill>
            <a:srgbClr val="C98500"/>
          </a:solidFill>
          <a:ln/>
        </p:spPr>
        <p:txBody>
          <a:bodyPr/>
          <a:lstStyle/>
          <a:p>
            <a:endParaRPr lang="en-US"/>
          </a:p>
        </p:txBody>
      </p:sp>
      <p:sp>
        <p:nvSpPr>
          <p:cNvPr id="21" name="Text 19"/>
          <p:cNvSpPr/>
          <p:nvPr/>
        </p:nvSpPr>
        <p:spPr>
          <a:xfrm>
            <a:off x="685800" y="4251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280160" y="4096512"/>
            <a:ext cx="3108960" cy="713232"/>
          </a:xfrm>
          <a:prstGeom prst="rect">
            <a:avLst/>
          </a:prstGeom>
          <a:noFill/>
          <a:ln/>
        </p:spPr>
        <p:txBody>
          <a:bodyPr wrap="square" lIns="0" tIns="0" rIns="0" bIns="0" rtlCol="0" anchor="ctr"/>
          <a:lstStyle/>
          <a:p>
            <a:pPr marL="0" indent="0">
              <a:buNone/>
            </a:pPr>
            <a:r>
              <a:rPr lang="en-US" sz="1500" b="1" dirty="0">
                <a:solidFill>
                  <a:srgbClr val="20242B"/>
                </a:solidFill>
                <a:latin typeface="Calibri" pitchFamily="34" charset="0"/>
                <a:ea typeface="Calibri" pitchFamily="34" charset="-122"/>
                <a:cs typeface="Calibri" pitchFamily="34" charset="-120"/>
              </a:rPr>
              <a:t>From number to probability</a:t>
            </a:r>
            <a:endParaRPr lang="en-US" sz="1500" dirty="0"/>
          </a:p>
        </p:txBody>
      </p:sp>
      <p:sp>
        <p:nvSpPr>
          <p:cNvPr id="23" name="Text 21"/>
          <p:cNvSpPr/>
          <p:nvPr/>
        </p:nvSpPr>
        <p:spPr>
          <a:xfrm>
            <a:off x="4480560" y="4096512"/>
            <a:ext cx="7040880" cy="713232"/>
          </a:xfrm>
          <a:prstGeom prst="rect">
            <a:avLst/>
          </a:prstGeom>
          <a:noFill/>
          <a:ln/>
        </p:spPr>
        <p:txBody>
          <a:bodyPr wrap="square" lIns="0" tIns="0" rIns="0" bIns="0" rtlCol="0" anchor="ctr"/>
          <a:lstStyle/>
          <a:p>
            <a:pPr marL="0" indent="0">
              <a:buNone/>
            </a:pPr>
            <a:r>
              <a:rPr lang="en-US" sz="1250" dirty="0">
                <a:solidFill>
                  <a:srgbClr val="5A6170"/>
                </a:solidFill>
                <a:latin typeface="Calibri" pitchFamily="34" charset="0"/>
                <a:ea typeface="Calibri" pitchFamily="34" charset="-122"/>
                <a:cs typeface="Calibri" pitchFamily="34" charset="-120"/>
              </a:rPr>
              <a:t>How one forecast becomes 19 quantiles and honest event probabilities</a:t>
            </a:r>
            <a:endParaRPr lang="en-US" sz="1250" dirty="0"/>
          </a:p>
        </p:txBody>
      </p:sp>
      <p:sp>
        <p:nvSpPr>
          <p:cNvPr id="24" name="Shape 22"/>
          <p:cNvSpPr/>
          <p:nvPr/>
        </p:nvSpPr>
        <p:spPr>
          <a:xfrm>
            <a:off x="502920" y="4937760"/>
            <a:ext cx="11201400" cy="713232"/>
          </a:xfrm>
          <a:prstGeom prst="roundRect">
            <a:avLst>
              <a:gd name="adj" fmla="val 7692"/>
            </a:avLst>
          </a:prstGeom>
          <a:solidFill>
            <a:srgbClr val="F4F5F7"/>
          </a:solidFill>
          <a:ln/>
        </p:spPr>
        <p:txBody>
          <a:bodyPr/>
          <a:lstStyle/>
          <a:p>
            <a:endParaRPr lang="en-US"/>
          </a:p>
        </p:txBody>
      </p:sp>
      <p:sp>
        <p:nvSpPr>
          <p:cNvPr id="25" name="Shape 23"/>
          <p:cNvSpPr/>
          <p:nvPr/>
        </p:nvSpPr>
        <p:spPr>
          <a:xfrm>
            <a:off x="685800" y="5102352"/>
            <a:ext cx="384048" cy="384048"/>
          </a:xfrm>
          <a:prstGeom prst="ellipse">
            <a:avLst/>
          </a:prstGeom>
          <a:solidFill>
            <a:srgbClr val="1D7A34"/>
          </a:solidFill>
          <a:ln/>
        </p:spPr>
        <p:txBody>
          <a:bodyPr/>
          <a:lstStyle/>
          <a:p>
            <a:endParaRPr lang="en-US"/>
          </a:p>
        </p:txBody>
      </p:sp>
      <p:sp>
        <p:nvSpPr>
          <p:cNvPr id="26" name="Text 24"/>
          <p:cNvSpPr/>
          <p:nvPr/>
        </p:nvSpPr>
        <p:spPr>
          <a:xfrm>
            <a:off x="685800" y="509320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280160" y="4937760"/>
            <a:ext cx="3108960" cy="713232"/>
          </a:xfrm>
          <a:prstGeom prst="rect">
            <a:avLst/>
          </a:prstGeom>
          <a:noFill/>
          <a:ln/>
        </p:spPr>
        <p:txBody>
          <a:bodyPr wrap="square" lIns="0" tIns="0" rIns="0" bIns="0" rtlCol="0" anchor="ctr"/>
          <a:lstStyle/>
          <a:p>
            <a:pPr marL="0" indent="0">
              <a:buNone/>
            </a:pPr>
            <a:r>
              <a:rPr lang="en-US" sz="1500" b="1" dirty="0">
                <a:solidFill>
                  <a:srgbClr val="20242B"/>
                </a:solidFill>
                <a:latin typeface="Calibri" pitchFamily="34" charset="0"/>
                <a:ea typeface="Calibri" pitchFamily="34" charset="-122"/>
                <a:cs typeface="Calibri" pitchFamily="34" charset="-120"/>
              </a:rPr>
              <a:t>One district, end to end</a:t>
            </a:r>
            <a:endParaRPr lang="en-US" sz="1500" dirty="0"/>
          </a:p>
        </p:txBody>
      </p:sp>
      <p:sp>
        <p:nvSpPr>
          <p:cNvPr id="28" name="Text 26"/>
          <p:cNvSpPr/>
          <p:nvPr/>
        </p:nvSpPr>
        <p:spPr>
          <a:xfrm>
            <a:off x="4480560" y="4937760"/>
            <a:ext cx="7040880" cy="713232"/>
          </a:xfrm>
          <a:prstGeom prst="rect">
            <a:avLst/>
          </a:prstGeom>
          <a:noFill/>
          <a:ln/>
        </p:spPr>
        <p:txBody>
          <a:bodyPr wrap="square" lIns="0" tIns="0" rIns="0" bIns="0" rtlCol="0" anchor="ctr"/>
          <a:lstStyle/>
          <a:p>
            <a:pPr marL="0" indent="0">
              <a:buNone/>
            </a:pPr>
            <a:r>
              <a:rPr lang="en-US" sz="1250" dirty="0">
                <a:solidFill>
                  <a:srgbClr val="5A6170"/>
                </a:solidFill>
                <a:latin typeface="Calibri" pitchFamily="34" charset="0"/>
                <a:ea typeface="Calibri" pitchFamily="34" charset="-122"/>
                <a:cs typeface="Calibri" pitchFamily="34" charset="-120"/>
              </a:rPr>
              <a:t>Rewari, Haryana, 2022 — every stage of the arithmetic on real output</a:t>
            </a:r>
            <a:endParaRPr lang="en-US" sz="1250" dirty="0"/>
          </a:p>
        </p:txBody>
      </p:sp>
      <p:sp>
        <p:nvSpPr>
          <p:cNvPr id="29" name="Shape 27"/>
          <p:cNvSpPr/>
          <p:nvPr/>
        </p:nvSpPr>
        <p:spPr>
          <a:xfrm>
            <a:off x="502920" y="5779008"/>
            <a:ext cx="11201400" cy="713232"/>
          </a:xfrm>
          <a:prstGeom prst="roundRect">
            <a:avLst>
              <a:gd name="adj" fmla="val 7692"/>
            </a:avLst>
          </a:prstGeom>
          <a:solidFill>
            <a:srgbClr val="F4F5F7"/>
          </a:solidFill>
          <a:ln/>
        </p:spPr>
        <p:txBody>
          <a:bodyPr/>
          <a:lstStyle/>
          <a:p>
            <a:endParaRPr lang="en-US"/>
          </a:p>
        </p:txBody>
      </p:sp>
      <p:sp>
        <p:nvSpPr>
          <p:cNvPr id="30" name="Shape 28"/>
          <p:cNvSpPr/>
          <p:nvPr/>
        </p:nvSpPr>
        <p:spPr>
          <a:xfrm>
            <a:off x="685800" y="5943600"/>
            <a:ext cx="384048" cy="384048"/>
          </a:xfrm>
          <a:prstGeom prst="ellipse">
            <a:avLst/>
          </a:prstGeom>
          <a:solidFill>
            <a:srgbClr val="1F2B4D"/>
          </a:solidFill>
          <a:ln/>
        </p:spPr>
        <p:txBody>
          <a:bodyPr/>
          <a:lstStyle/>
          <a:p>
            <a:endParaRPr lang="en-US"/>
          </a:p>
        </p:txBody>
      </p:sp>
      <p:sp>
        <p:nvSpPr>
          <p:cNvPr id="31" name="Text 29"/>
          <p:cNvSpPr/>
          <p:nvPr/>
        </p:nvSpPr>
        <p:spPr>
          <a:xfrm>
            <a:off x="685800" y="59344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1280160" y="5779008"/>
            <a:ext cx="3108960" cy="713232"/>
          </a:xfrm>
          <a:prstGeom prst="rect">
            <a:avLst/>
          </a:prstGeom>
          <a:noFill/>
          <a:ln/>
        </p:spPr>
        <p:txBody>
          <a:bodyPr wrap="square" lIns="0" tIns="0" rIns="0" bIns="0" rtlCol="0" anchor="ctr"/>
          <a:lstStyle/>
          <a:p>
            <a:pPr marL="0" indent="0">
              <a:buNone/>
            </a:pPr>
            <a:r>
              <a:rPr lang="en-US" sz="1500" b="1" dirty="0">
                <a:solidFill>
                  <a:srgbClr val="20242B"/>
                </a:solidFill>
                <a:latin typeface="Calibri" pitchFamily="34" charset="0"/>
                <a:ea typeface="Calibri" pitchFamily="34" charset="-122"/>
                <a:cs typeface="Calibri" pitchFamily="34" charset="-120"/>
              </a:rPr>
              <a:t>Results, honesty &amp; lessons</a:t>
            </a:r>
            <a:endParaRPr lang="en-US" sz="1500" dirty="0"/>
          </a:p>
        </p:txBody>
      </p:sp>
      <p:sp>
        <p:nvSpPr>
          <p:cNvPr id="33" name="Text 31"/>
          <p:cNvSpPr/>
          <p:nvPr/>
        </p:nvSpPr>
        <p:spPr>
          <a:xfrm>
            <a:off x="4480560" y="5779008"/>
            <a:ext cx="7040880" cy="713232"/>
          </a:xfrm>
          <a:prstGeom prst="rect">
            <a:avLst/>
          </a:prstGeom>
          <a:noFill/>
          <a:ln/>
        </p:spPr>
        <p:txBody>
          <a:bodyPr wrap="square" lIns="0" tIns="0" rIns="0" bIns="0" rtlCol="0" anchor="ctr"/>
          <a:lstStyle/>
          <a:p>
            <a:pPr marL="0" indent="0">
              <a:buNone/>
            </a:pPr>
            <a:r>
              <a:rPr lang="en-US" sz="1250" dirty="0">
                <a:solidFill>
                  <a:srgbClr val="5A6170"/>
                </a:solidFill>
                <a:latin typeface="Calibri" pitchFamily="34" charset="0"/>
                <a:ea typeface="Calibri" pitchFamily="34" charset="-122"/>
                <a:cs typeface="Calibri" pitchFamily="34" charset="-120"/>
              </a:rPr>
              <a:t>Accuracy, calibration, why March beats January, and what did not work</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BEFORE ANYTHING ELSE</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Eight words — nothing later assumes more than this</a:t>
            </a:r>
            <a:endParaRPr lang="en-US" sz="2700" dirty="0"/>
          </a:p>
        </p:txBody>
      </p:sp>
      <p:sp>
        <p:nvSpPr>
          <p:cNvPr id="4" name="Shape 2"/>
          <p:cNvSpPr/>
          <p:nvPr/>
        </p:nvSpPr>
        <p:spPr>
          <a:xfrm>
            <a:off x="502920" y="1554480"/>
            <a:ext cx="5486400" cy="1115568"/>
          </a:xfrm>
          <a:prstGeom prst="roundRect">
            <a:avLst>
              <a:gd name="adj" fmla="val 4918"/>
            </a:avLst>
          </a:prstGeom>
          <a:solidFill>
            <a:srgbClr val="FBF3E2"/>
          </a:solidFill>
          <a:ln/>
        </p:spPr>
        <p:txBody>
          <a:bodyPr/>
          <a:lstStyle/>
          <a:p>
            <a:endParaRPr lang="en-US"/>
          </a:p>
        </p:txBody>
      </p:sp>
      <p:sp>
        <p:nvSpPr>
          <p:cNvPr id="5" name="Text 3"/>
          <p:cNvSpPr/>
          <p:nvPr/>
        </p:nvSpPr>
        <p:spPr>
          <a:xfrm>
            <a:off x="685800" y="1627632"/>
            <a:ext cx="5138928" cy="969264"/>
          </a:xfrm>
          <a:prstGeom prst="rect">
            <a:avLst/>
          </a:prstGeom>
          <a:noFill/>
          <a:ln/>
        </p:spPr>
        <p:txBody>
          <a:bodyPr wrap="square" lIns="0" tIns="0" rIns="0" bIns="0" rtlCol="0" anchor="ctr"/>
          <a:lstStyle/>
          <a:p>
            <a:pPr marL="0" indent="0">
              <a:lnSpc>
                <a:spcPct val="107000"/>
              </a:lnSpc>
              <a:buNone/>
            </a:pPr>
            <a:r>
              <a:rPr lang="en-US" sz="1250" b="1" dirty="0">
                <a:solidFill>
                  <a:srgbClr val="C98500"/>
                </a:solidFill>
                <a:latin typeface="Calibri" pitchFamily="34" charset="0"/>
                <a:ea typeface="Calibri" pitchFamily="34" charset="-122"/>
                <a:cs typeface="Calibri" pitchFamily="34" charset="-120"/>
              </a:rPr>
              <a:t>Yield   </a:t>
            </a:r>
            <a:r>
              <a:rPr lang="en-US" sz="1100" dirty="0">
                <a:solidFill>
                  <a:srgbClr val="20242B"/>
                </a:solidFill>
                <a:latin typeface="Calibri" pitchFamily="34" charset="0"/>
                <a:ea typeface="Calibri" pitchFamily="34" charset="-122"/>
                <a:cs typeface="Calibri" pitchFamily="34" charset="-120"/>
              </a:rPr>
              <a:t>grain produced per unit of land, in kg/ha (kilograms per hectare; a hectare is a 100 m × 100 m square). Wheat here averages about 4,500 kg/ha.</a:t>
            </a:r>
            <a:endParaRPr lang="en-US" sz="1250" dirty="0"/>
          </a:p>
        </p:txBody>
      </p:sp>
      <p:sp>
        <p:nvSpPr>
          <p:cNvPr id="6" name="Shape 4"/>
          <p:cNvSpPr/>
          <p:nvPr/>
        </p:nvSpPr>
        <p:spPr>
          <a:xfrm>
            <a:off x="6217920" y="1554480"/>
            <a:ext cx="5486400" cy="1115568"/>
          </a:xfrm>
          <a:prstGeom prst="roundRect">
            <a:avLst>
              <a:gd name="adj" fmla="val 4918"/>
            </a:avLst>
          </a:prstGeom>
          <a:solidFill>
            <a:srgbClr val="F4F5F7"/>
          </a:solidFill>
          <a:ln/>
        </p:spPr>
        <p:txBody>
          <a:bodyPr/>
          <a:lstStyle/>
          <a:p>
            <a:endParaRPr lang="en-US"/>
          </a:p>
        </p:txBody>
      </p:sp>
      <p:sp>
        <p:nvSpPr>
          <p:cNvPr id="7" name="Text 5"/>
          <p:cNvSpPr/>
          <p:nvPr/>
        </p:nvSpPr>
        <p:spPr>
          <a:xfrm>
            <a:off x="6400800" y="1627632"/>
            <a:ext cx="5138928" cy="969264"/>
          </a:xfrm>
          <a:prstGeom prst="rect">
            <a:avLst/>
          </a:prstGeom>
          <a:noFill/>
          <a:ln/>
        </p:spPr>
        <p:txBody>
          <a:bodyPr wrap="square" lIns="0" tIns="0" rIns="0" bIns="0" rtlCol="0" anchor="ctr"/>
          <a:lstStyle/>
          <a:p>
            <a:pPr marL="0" indent="0">
              <a:lnSpc>
                <a:spcPct val="107000"/>
              </a:lnSpc>
              <a:buNone/>
            </a:pPr>
            <a:r>
              <a:rPr lang="en-US" sz="1250" b="1" dirty="0">
                <a:solidFill>
                  <a:srgbClr val="1F2B4D"/>
                </a:solidFill>
                <a:latin typeface="Calibri" pitchFamily="34" charset="0"/>
                <a:ea typeface="Calibri" pitchFamily="34" charset="-122"/>
                <a:cs typeface="Calibri" pitchFamily="34" charset="-120"/>
              </a:rPr>
              <a:t>District   </a:t>
            </a:r>
            <a:r>
              <a:rPr lang="en-US" sz="1100" dirty="0">
                <a:solidFill>
                  <a:srgbClr val="20242B"/>
                </a:solidFill>
                <a:latin typeface="Calibri" pitchFamily="34" charset="0"/>
                <a:ea typeface="Calibri" pitchFamily="34" charset="-122"/>
                <a:cs typeface="Calibri" pitchFamily="34" charset="-120"/>
              </a:rPr>
              <a:t>the administrative unit being forecast. 119 of them, averaging 3,400 km² — each roughly the size of Rhode Island.</a:t>
            </a:r>
            <a:endParaRPr lang="en-US" sz="1250" dirty="0"/>
          </a:p>
        </p:txBody>
      </p:sp>
      <p:sp>
        <p:nvSpPr>
          <p:cNvPr id="8" name="Shape 6"/>
          <p:cNvSpPr/>
          <p:nvPr/>
        </p:nvSpPr>
        <p:spPr>
          <a:xfrm>
            <a:off x="502920" y="2798064"/>
            <a:ext cx="5486400" cy="1115568"/>
          </a:xfrm>
          <a:prstGeom prst="roundRect">
            <a:avLst>
              <a:gd name="adj" fmla="val 4918"/>
            </a:avLst>
          </a:prstGeom>
          <a:solidFill>
            <a:srgbClr val="FBF3E2"/>
          </a:solidFill>
          <a:ln/>
        </p:spPr>
        <p:txBody>
          <a:bodyPr/>
          <a:lstStyle/>
          <a:p>
            <a:endParaRPr lang="en-US"/>
          </a:p>
        </p:txBody>
      </p:sp>
      <p:sp>
        <p:nvSpPr>
          <p:cNvPr id="9" name="Text 7"/>
          <p:cNvSpPr/>
          <p:nvPr/>
        </p:nvSpPr>
        <p:spPr>
          <a:xfrm>
            <a:off x="685800" y="2871216"/>
            <a:ext cx="5138928" cy="969264"/>
          </a:xfrm>
          <a:prstGeom prst="rect">
            <a:avLst/>
          </a:prstGeom>
          <a:noFill/>
          <a:ln/>
        </p:spPr>
        <p:txBody>
          <a:bodyPr wrap="square" lIns="0" tIns="0" rIns="0" bIns="0" rtlCol="0" anchor="ctr"/>
          <a:lstStyle/>
          <a:p>
            <a:pPr marL="0" indent="0">
              <a:lnSpc>
                <a:spcPct val="107000"/>
              </a:lnSpc>
              <a:buNone/>
            </a:pPr>
            <a:r>
              <a:rPr lang="en-US" sz="1250" b="1" dirty="0">
                <a:solidFill>
                  <a:srgbClr val="C98500"/>
                </a:solidFill>
                <a:latin typeface="Calibri" pitchFamily="34" charset="0"/>
                <a:ea typeface="Calibri" pitchFamily="34" charset="-122"/>
                <a:cs typeface="Calibri" pitchFamily="34" charset="-120"/>
              </a:rPr>
              <a:t>Season   </a:t>
            </a:r>
            <a:r>
              <a:rPr lang="en-US" sz="1100" dirty="0">
                <a:solidFill>
                  <a:srgbClr val="20242B"/>
                </a:solidFill>
                <a:latin typeface="Calibri" pitchFamily="34" charset="0"/>
                <a:ea typeface="Calibri" pitchFamily="34" charset="-122"/>
                <a:cs typeface="Calibri" pitchFamily="34" charset="-120"/>
              </a:rPr>
              <a:t>one wheat crop: sown in November, harvested April–May. “Season 2022” = sown Nov 2022, cut in spring 2023.</a:t>
            </a:r>
            <a:endParaRPr lang="en-US" sz="1250" dirty="0"/>
          </a:p>
        </p:txBody>
      </p:sp>
      <p:sp>
        <p:nvSpPr>
          <p:cNvPr id="10" name="Shape 8"/>
          <p:cNvSpPr/>
          <p:nvPr/>
        </p:nvSpPr>
        <p:spPr>
          <a:xfrm>
            <a:off x="6217920" y="2798064"/>
            <a:ext cx="5486400" cy="1115568"/>
          </a:xfrm>
          <a:prstGeom prst="roundRect">
            <a:avLst>
              <a:gd name="adj" fmla="val 4918"/>
            </a:avLst>
          </a:prstGeom>
          <a:solidFill>
            <a:srgbClr val="F4F5F7"/>
          </a:solidFill>
          <a:ln/>
        </p:spPr>
        <p:txBody>
          <a:bodyPr/>
          <a:lstStyle/>
          <a:p>
            <a:endParaRPr lang="en-US"/>
          </a:p>
        </p:txBody>
      </p:sp>
      <p:sp>
        <p:nvSpPr>
          <p:cNvPr id="11" name="Text 9"/>
          <p:cNvSpPr/>
          <p:nvPr/>
        </p:nvSpPr>
        <p:spPr>
          <a:xfrm>
            <a:off x="6400800" y="2871216"/>
            <a:ext cx="5138928" cy="969264"/>
          </a:xfrm>
          <a:prstGeom prst="rect">
            <a:avLst/>
          </a:prstGeom>
          <a:noFill/>
          <a:ln/>
        </p:spPr>
        <p:txBody>
          <a:bodyPr wrap="square" lIns="0" tIns="0" rIns="0" bIns="0" rtlCol="0" anchor="ctr"/>
          <a:lstStyle/>
          <a:p>
            <a:pPr marL="0" indent="0">
              <a:lnSpc>
                <a:spcPct val="107000"/>
              </a:lnSpc>
              <a:buNone/>
            </a:pPr>
            <a:r>
              <a:rPr lang="en-US" sz="1250" b="1" dirty="0">
                <a:solidFill>
                  <a:srgbClr val="1F2B4D"/>
                </a:solidFill>
                <a:latin typeface="Calibri" pitchFamily="34" charset="0"/>
                <a:ea typeface="Calibri" pitchFamily="34" charset="-122"/>
                <a:cs typeface="Calibri" pitchFamily="34" charset="-120"/>
              </a:rPr>
              <a:t>Forecast clock   </a:t>
            </a:r>
            <a:r>
              <a:rPr lang="en-US" sz="1100" dirty="0">
                <a:solidFill>
                  <a:srgbClr val="20242B"/>
                </a:solidFill>
                <a:latin typeface="Calibri" pitchFamily="34" charset="0"/>
                <a:ea typeface="Calibri" pitchFamily="34" charset="-122"/>
                <a:cs typeface="Calibri" pitchFamily="34" charset="-120"/>
              </a:rPr>
              <a:t>the date the answer is due: 5 March. Nothing observed after that date may be used — enforced in code.</a:t>
            </a:r>
            <a:endParaRPr lang="en-US" sz="1250" dirty="0"/>
          </a:p>
        </p:txBody>
      </p:sp>
      <p:sp>
        <p:nvSpPr>
          <p:cNvPr id="12" name="Shape 10"/>
          <p:cNvSpPr/>
          <p:nvPr/>
        </p:nvSpPr>
        <p:spPr>
          <a:xfrm>
            <a:off x="502920" y="4041648"/>
            <a:ext cx="5486400" cy="1115568"/>
          </a:xfrm>
          <a:prstGeom prst="roundRect">
            <a:avLst>
              <a:gd name="adj" fmla="val 4918"/>
            </a:avLst>
          </a:prstGeom>
          <a:solidFill>
            <a:srgbClr val="FBF3E2"/>
          </a:solidFill>
          <a:ln/>
        </p:spPr>
        <p:txBody>
          <a:bodyPr/>
          <a:lstStyle/>
          <a:p>
            <a:endParaRPr lang="en-US"/>
          </a:p>
        </p:txBody>
      </p:sp>
      <p:sp>
        <p:nvSpPr>
          <p:cNvPr id="13" name="Text 11"/>
          <p:cNvSpPr/>
          <p:nvPr/>
        </p:nvSpPr>
        <p:spPr>
          <a:xfrm>
            <a:off x="685800" y="4114800"/>
            <a:ext cx="5138928" cy="969264"/>
          </a:xfrm>
          <a:prstGeom prst="rect">
            <a:avLst/>
          </a:prstGeom>
          <a:noFill/>
          <a:ln/>
        </p:spPr>
        <p:txBody>
          <a:bodyPr wrap="square" lIns="0" tIns="0" rIns="0" bIns="0" rtlCol="0" anchor="ctr"/>
          <a:lstStyle/>
          <a:p>
            <a:pPr marL="0" indent="0">
              <a:lnSpc>
                <a:spcPct val="107000"/>
              </a:lnSpc>
              <a:buNone/>
            </a:pPr>
            <a:r>
              <a:rPr lang="en-US" sz="1250" b="1" dirty="0">
                <a:solidFill>
                  <a:srgbClr val="C98500"/>
                </a:solidFill>
                <a:latin typeface="Calibri" pitchFamily="34" charset="0"/>
                <a:ea typeface="Calibri" pitchFamily="34" charset="-122"/>
                <a:cs typeface="Calibri" pitchFamily="34" charset="-120"/>
              </a:rPr>
              <a:t>Typical error (RMSE)   </a:t>
            </a:r>
            <a:r>
              <a:rPr lang="en-US" sz="1100" dirty="0">
                <a:solidFill>
                  <a:srgbClr val="20242B"/>
                </a:solidFill>
                <a:latin typeface="Calibri" pitchFamily="34" charset="0"/>
                <a:ea typeface="Calibri" pitchFamily="34" charset="-122"/>
                <a:cs typeface="Calibri" pitchFamily="34" charset="-120"/>
              </a:rPr>
              <a:t>how far off predictions usually are: square every error, average them, take the square root. Squaring punishes big misses harder than small ones.</a:t>
            </a:r>
            <a:endParaRPr lang="en-US" sz="1250" dirty="0"/>
          </a:p>
        </p:txBody>
      </p:sp>
      <p:sp>
        <p:nvSpPr>
          <p:cNvPr id="14" name="Shape 12"/>
          <p:cNvSpPr/>
          <p:nvPr/>
        </p:nvSpPr>
        <p:spPr>
          <a:xfrm>
            <a:off x="6217920" y="4041648"/>
            <a:ext cx="5486400" cy="1115568"/>
          </a:xfrm>
          <a:prstGeom prst="roundRect">
            <a:avLst>
              <a:gd name="adj" fmla="val 4918"/>
            </a:avLst>
          </a:prstGeom>
          <a:solidFill>
            <a:srgbClr val="F4F5F7"/>
          </a:solidFill>
          <a:ln/>
        </p:spPr>
        <p:txBody>
          <a:bodyPr/>
          <a:lstStyle/>
          <a:p>
            <a:endParaRPr lang="en-US"/>
          </a:p>
        </p:txBody>
      </p:sp>
      <p:sp>
        <p:nvSpPr>
          <p:cNvPr id="15" name="Text 13"/>
          <p:cNvSpPr/>
          <p:nvPr/>
        </p:nvSpPr>
        <p:spPr>
          <a:xfrm>
            <a:off x="6400800" y="4114800"/>
            <a:ext cx="5138928" cy="969264"/>
          </a:xfrm>
          <a:prstGeom prst="rect">
            <a:avLst/>
          </a:prstGeom>
          <a:noFill/>
          <a:ln/>
        </p:spPr>
        <p:txBody>
          <a:bodyPr wrap="square" lIns="0" tIns="0" rIns="0" bIns="0" rtlCol="0" anchor="ctr"/>
          <a:lstStyle/>
          <a:p>
            <a:pPr marL="0" indent="0">
              <a:lnSpc>
                <a:spcPct val="107000"/>
              </a:lnSpc>
              <a:buNone/>
            </a:pPr>
            <a:r>
              <a:rPr lang="en-US" sz="1250" b="1" dirty="0">
                <a:solidFill>
                  <a:srgbClr val="1F2B4D"/>
                </a:solidFill>
                <a:latin typeface="Calibri" pitchFamily="34" charset="0"/>
                <a:ea typeface="Calibri" pitchFamily="34" charset="-122"/>
                <a:cs typeface="Calibri" pitchFamily="34" charset="-120"/>
              </a:rPr>
              <a:t>Quantile   </a:t>
            </a:r>
            <a:r>
              <a:rPr lang="en-US" sz="1100" dirty="0">
                <a:solidFill>
                  <a:srgbClr val="20242B"/>
                </a:solidFill>
                <a:latin typeface="Calibri" pitchFamily="34" charset="0"/>
                <a:ea typeface="Calibri" pitchFamily="34" charset="-122"/>
                <a:cs typeface="Calibri" pitchFamily="34" charset="-120"/>
              </a:rPr>
              <a:t>a cut-point of a distribution. The 10% quantile is the yield with a 10% chance of NOT being reached; the 50% quantile is the middle.</a:t>
            </a:r>
            <a:endParaRPr lang="en-US" sz="1250" dirty="0"/>
          </a:p>
        </p:txBody>
      </p:sp>
      <p:sp>
        <p:nvSpPr>
          <p:cNvPr id="16" name="Shape 14"/>
          <p:cNvSpPr/>
          <p:nvPr/>
        </p:nvSpPr>
        <p:spPr>
          <a:xfrm>
            <a:off x="502920" y="5285232"/>
            <a:ext cx="5486400" cy="1115568"/>
          </a:xfrm>
          <a:prstGeom prst="roundRect">
            <a:avLst>
              <a:gd name="adj" fmla="val 4918"/>
            </a:avLst>
          </a:prstGeom>
          <a:solidFill>
            <a:srgbClr val="FBF3E2"/>
          </a:solidFill>
          <a:ln/>
        </p:spPr>
        <p:txBody>
          <a:bodyPr/>
          <a:lstStyle/>
          <a:p>
            <a:endParaRPr lang="en-US"/>
          </a:p>
        </p:txBody>
      </p:sp>
      <p:sp>
        <p:nvSpPr>
          <p:cNvPr id="17" name="Text 15"/>
          <p:cNvSpPr/>
          <p:nvPr/>
        </p:nvSpPr>
        <p:spPr>
          <a:xfrm>
            <a:off x="685800" y="5358384"/>
            <a:ext cx="5138928" cy="969264"/>
          </a:xfrm>
          <a:prstGeom prst="rect">
            <a:avLst/>
          </a:prstGeom>
          <a:noFill/>
          <a:ln/>
        </p:spPr>
        <p:txBody>
          <a:bodyPr wrap="square" lIns="0" tIns="0" rIns="0" bIns="0" rtlCol="0" anchor="ctr"/>
          <a:lstStyle/>
          <a:p>
            <a:pPr marL="0" indent="0">
              <a:lnSpc>
                <a:spcPct val="107000"/>
              </a:lnSpc>
              <a:buNone/>
            </a:pPr>
            <a:r>
              <a:rPr lang="en-US" sz="1250" b="1" dirty="0">
                <a:solidFill>
                  <a:srgbClr val="C98500"/>
                </a:solidFill>
                <a:latin typeface="Calibri" pitchFamily="34" charset="0"/>
                <a:ea typeface="Calibri" pitchFamily="34" charset="-122"/>
                <a:cs typeface="Calibri" pitchFamily="34" charset="-120"/>
              </a:rPr>
              <a:t>Calibration   </a:t>
            </a:r>
            <a:r>
              <a:rPr lang="en-US" sz="1100" dirty="0">
                <a:solidFill>
                  <a:srgbClr val="20242B"/>
                </a:solidFill>
                <a:latin typeface="Calibri" pitchFamily="34" charset="0"/>
                <a:ea typeface="Calibri" pitchFamily="34" charset="-122"/>
                <a:cs typeface="Calibri" pitchFamily="34" charset="-120"/>
              </a:rPr>
              <a:t>whether stated probabilities are honest: everything called “20% likely” should happen about 20% of the time.</a:t>
            </a:r>
            <a:endParaRPr lang="en-US" sz="1250" dirty="0"/>
          </a:p>
        </p:txBody>
      </p:sp>
      <p:sp>
        <p:nvSpPr>
          <p:cNvPr id="18" name="Shape 16"/>
          <p:cNvSpPr/>
          <p:nvPr/>
        </p:nvSpPr>
        <p:spPr>
          <a:xfrm>
            <a:off x="6217920" y="5285232"/>
            <a:ext cx="5486400" cy="1115568"/>
          </a:xfrm>
          <a:prstGeom prst="roundRect">
            <a:avLst>
              <a:gd name="adj" fmla="val 4918"/>
            </a:avLst>
          </a:prstGeom>
          <a:solidFill>
            <a:srgbClr val="F4F5F7"/>
          </a:solidFill>
          <a:ln/>
        </p:spPr>
        <p:txBody>
          <a:bodyPr/>
          <a:lstStyle/>
          <a:p>
            <a:endParaRPr lang="en-US"/>
          </a:p>
        </p:txBody>
      </p:sp>
      <p:sp>
        <p:nvSpPr>
          <p:cNvPr id="19" name="Text 17"/>
          <p:cNvSpPr/>
          <p:nvPr/>
        </p:nvSpPr>
        <p:spPr>
          <a:xfrm>
            <a:off x="6400800" y="5358384"/>
            <a:ext cx="5138928" cy="969264"/>
          </a:xfrm>
          <a:prstGeom prst="rect">
            <a:avLst/>
          </a:prstGeom>
          <a:noFill/>
          <a:ln/>
        </p:spPr>
        <p:txBody>
          <a:bodyPr wrap="square" lIns="0" tIns="0" rIns="0" bIns="0" rtlCol="0" anchor="ctr"/>
          <a:lstStyle/>
          <a:p>
            <a:pPr marL="0" indent="0">
              <a:lnSpc>
                <a:spcPct val="107000"/>
              </a:lnSpc>
              <a:buNone/>
            </a:pPr>
            <a:r>
              <a:rPr lang="en-US" sz="1250" b="1" dirty="0">
                <a:solidFill>
                  <a:srgbClr val="1F2B4D"/>
                </a:solidFill>
                <a:latin typeface="Calibri" pitchFamily="34" charset="0"/>
                <a:ea typeface="Calibri" pitchFamily="34" charset="-122"/>
                <a:cs typeface="Calibri" pitchFamily="34" charset="-120"/>
              </a:rPr>
              <a:t>Coverage   </a:t>
            </a:r>
            <a:r>
              <a:rPr lang="en-US" sz="1100" dirty="0">
                <a:solidFill>
                  <a:srgbClr val="20242B"/>
                </a:solidFill>
                <a:latin typeface="Calibri" pitchFamily="34" charset="0"/>
                <a:ea typeface="Calibri" pitchFamily="34" charset="-122"/>
                <a:cs typeface="Calibri" pitchFamily="34" charset="-120"/>
              </a:rPr>
              <a:t>the test of an uncertainty range: publish an 80% range for 100 districts, count how many actual harvests landed inside. The answer should be 80.</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PART 1 · THE PROBLEM</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On 5 March, predict what every district will harvest in May</a:t>
            </a:r>
            <a:endParaRPr lang="en-US" sz="2700" dirty="0"/>
          </a:p>
        </p:txBody>
      </p:sp>
      <p:sp>
        <p:nvSpPr>
          <p:cNvPr id="4" name="Text 2"/>
          <p:cNvSpPr/>
          <p:nvPr/>
        </p:nvSpPr>
        <p:spPr>
          <a:xfrm>
            <a:off x="502920" y="1481328"/>
            <a:ext cx="6675120" cy="1371600"/>
          </a:xfrm>
          <a:prstGeom prst="rect">
            <a:avLst/>
          </a:prstGeom>
          <a:noFill/>
          <a:ln/>
        </p:spPr>
        <p:txBody>
          <a:bodyPr wrap="square" lIns="0" tIns="0" rIns="0" bIns="0" rtlCol="0" anchor="t"/>
          <a:lstStyle/>
          <a:p>
            <a:pPr marL="0" indent="0" algn="l">
              <a:lnSpc>
                <a:spcPct val="114000"/>
              </a:lnSpc>
              <a:buNone/>
            </a:pPr>
            <a:r>
              <a:rPr lang="en-US" sz="1350" b="1" dirty="0">
                <a:solidFill>
                  <a:srgbClr val="20242B"/>
                </a:solidFill>
                <a:latin typeface="Calibri" pitchFamily="34" charset="0"/>
                <a:ea typeface="Calibri" pitchFamily="34" charset="-122"/>
                <a:cs typeface="Calibri" pitchFamily="34" charset="-120"/>
              </a:rPr>
              <a:t>Why 5 March?  </a:t>
            </a:r>
            <a:r>
              <a:rPr lang="en-US" sz="1350" dirty="0">
                <a:solidFill>
                  <a:srgbClr val="20242B"/>
                </a:solidFill>
                <a:latin typeface="Calibri" pitchFamily="34" charset="0"/>
                <a:ea typeface="Calibri" pitchFamily="34" charset="-122"/>
                <a:cs typeface="Calibri" pitchFamily="34" charset="-120"/>
              </a:rPr>
              <a:t>Wheat is sown in November and cut in April–May. By early March the plant has stopped growing leaves and started filling grain — enough of the season is visible to say something useful, and enough time remains for the answer to matter to grain procurement, storage and price policy.</a:t>
            </a:r>
            <a:endParaRPr lang="en-US" sz="1350" dirty="0"/>
          </a:p>
        </p:txBody>
      </p:sp>
      <p:sp>
        <p:nvSpPr>
          <p:cNvPr id="5" name="Shape 3"/>
          <p:cNvSpPr/>
          <p:nvPr/>
        </p:nvSpPr>
        <p:spPr>
          <a:xfrm>
            <a:off x="502920" y="2880360"/>
            <a:ext cx="384048" cy="384048"/>
          </a:xfrm>
          <a:prstGeom prst="ellipse">
            <a:avLst/>
          </a:prstGeom>
          <a:solidFill>
            <a:srgbClr val="C98500"/>
          </a:solidFill>
          <a:ln/>
        </p:spPr>
        <p:txBody>
          <a:bodyPr/>
          <a:lstStyle/>
          <a:p>
            <a:endParaRPr lang="en-US"/>
          </a:p>
        </p:txBody>
      </p:sp>
      <p:sp>
        <p:nvSpPr>
          <p:cNvPr id="6" name="Text 4"/>
          <p:cNvSpPr/>
          <p:nvPr/>
        </p:nvSpPr>
        <p:spPr>
          <a:xfrm>
            <a:off x="502920" y="28712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005840" y="2843784"/>
            <a:ext cx="5486400" cy="45720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The crop is not finished</a:t>
            </a:r>
            <a:endParaRPr lang="en-US" sz="1400" dirty="0"/>
          </a:p>
        </p:txBody>
      </p:sp>
      <p:sp>
        <p:nvSpPr>
          <p:cNvPr id="8" name="Text 6"/>
          <p:cNvSpPr/>
          <p:nvPr/>
        </p:nvSpPr>
        <p:spPr>
          <a:xfrm>
            <a:off x="1005840" y="3291840"/>
            <a:ext cx="6126480" cy="777240"/>
          </a:xfrm>
          <a:prstGeom prst="rect">
            <a:avLst/>
          </a:prstGeom>
          <a:noFill/>
          <a:ln/>
        </p:spPr>
        <p:txBody>
          <a:bodyPr wrap="square" lIns="0" tIns="0" rIns="0" bIns="0" rtlCol="0" anchor="t"/>
          <a:lstStyle/>
          <a:p>
            <a:pPr marL="0" indent="0" algn="l">
              <a:lnSpc>
                <a:spcPct val="114000"/>
              </a:lnSpc>
              <a:buNone/>
            </a:pPr>
            <a:r>
              <a:rPr lang="en-US" sz="1250" dirty="0">
                <a:solidFill>
                  <a:srgbClr val="5A6170"/>
                </a:solidFill>
                <a:latin typeface="Calibri" pitchFamily="34" charset="0"/>
                <a:ea typeface="Calibri" pitchFamily="34" charset="-122"/>
                <a:cs typeface="Calibri" pitchFamily="34" charset="-120"/>
              </a:rPr>
              <a:t>A heatwave in late March can destroy 20% of a harvest that looked healthy on 5 March. That damage has not happened yet — it cannot be observed, only allowed for.</a:t>
            </a:r>
            <a:endParaRPr lang="en-US" sz="1250" dirty="0"/>
          </a:p>
        </p:txBody>
      </p:sp>
      <p:sp>
        <p:nvSpPr>
          <p:cNvPr id="9" name="Shape 7"/>
          <p:cNvSpPr/>
          <p:nvPr/>
        </p:nvSpPr>
        <p:spPr>
          <a:xfrm>
            <a:off x="502920" y="4114800"/>
            <a:ext cx="384048" cy="384048"/>
          </a:xfrm>
          <a:prstGeom prst="ellipse">
            <a:avLst/>
          </a:prstGeom>
          <a:solidFill>
            <a:srgbClr val="C98500"/>
          </a:solidFill>
          <a:ln/>
        </p:spPr>
        <p:txBody>
          <a:bodyPr/>
          <a:lstStyle/>
          <a:p>
            <a:endParaRPr lang="en-US"/>
          </a:p>
        </p:txBody>
      </p:sp>
      <p:sp>
        <p:nvSpPr>
          <p:cNvPr id="10" name="Text 8"/>
          <p:cNvSpPr/>
          <p:nvPr/>
        </p:nvSpPr>
        <p:spPr>
          <a:xfrm>
            <a:off x="502920" y="41056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005840" y="4078224"/>
            <a:ext cx="5486400" cy="45720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Districts are large and varied</a:t>
            </a:r>
            <a:endParaRPr lang="en-US" sz="1400" dirty="0"/>
          </a:p>
        </p:txBody>
      </p:sp>
      <p:sp>
        <p:nvSpPr>
          <p:cNvPr id="12" name="Text 10"/>
          <p:cNvSpPr/>
          <p:nvPr/>
        </p:nvSpPr>
        <p:spPr>
          <a:xfrm>
            <a:off x="1005840" y="4526280"/>
            <a:ext cx="6126480" cy="731520"/>
          </a:xfrm>
          <a:prstGeom prst="rect">
            <a:avLst/>
          </a:prstGeom>
          <a:noFill/>
          <a:ln/>
        </p:spPr>
        <p:txBody>
          <a:bodyPr wrap="square" lIns="0" tIns="0" rIns="0" bIns="0" rtlCol="0" anchor="t"/>
          <a:lstStyle/>
          <a:p>
            <a:pPr marL="0" indent="0" algn="l">
              <a:lnSpc>
                <a:spcPct val="114000"/>
              </a:lnSpc>
              <a:buNone/>
            </a:pPr>
            <a:r>
              <a:rPr lang="en-US" sz="1250" dirty="0">
                <a:solidFill>
                  <a:srgbClr val="5A6170"/>
                </a:solidFill>
                <a:latin typeface="Calibri" pitchFamily="34" charset="0"/>
                <a:ea typeface="Calibri" pitchFamily="34" charset="-122"/>
                <a:cs typeface="Calibri" pitchFamily="34" charset="-120"/>
              </a:rPr>
              <a:t>A single district average hides a lot: half a district can fail while the other half thrives.</a:t>
            </a:r>
            <a:endParaRPr lang="en-US" sz="1250" dirty="0"/>
          </a:p>
        </p:txBody>
      </p:sp>
      <p:sp>
        <p:nvSpPr>
          <p:cNvPr id="13" name="Shape 11"/>
          <p:cNvSpPr/>
          <p:nvPr/>
        </p:nvSpPr>
        <p:spPr>
          <a:xfrm>
            <a:off x="502920" y="5257800"/>
            <a:ext cx="384048" cy="384048"/>
          </a:xfrm>
          <a:prstGeom prst="ellipse">
            <a:avLst/>
          </a:prstGeom>
          <a:solidFill>
            <a:srgbClr val="C98500"/>
          </a:solidFill>
          <a:ln/>
        </p:spPr>
        <p:txBody>
          <a:bodyPr/>
          <a:lstStyle/>
          <a:p>
            <a:endParaRPr lang="en-US"/>
          </a:p>
        </p:txBody>
      </p:sp>
      <p:sp>
        <p:nvSpPr>
          <p:cNvPr id="14" name="Text 12"/>
          <p:cNvSpPr/>
          <p:nvPr/>
        </p:nvSpPr>
        <p:spPr>
          <a:xfrm>
            <a:off x="502920" y="52486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005840" y="5221224"/>
            <a:ext cx="5852160" cy="45720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Ground truth arrives once a year</a:t>
            </a:r>
            <a:endParaRPr lang="en-US" sz="1400" dirty="0"/>
          </a:p>
        </p:txBody>
      </p:sp>
      <p:sp>
        <p:nvSpPr>
          <p:cNvPr id="16" name="Text 14"/>
          <p:cNvSpPr/>
          <p:nvPr/>
        </p:nvSpPr>
        <p:spPr>
          <a:xfrm>
            <a:off x="1005840" y="5669280"/>
            <a:ext cx="6126480" cy="1005840"/>
          </a:xfrm>
          <a:prstGeom prst="rect">
            <a:avLst/>
          </a:prstGeom>
          <a:noFill/>
          <a:ln/>
        </p:spPr>
        <p:txBody>
          <a:bodyPr wrap="square" lIns="0" tIns="0" rIns="0" bIns="0" rtlCol="0" anchor="t"/>
          <a:lstStyle/>
          <a:p>
            <a:pPr marL="0" indent="0" algn="l">
              <a:lnSpc>
                <a:spcPct val="114000"/>
              </a:lnSpc>
              <a:buNone/>
            </a:pPr>
            <a:r>
              <a:rPr lang="en-US" sz="1250" dirty="0">
                <a:solidFill>
                  <a:srgbClr val="5A6170"/>
                </a:solidFill>
                <a:latin typeface="Calibri" pitchFamily="34" charset="0"/>
                <a:ea typeface="Calibri" pitchFamily="34" charset="-122"/>
                <a:cs typeface="Calibri" pitchFamily="34" charset="-120"/>
              </a:rPr>
              <a:t>Only a handful of harvests exist to check the model against — and neighbouring districts fail together in a bad year, so those checks are far less independent than the row count suggests. This problem dominates every design choice that follows.</a:t>
            </a:r>
            <a:endParaRPr lang="en-US" sz="1250" dirty="0"/>
          </a:p>
        </p:txBody>
      </p:sp>
      <p:sp>
        <p:nvSpPr>
          <p:cNvPr id="17" name="Shape 15"/>
          <p:cNvSpPr/>
          <p:nvPr/>
        </p:nvSpPr>
        <p:spPr>
          <a:xfrm>
            <a:off x="7452360" y="2834640"/>
            <a:ext cx="4251960" cy="3657600"/>
          </a:xfrm>
          <a:prstGeom prst="roundRect">
            <a:avLst>
              <a:gd name="adj" fmla="val 2000"/>
            </a:avLst>
          </a:prstGeom>
          <a:solidFill>
            <a:srgbClr val="1F2B4D"/>
          </a:solidFill>
          <a:ln/>
        </p:spPr>
        <p:txBody>
          <a:bodyPr/>
          <a:lstStyle/>
          <a:p>
            <a:endParaRPr lang="en-US"/>
          </a:p>
        </p:txBody>
      </p:sp>
      <p:sp>
        <p:nvSpPr>
          <p:cNvPr id="18" name="Text 16"/>
          <p:cNvSpPr/>
          <p:nvPr/>
        </p:nvSpPr>
        <p:spPr>
          <a:xfrm>
            <a:off x="7726680" y="3035808"/>
            <a:ext cx="3749040" cy="566928"/>
          </a:xfrm>
          <a:prstGeom prst="rect">
            <a:avLst/>
          </a:prstGeom>
          <a:noFill/>
          <a:ln/>
        </p:spPr>
        <p:txBody>
          <a:bodyPr wrap="square" lIns="0" tIns="0" rIns="0" bIns="0" rtlCol="0" anchor="ctr"/>
          <a:lstStyle/>
          <a:p>
            <a:pPr marL="0" indent="0">
              <a:lnSpc>
                <a:spcPct val="110000"/>
              </a:lnSpc>
              <a:buNone/>
            </a:pPr>
            <a:r>
              <a:rPr lang="en-US" sz="1100" b="1" kern="0" spc="100" dirty="0">
                <a:solidFill>
                  <a:srgbClr val="E8B95A"/>
                </a:solidFill>
                <a:latin typeface="Calibri" pitchFamily="34" charset="0"/>
                <a:ea typeface="Calibri" pitchFamily="34" charset="-122"/>
                <a:cs typeface="Calibri" pitchFamily="34" charset="-120"/>
              </a:rPr>
              <a:t>WHAT THE MODEL PRODUCES</a:t>
            </a:r>
            <a:endParaRPr lang="en-US" sz="1100" dirty="0"/>
          </a:p>
          <a:p>
            <a:pPr marL="0" indent="0">
              <a:lnSpc>
                <a:spcPct val="110000"/>
              </a:lnSpc>
              <a:buNone/>
            </a:pPr>
            <a:r>
              <a:rPr lang="en-US" sz="1100" b="1" kern="0" spc="100" dirty="0">
                <a:solidFill>
                  <a:srgbClr val="E8B95A"/>
                </a:solidFill>
                <a:latin typeface="Calibri" pitchFamily="34" charset="0"/>
                <a:ea typeface="Calibri" pitchFamily="34" charset="-122"/>
                <a:cs typeface="Calibri" pitchFamily="34" charset="-120"/>
              </a:rPr>
              <a:t>(for every district, every season)</a:t>
            </a:r>
            <a:endParaRPr lang="en-US" sz="1100" dirty="0"/>
          </a:p>
        </p:txBody>
      </p:sp>
      <p:sp>
        <p:nvSpPr>
          <p:cNvPr id="19" name="Text 17"/>
          <p:cNvSpPr/>
          <p:nvPr/>
        </p:nvSpPr>
        <p:spPr>
          <a:xfrm>
            <a:off x="7726680" y="3703320"/>
            <a:ext cx="3794760" cy="640080"/>
          </a:xfrm>
          <a:prstGeom prst="rect">
            <a:avLst/>
          </a:prstGeom>
          <a:noFill/>
          <a:ln/>
        </p:spPr>
        <p:txBody>
          <a:bodyPr wrap="square" lIns="0" tIns="0" rIns="0" bIns="0"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A point forecast
</a:t>
            </a:r>
            <a:r>
              <a:rPr lang="en-US" sz="1050" dirty="0">
                <a:solidFill>
                  <a:srgbClr val="D9E2F5"/>
                </a:solidFill>
                <a:latin typeface="Calibri" pitchFamily="34" charset="0"/>
                <a:ea typeface="Calibri" pitchFamily="34" charset="-122"/>
                <a:cs typeface="Calibri" pitchFamily="34" charset="-120"/>
              </a:rPr>
              <a:t>one best estimate, in kg/ha</a:t>
            </a:r>
            <a:endParaRPr lang="en-US" sz="1250" dirty="0"/>
          </a:p>
        </p:txBody>
      </p:sp>
      <p:sp>
        <p:nvSpPr>
          <p:cNvPr id="20" name="Text 18"/>
          <p:cNvSpPr/>
          <p:nvPr/>
        </p:nvSpPr>
        <p:spPr>
          <a:xfrm>
            <a:off x="7726680" y="4379976"/>
            <a:ext cx="3794760" cy="640080"/>
          </a:xfrm>
          <a:prstGeom prst="rect">
            <a:avLst/>
          </a:prstGeom>
          <a:noFill/>
          <a:ln/>
        </p:spPr>
        <p:txBody>
          <a:bodyPr wrap="square" lIns="0" tIns="0" rIns="0" bIns="0"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19 quantiles
</a:t>
            </a:r>
            <a:r>
              <a:rPr lang="en-US" sz="1050" dirty="0">
                <a:solidFill>
                  <a:srgbClr val="D9E2F5"/>
                </a:solidFill>
                <a:latin typeface="Calibri" pitchFamily="34" charset="0"/>
                <a:ea typeface="Calibri" pitchFamily="34" charset="-122"/>
                <a:cs typeface="Calibri" pitchFamily="34" charset="-120"/>
              </a:rPr>
              <a:t>the full range of plausible outcomes, from q05 to q95</a:t>
            </a:r>
            <a:endParaRPr lang="en-US" sz="1250" dirty="0"/>
          </a:p>
        </p:txBody>
      </p:sp>
      <p:sp>
        <p:nvSpPr>
          <p:cNvPr id="21" name="Text 19"/>
          <p:cNvSpPr/>
          <p:nvPr/>
        </p:nvSpPr>
        <p:spPr>
          <a:xfrm>
            <a:off x="7726680" y="5056632"/>
            <a:ext cx="3794760" cy="640080"/>
          </a:xfrm>
          <a:prstGeom prst="rect">
            <a:avLst/>
          </a:prstGeom>
          <a:noFill/>
          <a:ln/>
        </p:spPr>
        <p:txBody>
          <a:bodyPr wrap="square" lIns="0" tIns="0" rIns="0" bIns="0"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P(yield rises)
</a:t>
            </a:r>
            <a:r>
              <a:rPr lang="en-US" sz="1050" dirty="0">
                <a:solidFill>
                  <a:srgbClr val="D9E2F5"/>
                </a:solidFill>
                <a:latin typeface="Calibri" pitchFamily="34" charset="0"/>
                <a:ea typeface="Calibri" pitchFamily="34" charset="-122"/>
                <a:cs typeface="Calibri" pitchFamily="34" charset="-120"/>
              </a:rPr>
              <a:t>the chance the harvest beats last season</a:t>
            </a:r>
            <a:endParaRPr lang="en-US" sz="1250" dirty="0"/>
          </a:p>
        </p:txBody>
      </p:sp>
      <p:sp>
        <p:nvSpPr>
          <p:cNvPr id="22" name="Text 20"/>
          <p:cNvSpPr/>
          <p:nvPr/>
        </p:nvSpPr>
        <p:spPr>
          <a:xfrm>
            <a:off x="7726680" y="5733288"/>
            <a:ext cx="3794760" cy="640080"/>
          </a:xfrm>
          <a:prstGeom prst="rect">
            <a:avLst/>
          </a:prstGeom>
          <a:noFill/>
          <a:ln/>
        </p:spPr>
        <p:txBody>
          <a:bodyPr wrap="square" lIns="0" tIns="0" rIns="0" bIns="0" rtlCol="0" anchor="ctr"/>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P(fall &gt; 5 / 10 / 20 / 30%)
</a:t>
            </a:r>
            <a:r>
              <a:rPr lang="en-US" sz="1050" dirty="0">
                <a:solidFill>
                  <a:srgbClr val="D9E2F5"/>
                </a:solidFill>
                <a:latin typeface="Calibri" pitchFamily="34" charset="0"/>
                <a:ea typeface="Calibri" pitchFamily="34" charset="-122"/>
                <a:cs typeface="Calibri" pitchFamily="34" charset="-120"/>
              </a:rPr>
              <a:t>the probabilities that matter for food security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PART 2 · THE DATA</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Five sources — and the asymmetry that shaped the design</a:t>
            </a:r>
            <a:endParaRPr lang="en-US" sz="2700" dirty="0"/>
          </a:p>
        </p:txBody>
      </p:sp>
      <p:pic>
        <p:nvPicPr>
          <p:cNvPr id="4" name="Image 0" descr="charts/01_timeline.png"/>
          <p:cNvPicPr>
            <a:picLocks noChangeAspect="1"/>
          </p:cNvPicPr>
          <p:nvPr/>
        </p:nvPicPr>
        <p:blipFill>
          <a:blip r:embed="rId3"/>
          <a:stretch>
            <a:fillRect/>
          </a:stretch>
        </p:blipFill>
        <p:spPr>
          <a:xfrm>
            <a:off x="502920" y="1481328"/>
            <a:ext cx="6949440" cy="2715768"/>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4343400"/>
          <a:ext cx="6949440" cy="914400"/>
        </p:xfrm>
        <a:graphic>
          <a:graphicData uri="http://schemas.openxmlformats.org/drawingml/2006/table">
            <a:tbl>
              <a:tblPr/>
              <a:tblGrid>
                <a:gridCol w="196596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contributes</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Volume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extLst>
                  <a:ext uri="{0D108BD9-81ED-4DB2-BD59-A6C34878D82A}">
                    <a16:rowId xmlns:a16="http://schemas.microsoft.com/office/drawing/2014/main" val="10000"/>
                  </a:ext>
                </a:extLst>
              </a:tr>
              <a:tr h="292608">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Harvest records, 1990–</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ground truth + history to learn from</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3,658 district-seasons</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MODIS satellite, 2000–</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coarse (250 m) but long crop record</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2,737 rows + 169,809 tiles</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Daily weather, 2010–</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temperature, rain, sunlight, humidity</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546,805 district-days</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Sentinel-2, 2017–</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sharp (10 m) but recent crop views</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2,142 rows × 126 measures</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Support price</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economic signal</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00" dirty="0">
                          <a:solidFill>
                            <a:srgbClr val="20242B"/>
                          </a:solidFill>
                          <a:latin typeface="Calibri" pitchFamily="34" charset="0"/>
                          <a:ea typeface="Calibri" pitchFamily="34" charset="-122"/>
                          <a:cs typeface="Calibri" pitchFamily="34" charset="-120"/>
                        </a:rPr>
                        <a:t>annual</a:t>
                      </a:r>
                      <a:endParaRPr lang="en-US" sz="10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772400" y="1481328"/>
            <a:ext cx="3931920" cy="4937760"/>
          </a:xfrm>
          <a:prstGeom prst="roundRect">
            <a:avLst>
              <a:gd name="adj" fmla="val 1860"/>
            </a:avLst>
          </a:prstGeom>
          <a:solidFill>
            <a:srgbClr val="FBF3E2"/>
          </a:solidFill>
          <a:ln/>
        </p:spPr>
        <p:txBody>
          <a:bodyPr/>
          <a:lstStyle/>
          <a:p>
            <a:endParaRPr lang="en-US"/>
          </a:p>
        </p:txBody>
      </p:sp>
      <p:sp>
        <p:nvSpPr>
          <p:cNvPr id="7" name="Text 3"/>
          <p:cNvSpPr/>
          <p:nvPr/>
        </p:nvSpPr>
        <p:spPr>
          <a:xfrm>
            <a:off x="8001000" y="1691640"/>
            <a:ext cx="3566160" cy="274320"/>
          </a:xfrm>
          <a:prstGeom prst="rect">
            <a:avLst/>
          </a:prstGeom>
          <a:noFill/>
          <a:ln/>
        </p:spPr>
        <p:txBody>
          <a:bodyPr wrap="square" lIns="0" tIns="0" rIns="0" bIns="0" rtlCol="0" anchor="ctr"/>
          <a:lstStyle/>
          <a:p>
            <a:pPr marL="0" indent="0">
              <a:buNone/>
            </a:pPr>
            <a:r>
              <a:rPr lang="en-US" sz="1100" b="1" kern="0" spc="100" dirty="0">
                <a:solidFill>
                  <a:srgbClr val="C98500"/>
                </a:solidFill>
                <a:latin typeface="Calibri" pitchFamily="34" charset="0"/>
                <a:ea typeface="Calibri" pitchFamily="34" charset="-122"/>
                <a:cs typeface="Calibri" pitchFamily="34" charset="-120"/>
              </a:rPr>
              <a:t>THE MOST CONSEQUENTIAL FACT</a:t>
            </a:r>
            <a:endParaRPr lang="en-US" sz="1100" dirty="0"/>
          </a:p>
        </p:txBody>
      </p:sp>
      <p:sp>
        <p:nvSpPr>
          <p:cNvPr id="8" name="Text 4"/>
          <p:cNvSpPr/>
          <p:nvPr/>
        </p:nvSpPr>
        <p:spPr>
          <a:xfrm>
            <a:off x="8001000" y="2057400"/>
            <a:ext cx="3520440" cy="4206240"/>
          </a:xfrm>
          <a:prstGeom prst="rect">
            <a:avLst/>
          </a:prstGeom>
          <a:noFill/>
          <a:ln/>
        </p:spPr>
        <p:txBody>
          <a:bodyPr wrap="square" lIns="0" tIns="0" rIns="0" bIns="0" rtlCol="0" anchor="t"/>
          <a:lstStyle/>
          <a:p>
            <a:pPr marL="0" indent="0" algn="l">
              <a:lnSpc>
                <a:spcPct val="114000"/>
              </a:lnSpc>
              <a:buNone/>
            </a:pPr>
            <a:r>
              <a:rPr lang="en-US" sz="1250" b="1" dirty="0">
                <a:solidFill>
                  <a:srgbClr val="20242B"/>
                </a:solidFill>
                <a:latin typeface="Calibri" pitchFamily="34" charset="0"/>
                <a:ea typeface="Calibri" pitchFamily="34" charset="-122"/>
                <a:cs typeface="Calibri" pitchFamily="34" charset="-120"/>
              </a:rPr>
              <a:t>The sharpest satellite, Sentinel-2, only starts in 2017. </a:t>
            </a:r>
            <a:r>
              <a:rPr lang="en-US" sz="1250" dirty="0">
                <a:solidFill>
                  <a:srgbClr val="20242B"/>
                </a:solidFill>
                <a:latin typeface="Calibri" pitchFamily="34" charset="0"/>
                <a:ea typeface="Calibri" pitchFamily="34" charset="-122"/>
                <a:cs typeface="Calibri" pitchFamily="34" charset="-120"/>
              </a:rPr>
              <a:t>An earlier version of this project keyed its whole design to Sentinel — which left only four harvests (2019–2022) to test against.
MODIS is blurrier but reaches back to 2000 — nineteen testable seasons.
</a:t>
            </a:r>
            <a:r>
              <a:rPr lang="en-US" sz="1250" b="1" dirty="0">
                <a:solidFill>
                  <a:srgbClr val="1F2B4D"/>
                </a:solidFill>
                <a:latin typeface="Calibri" pitchFamily="34" charset="0"/>
                <a:ea typeface="Calibri" pitchFamily="34" charset="-122"/>
                <a:cs typeface="Calibri" pitchFamily="34" charset="-120"/>
              </a:rPr>
              <a:t>Noticing that asymmetry — trading image sharpness for evaluation depth — produced most of the improvements in this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PART 2 · THE DATA</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Strict causality: the model may not peek at the future</a:t>
            </a:r>
            <a:endParaRPr lang="en-US" sz="2700" dirty="0"/>
          </a:p>
        </p:txBody>
      </p:sp>
      <p:sp>
        <p:nvSpPr>
          <p:cNvPr id="4" name="Text 2"/>
          <p:cNvSpPr/>
          <p:nvPr/>
        </p:nvSpPr>
        <p:spPr>
          <a:xfrm>
            <a:off x="502920" y="1481328"/>
            <a:ext cx="11155680" cy="685800"/>
          </a:xfrm>
          <a:prstGeom prst="rect">
            <a:avLst/>
          </a:prstGeom>
          <a:noFill/>
          <a:ln/>
        </p:spPr>
        <p:txBody>
          <a:bodyPr wrap="square" lIns="0" tIns="0" rIns="0" bIns="0" rtlCol="0" anchor="t"/>
          <a:lstStyle/>
          <a:p>
            <a:pPr marL="0" indent="0" algn="l">
              <a:lnSpc>
                <a:spcPct val="114000"/>
              </a:lnSpc>
              <a:buNone/>
            </a:pPr>
            <a:r>
              <a:rPr lang="en-US" sz="1400" dirty="0">
                <a:solidFill>
                  <a:srgbClr val="20242B"/>
                </a:solidFill>
                <a:latin typeface="Calibri" pitchFamily="34" charset="0"/>
                <a:ea typeface="Calibri" pitchFamily="34" charset="-122"/>
                <a:cs typeface="Calibri" pitchFamily="34" charset="-120"/>
              </a:rPr>
              <a:t>A forecast dated 5 March must be computable on 5 March. That sounds obvious, but it is the easiest thing to get subtly wrong — so it is enforced in code, not by convention.</a:t>
            </a:r>
            <a:endParaRPr lang="en-US" sz="1400" dirty="0"/>
          </a:p>
        </p:txBody>
      </p:sp>
      <p:sp>
        <p:nvSpPr>
          <p:cNvPr id="5" name="Shape 3"/>
          <p:cNvSpPr/>
          <p:nvPr/>
        </p:nvSpPr>
        <p:spPr>
          <a:xfrm>
            <a:off x="502920" y="2377440"/>
            <a:ext cx="7315200" cy="777240"/>
          </a:xfrm>
          <a:prstGeom prst="roundRect">
            <a:avLst>
              <a:gd name="adj" fmla="val 7059"/>
            </a:avLst>
          </a:prstGeom>
          <a:solidFill>
            <a:srgbClr val="F4F5F7"/>
          </a:solidFill>
          <a:ln/>
        </p:spPr>
        <p:txBody>
          <a:bodyPr/>
          <a:lstStyle/>
          <a:p>
            <a:endParaRPr lang="en-US"/>
          </a:p>
        </p:txBody>
      </p:sp>
      <p:sp>
        <p:nvSpPr>
          <p:cNvPr id="6" name="Text 4"/>
          <p:cNvSpPr/>
          <p:nvPr/>
        </p:nvSpPr>
        <p:spPr>
          <a:xfrm>
            <a:off x="731520" y="2432304"/>
            <a:ext cx="6903720" cy="667512"/>
          </a:xfrm>
          <a:prstGeom prst="rect">
            <a:avLst/>
          </a:prstGeom>
          <a:noFill/>
          <a:ln/>
        </p:spPr>
        <p:txBody>
          <a:bodyPr wrap="square" lIns="0" tIns="0" rIns="0" bIns="0" rtlCol="0" anchor="ctr"/>
          <a:lstStyle/>
          <a:p>
            <a:pPr marL="0" indent="0">
              <a:lnSpc>
                <a:spcPct val="108000"/>
              </a:lnSpc>
              <a:buNone/>
            </a:pPr>
            <a:r>
              <a:rPr lang="en-US" sz="1300" b="1" dirty="0">
                <a:solidFill>
                  <a:srgbClr val="1F2B4D"/>
                </a:solidFill>
                <a:latin typeface="Calibri" pitchFamily="34" charset="0"/>
                <a:ea typeface="Calibri" pitchFamily="34" charset="-122"/>
                <a:cs typeface="Calibri" pitchFamily="34" charset="-120"/>
              </a:rPr>
              <a:t>Weather observations  —  </a:t>
            </a:r>
            <a:r>
              <a:rPr lang="en-US" sz="1300" dirty="0">
                <a:solidFill>
                  <a:srgbClr val="20242B"/>
                </a:solidFill>
                <a:latin typeface="Calibri" pitchFamily="34" charset="0"/>
                <a:ea typeface="Calibri" pitchFamily="34" charset="-122"/>
                <a:cs typeface="Calibri" pitchFamily="34" charset="-120"/>
              </a:rPr>
              <a:t>nothing after 4 March enters any feature</a:t>
            </a:r>
            <a:endParaRPr lang="en-US" sz="1300" dirty="0"/>
          </a:p>
        </p:txBody>
      </p:sp>
      <p:sp>
        <p:nvSpPr>
          <p:cNvPr id="7" name="Shape 5"/>
          <p:cNvSpPr/>
          <p:nvPr/>
        </p:nvSpPr>
        <p:spPr>
          <a:xfrm>
            <a:off x="502920" y="3291840"/>
            <a:ext cx="7315200" cy="777240"/>
          </a:xfrm>
          <a:prstGeom prst="roundRect">
            <a:avLst>
              <a:gd name="adj" fmla="val 7059"/>
            </a:avLst>
          </a:prstGeom>
          <a:solidFill>
            <a:srgbClr val="F4F5F7"/>
          </a:solidFill>
          <a:ln/>
        </p:spPr>
        <p:txBody>
          <a:bodyPr/>
          <a:lstStyle/>
          <a:p>
            <a:endParaRPr lang="en-US"/>
          </a:p>
        </p:txBody>
      </p:sp>
      <p:sp>
        <p:nvSpPr>
          <p:cNvPr id="8" name="Text 6"/>
          <p:cNvSpPr/>
          <p:nvPr/>
        </p:nvSpPr>
        <p:spPr>
          <a:xfrm>
            <a:off x="731520" y="3346704"/>
            <a:ext cx="6903720" cy="667512"/>
          </a:xfrm>
          <a:prstGeom prst="rect">
            <a:avLst/>
          </a:prstGeom>
          <a:noFill/>
          <a:ln/>
        </p:spPr>
        <p:txBody>
          <a:bodyPr wrap="square" lIns="0" tIns="0" rIns="0" bIns="0" rtlCol="0" anchor="ctr"/>
          <a:lstStyle/>
          <a:p>
            <a:pPr marL="0" indent="0">
              <a:lnSpc>
                <a:spcPct val="108000"/>
              </a:lnSpc>
              <a:buNone/>
            </a:pPr>
            <a:r>
              <a:rPr lang="en-US" sz="1300" b="1" dirty="0">
                <a:solidFill>
                  <a:srgbClr val="1F2B4D"/>
                </a:solidFill>
                <a:latin typeface="Calibri" pitchFamily="34" charset="0"/>
                <a:ea typeface="Calibri" pitchFamily="34" charset="-122"/>
                <a:cs typeface="Calibri" pitchFamily="34" charset="-120"/>
              </a:rPr>
              <a:t>Satellite images  —  </a:t>
            </a:r>
            <a:r>
              <a:rPr lang="en-US" sz="1300" dirty="0">
                <a:solidFill>
                  <a:srgbClr val="20242B"/>
                </a:solidFill>
                <a:latin typeface="Calibri" pitchFamily="34" charset="0"/>
                <a:ea typeface="Calibri" pitchFamily="34" charset="-122"/>
                <a:cs typeface="Calibri" pitchFamily="34" charset="-120"/>
              </a:rPr>
              <a:t>nothing after 5 March, anywhere in the pipeline</a:t>
            </a:r>
            <a:endParaRPr lang="en-US" sz="1300" dirty="0"/>
          </a:p>
        </p:txBody>
      </p:sp>
      <p:sp>
        <p:nvSpPr>
          <p:cNvPr id="9" name="Shape 7"/>
          <p:cNvSpPr/>
          <p:nvPr/>
        </p:nvSpPr>
        <p:spPr>
          <a:xfrm>
            <a:off x="502920" y="4206240"/>
            <a:ext cx="7315200" cy="777240"/>
          </a:xfrm>
          <a:prstGeom prst="roundRect">
            <a:avLst>
              <a:gd name="adj" fmla="val 7059"/>
            </a:avLst>
          </a:prstGeom>
          <a:solidFill>
            <a:srgbClr val="F4F5F7"/>
          </a:solidFill>
          <a:ln/>
        </p:spPr>
        <p:txBody>
          <a:bodyPr/>
          <a:lstStyle/>
          <a:p>
            <a:endParaRPr lang="en-US"/>
          </a:p>
        </p:txBody>
      </p:sp>
      <p:sp>
        <p:nvSpPr>
          <p:cNvPr id="10" name="Text 8"/>
          <p:cNvSpPr/>
          <p:nvPr/>
        </p:nvSpPr>
        <p:spPr>
          <a:xfrm>
            <a:off x="731520" y="4261104"/>
            <a:ext cx="6903720" cy="667512"/>
          </a:xfrm>
          <a:prstGeom prst="rect">
            <a:avLst/>
          </a:prstGeom>
          <a:noFill/>
          <a:ln/>
        </p:spPr>
        <p:txBody>
          <a:bodyPr wrap="square" lIns="0" tIns="0" rIns="0" bIns="0" rtlCol="0" anchor="ctr"/>
          <a:lstStyle/>
          <a:p>
            <a:pPr marL="0" indent="0">
              <a:lnSpc>
                <a:spcPct val="108000"/>
              </a:lnSpc>
              <a:buNone/>
            </a:pPr>
            <a:r>
              <a:rPr lang="en-US" sz="1300" b="1" dirty="0">
                <a:solidFill>
                  <a:srgbClr val="1F2B4D"/>
                </a:solidFill>
                <a:latin typeface="Calibri" pitchFamily="34" charset="0"/>
                <a:ea typeface="Calibri" pitchFamily="34" charset="-122"/>
                <a:cs typeface="Calibri" pitchFamily="34" charset="-120"/>
              </a:rPr>
              <a:t>Weather forecasts  —  </a:t>
            </a:r>
            <a:r>
              <a:rPr lang="en-US" sz="1300" dirty="0">
                <a:solidFill>
                  <a:srgbClr val="20242B"/>
                </a:solidFill>
                <a:latin typeface="Calibri" pitchFamily="34" charset="0"/>
                <a:ea typeface="Calibri" pitchFamily="34" charset="-122"/>
                <a:cs typeface="Calibri" pitchFamily="34" charset="-120"/>
              </a:rPr>
              <a:t>must have been published at least 2 days before the clock</a:t>
            </a:r>
            <a:endParaRPr lang="en-US" sz="1300" dirty="0"/>
          </a:p>
        </p:txBody>
      </p:sp>
      <p:sp>
        <p:nvSpPr>
          <p:cNvPr id="11" name="Shape 9"/>
          <p:cNvSpPr/>
          <p:nvPr/>
        </p:nvSpPr>
        <p:spPr>
          <a:xfrm>
            <a:off x="502920" y="5120640"/>
            <a:ext cx="7315200" cy="777240"/>
          </a:xfrm>
          <a:prstGeom prst="roundRect">
            <a:avLst>
              <a:gd name="adj" fmla="val 7059"/>
            </a:avLst>
          </a:prstGeom>
          <a:solidFill>
            <a:srgbClr val="F4F5F7"/>
          </a:solidFill>
          <a:ln/>
        </p:spPr>
        <p:txBody>
          <a:bodyPr/>
          <a:lstStyle/>
          <a:p>
            <a:endParaRPr lang="en-US"/>
          </a:p>
        </p:txBody>
      </p:sp>
      <p:sp>
        <p:nvSpPr>
          <p:cNvPr id="12" name="Text 10"/>
          <p:cNvSpPr/>
          <p:nvPr/>
        </p:nvSpPr>
        <p:spPr>
          <a:xfrm>
            <a:off x="731520" y="5175504"/>
            <a:ext cx="6903720" cy="667512"/>
          </a:xfrm>
          <a:prstGeom prst="rect">
            <a:avLst/>
          </a:prstGeom>
          <a:noFill/>
          <a:ln/>
        </p:spPr>
        <p:txBody>
          <a:bodyPr wrap="square" lIns="0" tIns="0" rIns="0" bIns="0" rtlCol="0" anchor="ctr"/>
          <a:lstStyle/>
          <a:p>
            <a:pPr marL="0" indent="0">
              <a:lnSpc>
                <a:spcPct val="108000"/>
              </a:lnSpc>
              <a:buNone/>
            </a:pPr>
            <a:r>
              <a:rPr lang="en-US" sz="1300" b="1" dirty="0">
                <a:solidFill>
                  <a:srgbClr val="1F2B4D"/>
                </a:solidFill>
                <a:latin typeface="Calibri" pitchFamily="34" charset="0"/>
                <a:ea typeface="Calibri" pitchFamily="34" charset="-122"/>
                <a:cs typeface="Calibri" pitchFamily="34" charset="-120"/>
              </a:rPr>
              <a:t>Training seasons  —  </a:t>
            </a:r>
            <a:r>
              <a:rPr lang="en-US" sz="1300" dirty="0">
                <a:solidFill>
                  <a:srgbClr val="20242B"/>
                </a:solidFill>
                <a:latin typeface="Calibri" pitchFamily="34" charset="0"/>
                <a:ea typeface="Calibri" pitchFamily="34" charset="-122"/>
                <a:cs typeface="Calibri" pitchFamily="34" charset="-120"/>
              </a:rPr>
              <a:t>for a test season, nothing from that season or later is used — not even the averages that standardise inputs</a:t>
            </a:r>
            <a:endParaRPr lang="en-US" sz="1300" dirty="0"/>
          </a:p>
        </p:txBody>
      </p:sp>
      <p:sp>
        <p:nvSpPr>
          <p:cNvPr id="13" name="Shape 11"/>
          <p:cNvSpPr/>
          <p:nvPr/>
        </p:nvSpPr>
        <p:spPr>
          <a:xfrm>
            <a:off x="8229600" y="2377440"/>
            <a:ext cx="3474720" cy="3520440"/>
          </a:xfrm>
          <a:prstGeom prst="roundRect">
            <a:avLst>
              <a:gd name="adj" fmla="val 2105"/>
            </a:avLst>
          </a:prstGeom>
          <a:solidFill>
            <a:srgbClr val="1F2B4D"/>
          </a:solidFill>
          <a:ln/>
        </p:spPr>
        <p:txBody>
          <a:bodyPr/>
          <a:lstStyle/>
          <a:p>
            <a:endParaRPr lang="en-US"/>
          </a:p>
        </p:txBody>
      </p:sp>
      <p:sp>
        <p:nvSpPr>
          <p:cNvPr id="14" name="Text 12"/>
          <p:cNvSpPr/>
          <p:nvPr/>
        </p:nvSpPr>
        <p:spPr>
          <a:xfrm>
            <a:off x="8458200" y="2606040"/>
            <a:ext cx="3017520" cy="274320"/>
          </a:xfrm>
          <a:prstGeom prst="rect">
            <a:avLst/>
          </a:prstGeom>
          <a:noFill/>
          <a:ln/>
        </p:spPr>
        <p:txBody>
          <a:bodyPr wrap="square" lIns="0" tIns="0" rIns="0" bIns="0" rtlCol="0" anchor="ctr"/>
          <a:lstStyle/>
          <a:p>
            <a:pPr marL="0" indent="0">
              <a:buNone/>
            </a:pPr>
            <a:r>
              <a:rPr lang="en-US" sz="1100" b="1" kern="0" spc="100" dirty="0">
                <a:solidFill>
                  <a:srgbClr val="E8B95A"/>
                </a:solidFill>
                <a:latin typeface="Calibri" pitchFamily="34" charset="0"/>
                <a:ea typeface="Calibri" pitchFamily="34" charset="-122"/>
                <a:cs typeface="Calibri" pitchFamily="34" charset="-120"/>
              </a:rPr>
              <a:t>WHY SO STRICT?</a:t>
            </a:r>
            <a:endParaRPr lang="en-US" sz="1100" dirty="0"/>
          </a:p>
        </p:txBody>
      </p:sp>
      <p:sp>
        <p:nvSpPr>
          <p:cNvPr id="15" name="Text 13"/>
          <p:cNvSpPr/>
          <p:nvPr/>
        </p:nvSpPr>
        <p:spPr>
          <a:xfrm>
            <a:off x="8458200" y="2971800"/>
            <a:ext cx="3017520" cy="2743200"/>
          </a:xfrm>
          <a:prstGeom prst="rect">
            <a:avLst/>
          </a:prstGeom>
          <a:noFill/>
          <a:ln/>
        </p:spPr>
        <p:txBody>
          <a:bodyPr wrap="square" lIns="0" tIns="0" rIns="0" bIns="0" rtlCol="0" anchor="t"/>
          <a:lstStyle/>
          <a:p>
            <a:pPr marL="0" indent="0" algn="l">
              <a:lnSpc>
                <a:spcPct val="114000"/>
              </a:lnSpc>
              <a:buNone/>
            </a:pPr>
            <a:r>
              <a:rPr lang="en-US" sz="1250" dirty="0">
                <a:solidFill>
                  <a:srgbClr val="D9E2F5"/>
                </a:solidFill>
                <a:latin typeface="Calibri" pitchFamily="34" charset="0"/>
                <a:ea typeface="Calibri" pitchFamily="34" charset="-122"/>
                <a:cs typeface="Calibri" pitchFamily="34" charset="-120"/>
              </a:rPr>
              <a:t>A model that accidentally sees even a little of the future scores brilliantly in testing and fails in real use. With only a few seasons to test on, such leaks are almost impossible to notice after the fact — so they are made impossible up front.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PART 3 · THE MODEL</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The whole model in one equation</a:t>
            </a:r>
            <a:endParaRPr lang="en-US" sz="2700" dirty="0"/>
          </a:p>
        </p:txBody>
      </p:sp>
      <p:sp>
        <p:nvSpPr>
          <p:cNvPr id="4" name="Shape 2"/>
          <p:cNvSpPr/>
          <p:nvPr/>
        </p:nvSpPr>
        <p:spPr>
          <a:xfrm>
            <a:off x="1188720" y="1517904"/>
            <a:ext cx="9784080" cy="868680"/>
          </a:xfrm>
          <a:prstGeom prst="roundRect">
            <a:avLst>
              <a:gd name="adj" fmla="val 7368"/>
            </a:avLst>
          </a:prstGeom>
          <a:solidFill>
            <a:srgbClr val="EAF1FB"/>
          </a:solidFill>
          <a:ln/>
        </p:spPr>
        <p:txBody>
          <a:bodyPr/>
          <a:lstStyle/>
          <a:p>
            <a:endParaRPr lang="en-US"/>
          </a:p>
        </p:txBody>
      </p:sp>
      <p:sp>
        <p:nvSpPr>
          <p:cNvPr id="5" name="Text 3"/>
          <p:cNvSpPr/>
          <p:nvPr/>
        </p:nvSpPr>
        <p:spPr>
          <a:xfrm>
            <a:off x="1325880" y="1517904"/>
            <a:ext cx="9509760" cy="868680"/>
          </a:xfrm>
          <a:prstGeom prst="rect">
            <a:avLst/>
          </a:prstGeom>
          <a:noFill/>
          <a:ln/>
        </p:spPr>
        <p:txBody>
          <a:bodyPr wrap="square" lIns="0" tIns="0" rIns="0" bIns="0" rtlCol="0" anchor="ctr"/>
          <a:lstStyle/>
          <a:p>
            <a:pPr marL="0" indent="0" algn="ctr">
              <a:lnSpc>
                <a:spcPct val="112000"/>
              </a:lnSpc>
              <a:buNone/>
            </a:pPr>
            <a:r>
              <a:rPr lang="en-US" sz="2400" b="1" dirty="0">
                <a:solidFill>
                  <a:srgbClr val="20242B"/>
                </a:solidFill>
                <a:latin typeface="Cambria" pitchFamily="34" charset="0"/>
                <a:ea typeface="Cambria" pitchFamily="34" charset="-122"/>
                <a:cs typeface="Cambria" pitchFamily="34" charset="-120"/>
              </a:rPr>
              <a:t>ŷ  =  Blend  +  1.75 · c_ahead  +  0.25 · c_data  +  2.25 · c_crop</a:t>
            </a:r>
            <a:endParaRPr lang="en-US" sz="2400" dirty="0"/>
          </a:p>
        </p:txBody>
      </p:sp>
      <p:sp>
        <p:nvSpPr>
          <p:cNvPr id="6" name="Text 4"/>
          <p:cNvSpPr/>
          <p:nvPr/>
        </p:nvSpPr>
        <p:spPr>
          <a:xfrm>
            <a:off x="1188720" y="2514600"/>
            <a:ext cx="9784080" cy="566928"/>
          </a:xfrm>
          <a:prstGeom prst="rect">
            <a:avLst/>
          </a:prstGeom>
          <a:noFill/>
          <a:ln/>
        </p:spPr>
        <p:txBody>
          <a:bodyPr wrap="square" lIns="0" tIns="0" rIns="0" bIns="0" rtlCol="0" anchor="t"/>
          <a:lstStyle/>
          <a:p>
            <a:pPr marL="0" indent="0" algn="l">
              <a:lnSpc>
                <a:spcPct val="114000"/>
              </a:lnSpc>
              <a:buNone/>
            </a:pPr>
            <a:r>
              <a:rPr lang="en-US" sz="1350" dirty="0">
                <a:solidFill>
                  <a:srgbClr val="20242B"/>
                </a:solidFill>
                <a:latin typeface="Calibri" pitchFamily="34" charset="0"/>
                <a:ea typeface="Calibri" pitchFamily="34" charset="-122"/>
                <a:cs typeface="Calibri" pitchFamily="34" charset="-120"/>
              </a:rPr>
              <a:t>ŷ is the forecast in kg/ha. Each c is a </a:t>
            </a:r>
            <a:r>
              <a:rPr lang="en-US" sz="1350" b="1" dirty="0">
                <a:solidFill>
                  <a:srgbClr val="20242B"/>
                </a:solidFill>
                <a:latin typeface="Calibri" pitchFamily="34" charset="0"/>
                <a:ea typeface="Calibri" pitchFamily="34" charset="-122"/>
                <a:cs typeface="Calibri" pitchFamily="34" charset="-120"/>
              </a:rPr>
              <a:t>correction</a:t>
            </a:r>
            <a:r>
              <a:rPr lang="en-US" sz="1350" dirty="0">
                <a:solidFill>
                  <a:srgbClr val="20242B"/>
                </a:solidFill>
                <a:latin typeface="Calibri" pitchFamily="34" charset="0"/>
                <a:ea typeface="Calibri" pitchFamily="34" charset="-122"/>
                <a:cs typeface="Calibri" pitchFamily="34" charset="-120"/>
              </a:rPr>
              <a:t> — a small, separately-measured adjustment from one new source of information. A fifth stage then turns this single number into a full probability distribution.</a:t>
            </a:r>
            <a:endParaRPr lang="en-US" sz="1350" dirty="0"/>
          </a:p>
        </p:txBody>
      </p:sp>
      <p:pic>
        <p:nvPicPr>
          <p:cNvPr id="7" name="Image 0" descr="charts/00_pipeline.png"/>
          <p:cNvPicPr>
            <a:picLocks noChangeAspect="1"/>
          </p:cNvPicPr>
          <p:nvPr/>
        </p:nvPicPr>
        <p:blipFill>
          <a:blip r:embed="rId3"/>
          <a:stretch>
            <a:fillRect/>
          </a:stretch>
        </p:blipFill>
        <p:spPr>
          <a:xfrm>
            <a:off x="685800" y="3200400"/>
            <a:ext cx="10817352" cy="2743200"/>
          </a:xfrm>
          <a:prstGeom prst="rect">
            <a:avLst/>
          </a:prstGeom>
        </p:spPr>
      </p:pic>
      <p:sp>
        <p:nvSpPr>
          <p:cNvPr id="8" name="Shape 5"/>
          <p:cNvSpPr/>
          <p:nvPr/>
        </p:nvSpPr>
        <p:spPr>
          <a:xfrm>
            <a:off x="685800" y="6053328"/>
            <a:ext cx="10817352" cy="566928"/>
          </a:xfrm>
          <a:prstGeom prst="roundRect">
            <a:avLst>
              <a:gd name="adj" fmla="val 9677"/>
            </a:avLst>
          </a:prstGeom>
          <a:solidFill>
            <a:srgbClr val="FBF3E2"/>
          </a:solidFill>
          <a:ln/>
        </p:spPr>
        <p:txBody>
          <a:bodyPr/>
          <a:lstStyle/>
          <a:p>
            <a:endParaRPr lang="en-US"/>
          </a:p>
        </p:txBody>
      </p:sp>
      <p:sp>
        <p:nvSpPr>
          <p:cNvPr id="9" name="Text 6"/>
          <p:cNvSpPr/>
          <p:nvPr/>
        </p:nvSpPr>
        <p:spPr>
          <a:xfrm>
            <a:off x="914400" y="6089904"/>
            <a:ext cx="10378440" cy="493776"/>
          </a:xfrm>
          <a:prstGeom prst="rect">
            <a:avLst/>
          </a:prstGeom>
          <a:noFill/>
          <a:ln/>
        </p:spPr>
        <p:txBody>
          <a:bodyPr wrap="square" lIns="0" tIns="0" rIns="0" bIns="0" rtlCol="0" anchor="ctr"/>
          <a:lstStyle/>
          <a:p>
            <a:pPr marL="0" indent="0">
              <a:buNone/>
            </a:pPr>
            <a:r>
              <a:rPr lang="en-US" sz="1200" b="1" dirty="0">
                <a:solidFill>
                  <a:srgbClr val="C98500"/>
                </a:solidFill>
                <a:latin typeface="Calibri" pitchFamily="34" charset="0"/>
                <a:ea typeface="Calibri" pitchFamily="34" charset="-122"/>
                <a:cs typeface="Calibri" pitchFamily="34" charset="-120"/>
              </a:rPr>
              <a:t>The design principle:  </a:t>
            </a:r>
            <a:r>
              <a:rPr lang="en-US" sz="1200" dirty="0">
                <a:solidFill>
                  <a:srgbClr val="20242B"/>
                </a:solidFill>
                <a:latin typeface="Calibri" pitchFamily="34" charset="0"/>
                <a:ea typeface="Calibri" pitchFamily="34" charset="-122"/>
                <a:cs typeface="Calibri" pitchFamily="34" charset="-120"/>
              </a:rPr>
              <a:t>start from something conservative and reliable; let each new source of information nudge it; never let a new component predict the harvest alone. A model given free rein on scarce data fits noise.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PART 3 · THE MODEL</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Every correction is measured like a drug trial</a:t>
            </a:r>
            <a:endParaRPr lang="en-US" sz="2700" dirty="0"/>
          </a:p>
        </p:txBody>
      </p:sp>
      <p:sp>
        <p:nvSpPr>
          <p:cNvPr id="4" name="Text 2"/>
          <p:cNvSpPr/>
          <p:nvPr/>
        </p:nvSpPr>
        <p:spPr>
          <a:xfrm>
            <a:off x="502920" y="1481328"/>
            <a:ext cx="11155680" cy="914400"/>
          </a:xfrm>
          <a:prstGeom prst="rect">
            <a:avLst/>
          </a:prstGeom>
          <a:noFill/>
          <a:ln/>
        </p:spPr>
        <p:txBody>
          <a:bodyPr wrap="square" lIns="0" tIns="0" rIns="0" bIns="0" rtlCol="0" anchor="t"/>
          <a:lstStyle/>
          <a:p>
            <a:pPr marL="0" indent="0" algn="l">
              <a:lnSpc>
                <a:spcPct val="114000"/>
              </a:lnSpc>
              <a:buNone/>
            </a:pPr>
            <a:r>
              <a:rPr lang="en-US" sz="1400" dirty="0">
                <a:solidFill>
                  <a:srgbClr val="20242B"/>
                </a:solidFill>
                <a:latin typeface="Calibri" pitchFamily="34" charset="0"/>
                <a:ea typeface="Calibri" pitchFamily="34" charset="-122"/>
                <a:cs typeface="Calibri" pitchFamily="34" charset="-120"/>
              </a:rPr>
              <a:t>Each correction is defined as the difference between two otherwise identical models — same rows, same settings, same random seeds — differing only in whether the new information is present. </a:t>
            </a:r>
            <a:r>
              <a:rPr lang="en-US" sz="1400" b="1" dirty="0">
                <a:solidFill>
                  <a:srgbClr val="20242B"/>
                </a:solidFill>
                <a:latin typeface="Calibri" pitchFamily="34" charset="0"/>
                <a:ea typeface="Calibri" pitchFamily="34" charset="-122"/>
                <a:cs typeface="Calibri" pitchFamily="34" charset="-120"/>
              </a:rPr>
              <a:t>That difference isolates exactly what the new information contributes,</a:t>
            </a:r>
            <a:r>
              <a:rPr lang="en-US" sz="1400" dirty="0">
                <a:solidFill>
                  <a:srgbClr val="20242B"/>
                </a:solidFill>
                <a:latin typeface="Calibri" pitchFamily="34" charset="0"/>
                <a:ea typeface="Calibri" pitchFamily="34" charset="-122"/>
                <a:cs typeface="Calibri" pitchFamily="34" charset="-120"/>
              </a:rPr>
              <a:t> the way a drug trial isolates a drug by treating the placebo group identically in every other respect.</a:t>
            </a:r>
            <a:endParaRPr lang="en-US" sz="1400" dirty="0"/>
          </a:p>
        </p:txBody>
      </p:sp>
      <p:sp>
        <p:nvSpPr>
          <p:cNvPr id="5" name="Shape 3"/>
          <p:cNvSpPr/>
          <p:nvPr/>
        </p:nvSpPr>
        <p:spPr>
          <a:xfrm>
            <a:off x="1097280" y="2834640"/>
            <a:ext cx="4023360" cy="1554480"/>
          </a:xfrm>
          <a:prstGeom prst="roundRect">
            <a:avLst>
              <a:gd name="adj" fmla="val 4706"/>
            </a:avLst>
          </a:prstGeom>
          <a:solidFill>
            <a:srgbClr val="EAF1FB"/>
          </a:solidFill>
          <a:ln/>
        </p:spPr>
        <p:txBody>
          <a:bodyPr/>
          <a:lstStyle/>
          <a:p>
            <a:endParaRPr lang="en-US"/>
          </a:p>
        </p:txBody>
      </p:sp>
      <p:sp>
        <p:nvSpPr>
          <p:cNvPr id="6" name="Text 4"/>
          <p:cNvSpPr/>
          <p:nvPr/>
        </p:nvSpPr>
        <p:spPr>
          <a:xfrm>
            <a:off x="1325880" y="3017520"/>
            <a:ext cx="3611880" cy="1188720"/>
          </a:xfrm>
          <a:prstGeom prst="rect">
            <a:avLst/>
          </a:prstGeom>
          <a:noFill/>
          <a:ln/>
        </p:spPr>
        <p:txBody>
          <a:bodyPr wrap="square" lIns="0" tIns="0" rIns="0" bIns="0" rtlCol="0" anchor="ctr"/>
          <a:lstStyle/>
          <a:p>
            <a:pPr marL="0" indent="0">
              <a:lnSpc>
                <a:spcPct val="112000"/>
              </a:lnSpc>
              <a:buNone/>
            </a:pPr>
            <a:r>
              <a:rPr lang="en-US" sz="1500" b="1" dirty="0">
                <a:solidFill>
                  <a:srgbClr val="1F2B4D"/>
                </a:solidFill>
                <a:latin typeface="Calibri" pitchFamily="34" charset="0"/>
                <a:ea typeface="Calibri" pitchFamily="34" charset="-122"/>
                <a:cs typeface="Calibri" pitchFamily="34" charset="-120"/>
              </a:rPr>
              <a:t>Model A  (treatment)
</a:t>
            </a:r>
            <a:r>
              <a:rPr lang="en-US" sz="1150" dirty="0">
                <a:solidFill>
                  <a:srgbClr val="5A6170"/>
                </a:solidFill>
                <a:latin typeface="Calibri" pitchFamily="34" charset="0"/>
                <a:ea typeface="Calibri" pitchFamily="34" charset="-122"/>
                <a:cs typeface="Calibri" pitchFamily="34" charset="-120"/>
              </a:rPr>
              <a:t>sees everything, plus the new</a:t>
            </a:r>
            <a:endParaRPr lang="en-US" sz="1500" dirty="0"/>
          </a:p>
          <a:p>
            <a:pPr marL="0" indent="0">
              <a:lnSpc>
                <a:spcPct val="112000"/>
              </a:lnSpc>
              <a:buNone/>
            </a:pPr>
            <a:r>
              <a:rPr lang="en-US" sz="1150" dirty="0">
                <a:solidFill>
                  <a:srgbClr val="5A6170"/>
                </a:solidFill>
                <a:latin typeface="Calibri" pitchFamily="34" charset="0"/>
                <a:ea typeface="Calibri" pitchFamily="34" charset="-122"/>
                <a:cs typeface="Calibri" pitchFamily="34" charset="-120"/>
              </a:rPr>
              <a:t>information (e.g. the weather forecast)</a:t>
            </a:r>
            <a:endParaRPr lang="en-US" sz="1500" dirty="0"/>
          </a:p>
        </p:txBody>
      </p:sp>
      <p:sp>
        <p:nvSpPr>
          <p:cNvPr id="7" name="Text 5"/>
          <p:cNvSpPr/>
          <p:nvPr/>
        </p:nvSpPr>
        <p:spPr>
          <a:xfrm>
            <a:off x="5212080" y="3154680"/>
            <a:ext cx="640080" cy="914400"/>
          </a:xfrm>
          <a:prstGeom prst="rect">
            <a:avLst/>
          </a:prstGeom>
          <a:noFill/>
          <a:ln/>
        </p:spPr>
        <p:txBody>
          <a:bodyPr wrap="square" lIns="0" tIns="0" rIns="0" bIns="0" rtlCol="0" anchor="ctr"/>
          <a:lstStyle/>
          <a:p>
            <a:pPr marL="0" indent="0" algn="ctr">
              <a:buNone/>
            </a:pPr>
            <a:r>
              <a:rPr lang="en-US" sz="4200" b="1" dirty="0">
                <a:solidFill>
                  <a:srgbClr val="8A8F9C"/>
                </a:solidFill>
                <a:latin typeface="Calibri" pitchFamily="34" charset="0"/>
                <a:ea typeface="Calibri" pitchFamily="34" charset="-122"/>
                <a:cs typeface="Calibri" pitchFamily="34" charset="-120"/>
              </a:rPr>
              <a:t>−</a:t>
            </a:r>
            <a:endParaRPr lang="en-US" sz="4200" dirty="0"/>
          </a:p>
        </p:txBody>
      </p:sp>
      <p:sp>
        <p:nvSpPr>
          <p:cNvPr id="8" name="Shape 6"/>
          <p:cNvSpPr/>
          <p:nvPr/>
        </p:nvSpPr>
        <p:spPr>
          <a:xfrm>
            <a:off x="5943600" y="2834640"/>
            <a:ext cx="4023360" cy="1554480"/>
          </a:xfrm>
          <a:prstGeom prst="roundRect">
            <a:avLst>
              <a:gd name="adj" fmla="val 4706"/>
            </a:avLst>
          </a:prstGeom>
          <a:solidFill>
            <a:srgbClr val="F4F5F7"/>
          </a:solidFill>
          <a:ln/>
        </p:spPr>
        <p:txBody>
          <a:bodyPr/>
          <a:lstStyle/>
          <a:p>
            <a:endParaRPr lang="en-US"/>
          </a:p>
        </p:txBody>
      </p:sp>
      <p:sp>
        <p:nvSpPr>
          <p:cNvPr id="9" name="Text 7"/>
          <p:cNvSpPr/>
          <p:nvPr/>
        </p:nvSpPr>
        <p:spPr>
          <a:xfrm>
            <a:off x="6172200" y="3017520"/>
            <a:ext cx="3611880" cy="1188720"/>
          </a:xfrm>
          <a:prstGeom prst="rect">
            <a:avLst/>
          </a:prstGeom>
          <a:noFill/>
          <a:ln/>
        </p:spPr>
        <p:txBody>
          <a:bodyPr wrap="square" lIns="0" tIns="0" rIns="0" bIns="0" rtlCol="0" anchor="ctr"/>
          <a:lstStyle/>
          <a:p>
            <a:pPr marL="0" indent="0">
              <a:lnSpc>
                <a:spcPct val="112000"/>
              </a:lnSpc>
              <a:buNone/>
            </a:pPr>
            <a:r>
              <a:rPr lang="en-US" sz="1500" b="1" dirty="0">
                <a:solidFill>
                  <a:srgbClr val="20242B"/>
                </a:solidFill>
                <a:latin typeface="Calibri" pitchFamily="34" charset="0"/>
                <a:ea typeface="Calibri" pitchFamily="34" charset="-122"/>
                <a:cs typeface="Calibri" pitchFamily="34" charset="-120"/>
              </a:rPr>
              <a:t>Model B  (control)
</a:t>
            </a:r>
            <a:r>
              <a:rPr lang="en-US" sz="1150" dirty="0">
                <a:solidFill>
                  <a:srgbClr val="5A6170"/>
                </a:solidFill>
                <a:latin typeface="Calibri" pitchFamily="34" charset="0"/>
                <a:ea typeface="Calibri" pitchFamily="34" charset="-122"/>
                <a:cs typeface="Calibri" pitchFamily="34" charset="-120"/>
              </a:rPr>
              <a:t>identical in every respect,</a:t>
            </a:r>
            <a:endParaRPr lang="en-US" sz="1500" dirty="0"/>
          </a:p>
          <a:p>
            <a:pPr marL="0" indent="0">
              <a:lnSpc>
                <a:spcPct val="112000"/>
              </a:lnSpc>
              <a:buNone/>
            </a:pPr>
            <a:r>
              <a:rPr lang="en-US" sz="1150" dirty="0">
                <a:solidFill>
                  <a:srgbClr val="5A6170"/>
                </a:solidFill>
                <a:latin typeface="Calibri" pitchFamily="34" charset="0"/>
                <a:ea typeface="Calibri" pitchFamily="34" charset="-122"/>
                <a:cs typeface="Calibri" pitchFamily="34" charset="-120"/>
              </a:rPr>
              <a:t>except the new information is withheld</a:t>
            </a:r>
            <a:endParaRPr lang="en-US" sz="1500" dirty="0"/>
          </a:p>
        </p:txBody>
      </p:sp>
      <p:sp>
        <p:nvSpPr>
          <p:cNvPr id="10" name="Text 8"/>
          <p:cNvSpPr/>
          <p:nvPr/>
        </p:nvSpPr>
        <p:spPr>
          <a:xfrm>
            <a:off x="10012680" y="3154680"/>
            <a:ext cx="548640" cy="914400"/>
          </a:xfrm>
          <a:prstGeom prst="rect">
            <a:avLst/>
          </a:prstGeom>
          <a:noFill/>
          <a:ln/>
        </p:spPr>
        <p:txBody>
          <a:bodyPr wrap="square" lIns="0" tIns="0" rIns="0" bIns="0" rtlCol="0" anchor="ctr"/>
          <a:lstStyle/>
          <a:p>
            <a:pPr marL="0" indent="0" algn="ctr">
              <a:buNone/>
            </a:pPr>
            <a:r>
              <a:rPr lang="en-US" sz="4200" b="1" dirty="0">
                <a:solidFill>
                  <a:srgbClr val="8A8F9C"/>
                </a:solidFill>
                <a:latin typeface="Calibri" pitchFamily="34" charset="0"/>
                <a:ea typeface="Calibri" pitchFamily="34" charset="-122"/>
                <a:cs typeface="Calibri" pitchFamily="34" charset="-120"/>
              </a:rPr>
              <a:t>=</a:t>
            </a:r>
            <a:endParaRPr lang="en-US" sz="4200" dirty="0"/>
          </a:p>
        </p:txBody>
      </p:sp>
      <p:sp>
        <p:nvSpPr>
          <p:cNvPr id="11" name="Shape 9"/>
          <p:cNvSpPr/>
          <p:nvPr/>
        </p:nvSpPr>
        <p:spPr>
          <a:xfrm>
            <a:off x="10561320" y="2834640"/>
            <a:ext cx="1234440" cy="1554480"/>
          </a:xfrm>
          <a:prstGeom prst="roundRect">
            <a:avLst>
              <a:gd name="adj" fmla="val 5926"/>
            </a:avLst>
          </a:prstGeom>
          <a:solidFill>
            <a:srgbClr val="FBF3E2"/>
          </a:solidFill>
          <a:ln/>
        </p:spPr>
        <p:txBody>
          <a:bodyPr/>
          <a:lstStyle/>
          <a:p>
            <a:endParaRPr lang="en-US"/>
          </a:p>
        </p:txBody>
      </p:sp>
      <p:sp>
        <p:nvSpPr>
          <p:cNvPr id="12" name="Text 10"/>
          <p:cNvSpPr/>
          <p:nvPr/>
        </p:nvSpPr>
        <p:spPr>
          <a:xfrm>
            <a:off x="10561320" y="3017520"/>
            <a:ext cx="1234440" cy="731520"/>
          </a:xfrm>
          <a:prstGeom prst="rect">
            <a:avLst/>
          </a:prstGeom>
          <a:noFill/>
          <a:ln/>
        </p:spPr>
        <p:txBody>
          <a:bodyPr wrap="square" lIns="0" tIns="0" rIns="0" bIns="0" rtlCol="0" anchor="ctr"/>
          <a:lstStyle/>
          <a:p>
            <a:pPr marL="0" indent="0" algn="ctr">
              <a:buNone/>
            </a:pPr>
            <a:r>
              <a:rPr lang="en-US" sz="3000" b="1" i="1" dirty="0">
                <a:solidFill>
                  <a:srgbClr val="C98500"/>
                </a:solidFill>
                <a:latin typeface="Cambria" pitchFamily="34" charset="0"/>
                <a:ea typeface="Cambria" pitchFamily="34" charset="-122"/>
                <a:cs typeface="Cambria" pitchFamily="34" charset="-120"/>
              </a:rPr>
              <a:t>c</a:t>
            </a:r>
            <a:endParaRPr lang="en-US" sz="3000" dirty="0"/>
          </a:p>
        </p:txBody>
      </p:sp>
      <p:sp>
        <p:nvSpPr>
          <p:cNvPr id="13" name="Text 11"/>
          <p:cNvSpPr/>
          <p:nvPr/>
        </p:nvSpPr>
        <p:spPr>
          <a:xfrm>
            <a:off x="10561320" y="3794760"/>
            <a:ext cx="1234440" cy="457200"/>
          </a:xfrm>
          <a:prstGeom prst="rect">
            <a:avLst/>
          </a:prstGeom>
          <a:noFill/>
          <a:ln/>
        </p:spPr>
        <p:txBody>
          <a:bodyPr wrap="square" lIns="0" tIns="0" rIns="0" bIns="0" rtlCol="0" anchor="ctr"/>
          <a:lstStyle/>
          <a:p>
            <a:pPr marL="0" indent="0" algn="ctr">
              <a:buNone/>
            </a:pPr>
            <a:r>
              <a:rPr lang="en-US" sz="1000" dirty="0">
                <a:solidFill>
                  <a:srgbClr val="5A6170"/>
                </a:solidFill>
                <a:latin typeface="Calibri" pitchFamily="34" charset="0"/>
                <a:ea typeface="Calibri" pitchFamily="34" charset="-122"/>
                <a:cs typeface="Calibri" pitchFamily="34" charset="-120"/>
              </a:rPr>
              <a:t>the correction</a:t>
            </a:r>
            <a:endParaRPr lang="en-US" sz="1000" dirty="0"/>
          </a:p>
        </p:txBody>
      </p:sp>
      <p:sp>
        <p:nvSpPr>
          <p:cNvPr id="14" name="Text 12"/>
          <p:cNvSpPr/>
          <p:nvPr/>
        </p:nvSpPr>
        <p:spPr>
          <a:xfrm>
            <a:off x="502920" y="4846320"/>
            <a:ext cx="11155680" cy="1554480"/>
          </a:xfrm>
          <a:prstGeom prst="rect">
            <a:avLst/>
          </a:prstGeom>
          <a:noFill/>
          <a:ln/>
        </p:spPr>
        <p:txBody>
          <a:bodyPr wrap="square" lIns="0" tIns="0" rIns="0" bIns="0" rtlCol="0" anchor="t"/>
          <a:lstStyle/>
          <a:p>
            <a:pPr marL="0" indent="0" algn="l">
              <a:lnSpc>
                <a:spcPct val="114000"/>
              </a:lnSpc>
              <a:buNone/>
            </a:pPr>
            <a:r>
              <a:rPr lang="en-US" sz="1350" b="1" dirty="0">
                <a:solidFill>
                  <a:srgbClr val="20242B"/>
                </a:solidFill>
                <a:latin typeface="Calibri" pitchFamily="34" charset="0"/>
                <a:ea typeface="Calibri" pitchFamily="34" charset="-122"/>
                <a:cs typeface="Calibri" pitchFamily="34" charset="-120"/>
              </a:rPr>
              <a:t>Why the multipliers on each correction?  </a:t>
            </a:r>
            <a:r>
              <a:rPr lang="en-US" sz="1350" dirty="0">
                <a:solidFill>
                  <a:srgbClr val="20242B"/>
                </a:solidFill>
                <a:latin typeface="Calibri" pitchFamily="34" charset="0"/>
                <a:ea typeface="Calibri" pitchFamily="34" charset="-122"/>
                <a:cs typeface="Calibri" pitchFamily="34" charset="-120"/>
              </a:rPr>
              <a:t>Averaging models pulls estimates toward the middle, so the raw difference understates the true effect — the multiplier scales it back up (1.75 for weather-ahead, 2.25 for crop vision). And when a signal is believed but cannot be measured precisely, it is deliberately shrunk (0.25 for the training-data correction). Both numbers were chosen on early seasons and frozen before later ones were scored.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0 · THE STARTING POINT</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Deliberately dull: a weighted average of the last three harvests</a:t>
            </a:r>
            <a:endParaRPr lang="en-US" sz="2700" dirty="0"/>
          </a:p>
        </p:txBody>
      </p:sp>
      <p:sp>
        <p:nvSpPr>
          <p:cNvPr id="4" name="Shape 2"/>
          <p:cNvSpPr/>
          <p:nvPr/>
        </p:nvSpPr>
        <p:spPr>
          <a:xfrm>
            <a:off x="502920" y="1517904"/>
            <a:ext cx="7040880" cy="731520"/>
          </a:xfrm>
          <a:prstGeom prst="roundRect">
            <a:avLst>
              <a:gd name="adj" fmla="val 8750"/>
            </a:avLst>
          </a:prstGeom>
          <a:solidFill>
            <a:srgbClr val="EAF1FB"/>
          </a:solidFill>
          <a:ln/>
        </p:spPr>
        <p:txBody>
          <a:bodyPr/>
          <a:lstStyle/>
          <a:p>
            <a:endParaRPr lang="en-US"/>
          </a:p>
        </p:txBody>
      </p:sp>
      <p:sp>
        <p:nvSpPr>
          <p:cNvPr id="5" name="Text 3"/>
          <p:cNvSpPr/>
          <p:nvPr/>
        </p:nvSpPr>
        <p:spPr>
          <a:xfrm>
            <a:off x="640080" y="1517904"/>
            <a:ext cx="6766560" cy="731520"/>
          </a:xfrm>
          <a:prstGeom prst="rect">
            <a:avLst/>
          </a:prstGeom>
          <a:noFill/>
          <a:ln/>
        </p:spPr>
        <p:txBody>
          <a:bodyPr wrap="square" lIns="0" tIns="0" rIns="0" bIns="0" rtlCol="0" anchor="ctr"/>
          <a:lstStyle/>
          <a:p>
            <a:pPr marL="0" indent="0" algn="ctr">
              <a:lnSpc>
                <a:spcPct val="112000"/>
              </a:lnSpc>
              <a:buNone/>
            </a:pPr>
            <a:r>
              <a:rPr lang="en-US" sz="1700" b="1" dirty="0">
                <a:solidFill>
                  <a:srgbClr val="20242B"/>
                </a:solidFill>
                <a:latin typeface="Cambria" pitchFamily="34" charset="0"/>
                <a:ea typeface="Cambria" pitchFamily="34" charset="-122"/>
                <a:cs typeface="Cambria" pitchFamily="34" charset="-120"/>
              </a:rPr>
              <a:t>b  =  0.60·y(last year) + 0.25·y(2 yrs ago) + 0.15·y(3 yrs ago)</a:t>
            </a:r>
            <a:endParaRPr lang="en-US" sz="1700" dirty="0"/>
          </a:p>
        </p:txBody>
      </p:sp>
      <p:sp>
        <p:nvSpPr>
          <p:cNvPr id="6" name="Text 4"/>
          <p:cNvSpPr/>
          <p:nvPr/>
        </p:nvSpPr>
        <p:spPr>
          <a:xfrm>
            <a:off x="502920" y="2514600"/>
            <a:ext cx="7040880" cy="1234440"/>
          </a:xfrm>
          <a:prstGeom prst="rect">
            <a:avLst/>
          </a:prstGeom>
          <a:noFill/>
          <a:ln/>
        </p:spPr>
        <p:txBody>
          <a:bodyPr wrap="square" lIns="0" tIns="0" rIns="0" bIns="0" rtlCol="0" anchor="t"/>
          <a:lstStyle/>
          <a:p>
            <a:pPr marL="0" indent="0" algn="l">
              <a:lnSpc>
                <a:spcPct val="114000"/>
              </a:lnSpc>
              <a:buNone/>
            </a:pPr>
            <a:r>
              <a:rPr lang="en-US" sz="1300" b="1" dirty="0">
                <a:solidFill>
                  <a:srgbClr val="20242B"/>
                </a:solidFill>
                <a:latin typeface="Calibri" pitchFamily="34" charset="0"/>
                <a:ea typeface="Calibri" pitchFamily="34" charset="-122"/>
                <a:cs typeface="Calibri" pitchFamily="34" charset="-120"/>
              </a:rPr>
              <a:t>Why this works.  </a:t>
            </a:r>
            <a:r>
              <a:rPr lang="en-US" sz="1300" dirty="0">
                <a:solidFill>
                  <a:srgbClr val="20242B"/>
                </a:solidFill>
                <a:latin typeface="Calibri" pitchFamily="34" charset="0"/>
                <a:ea typeface="Calibri" pitchFamily="34" charset="-122"/>
                <a:cs typeface="Calibri" pitchFamily="34" charset="-120"/>
              </a:rPr>
              <a:t>Yield is persistent: a district that produced 4,500 kg/ha for three years will probably do so again — irrigation, soil and farming practice change slowly. Recent years get more weight because they are more informative. The weights were fitted once on history, then frozen; they are close to what you would guess.
</a:t>
            </a:r>
            <a:endParaRPr lang="en-US" sz="1300" dirty="0"/>
          </a:p>
        </p:txBody>
      </p:sp>
      <p:sp>
        <p:nvSpPr>
          <p:cNvPr id="7" name="Shape 5"/>
          <p:cNvSpPr/>
          <p:nvPr/>
        </p:nvSpPr>
        <p:spPr>
          <a:xfrm>
            <a:off x="502920" y="3840480"/>
            <a:ext cx="7040880" cy="1417320"/>
          </a:xfrm>
          <a:prstGeom prst="roundRect">
            <a:avLst>
              <a:gd name="adj" fmla="val 4516"/>
            </a:avLst>
          </a:prstGeom>
          <a:solidFill>
            <a:srgbClr val="F4F5F7"/>
          </a:solidFill>
          <a:ln/>
        </p:spPr>
        <p:txBody>
          <a:bodyPr/>
          <a:lstStyle/>
          <a:p>
            <a:endParaRPr lang="en-US"/>
          </a:p>
        </p:txBody>
      </p:sp>
      <p:sp>
        <p:nvSpPr>
          <p:cNvPr id="8" name="Text 6"/>
          <p:cNvSpPr/>
          <p:nvPr/>
        </p:nvSpPr>
        <p:spPr>
          <a:xfrm>
            <a:off x="731520" y="3977640"/>
            <a:ext cx="6583680" cy="1170432"/>
          </a:xfrm>
          <a:prstGeom prst="rect">
            <a:avLst/>
          </a:prstGeom>
          <a:noFill/>
          <a:ln/>
        </p:spPr>
        <p:txBody>
          <a:bodyPr wrap="square" lIns="0" tIns="0" rIns="0" bIns="0" rtlCol="0" anchor="ctr"/>
          <a:lstStyle/>
          <a:p>
            <a:pPr marL="0" indent="0">
              <a:lnSpc>
                <a:spcPct val="120000"/>
              </a:lnSpc>
              <a:buNone/>
            </a:pPr>
            <a:r>
              <a:rPr lang="en-US" sz="1250" b="1" dirty="0">
                <a:solidFill>
                  <a:srgbClr val="1F2B4D"/>
                </a:solidFill>
                <a:latin typeface="Calibri" pitchFamily="34" charset="0"/>
                <a:ea typeface="Calibri" pitchFamily="34" charset="-122"/>
                <a:cs typeface="Calibri" pitchFamily="34" charset="-120"/>
              </a:rPr>
              <a:t>Worked example (illustrative):  </a:t>
            </a:r>
            <a:r>
              <a:rPr lang="en-US" sz="1250" dirty="0">
                <a:solidFill>
                  <a:srgbClr val="000000"/>
                </a:solidFill>
                <a:latin typeface="Calibri" pitchFamily="34" charset="0"/>
                <a:ea typeface="Calibri" pitchFamily="34" charset="-122"/>
                <a:cs typeface="Calibri" pitchFamily="34" charset="-120"/>
              </a:rPr>
              <a:t>a district harvested 4,300, then 4,500, then 4,600 kg/ha in the last three years:
</a:t>
            </a:r>
            <a:r>
              <a:rPr lang="en-US" sz="1250" b="1" dirty="0">
                <a:solidFill>
                  <a:srgbClr val="1F2B4D"/>
                </a:solidFill>
                <a:latin typeface="Cambria" pitchFamily="34" charset="0"/>
                <a:ea typeface="Cambria" pitchFamily="34" charset="-122"/>
                <a:cs typeface="Cambria" pitchFamily="34" charset="-120"/>
              </a:rPr>
              <a:t>b = 0.60×4,600 + 0.25×4,500 + 0.15×4,300 = 2,760 + 1,125 + 645 = 4,530 kg/ha</a:t>
            </a:r>
            <a:endParaRPr lang="en-US" sz="1250" dirty="0"/>
          </a:p>
        </p:txBody>
      </p:sp>
      <p:sp>
        <p:nvSpPr>
          <p:cNvPr id="9" name="Text 7"/>
          <p:cNvSpPr/>
          <p:nvPr/>
        </p:nvSpPr>
        <p:spPr>
          <a:xfrm>
            <a:off x="502920" y="5486400"/>
            <a:ext cx="7040880" cy="1188720"/>
          </a:xfrm>
          <a:prstGeom prst="rect">
            <a:avLst/>
          </a:prstGeom>
          <a:noFill/>
          <a:ln/>
        </p:spPr>
        <p:txBody>
          <a:bodyPr wrap="square" lIns="0" tIns="0" rIns="0" bIns="0" rtlCol="0" anchor="t"/>
          <a:lstStyle/>
          <a:p>
            <a:pPr marL="0" indent="0" algn="l">
              <a:lnSpc>
                <a:spcPct val="114000"/>
              </a:lnSpc>
              <a:buNone/>
            </a:pPr>
            <a:r>
              <a:rPr lang="en-US" sz="1300" b="1" dirty="0">
                <a:solidFill>
                  <a:srgbClr val="20242B"/>
                </a:solidFill>
                <a:latin typeface="Calibri" pitchFamily="34" charset="0"/>
                <a:ea typeface="Calibri" pitchFamily="34" charset="-122"/>
                <a:cs typeface="Calibri" pitchFamily="34" charset="-120"/>
              </a:rPr>
              <a:t>The quiet trick that matters most:  </a:t>
            </a:r>
            <a:r>
              <a:rPr lang="en-US" sz="1300" dirty="0">
                <a:solidFill>
                  <a:srgbClr val="20242B"/>
                </a:solidFill>
                <a:latin typeface="Calibri" pitchFamily="34" charset="0"/>
                <a:ea typeface="Calibri" pitchFamily="34" charset="-122"/>
                <a:cs typeface="Calibri" pitchFamily="34" charset="-120"/>
              </a:rPr>
              <a:t>every model downstream predicts the residual  r = y_actual − b  — how much this season differs from business as usual. The models never have to learn that one district is richer than another; they only learn what is unusual, which is the part that actually varies.</a:t>
            </a:r>
            <a:endParaRPr lang="en-US" sz="1300" dirty="0"/>
          </a:p>
        </p:txBody>
      </p:sp>
      <p:sp>
        <p:nvSpPr>
          <p:cNvPr id="10" name="Shape 8"/>
          <p:cNvSpPr/>
          <p:nvPr/>
        </p:nvSpPr>
        <p:spPr>
          <a:xfrm>
            <a:off x="7863840" y="1517904"/>
            <a:ext cx="3840480" cy="5074920"/>
          </a:xfrm>
          <a:prstGeom prst="roundRect">
            <a:avLst>
              <a:gd name="adj" fmla="val 1905"/>
            </a:avLst>
          </a:prstGeom>
          <a:solidFill>
            <a:srgbClr val="1F2B4D"/>
          </a:solidFill>
          <a:ln/>
        </p:spPr>
        <p:txBody>
          <a:bodyPr/>
          <a:lstStyle/>
          <a:p>
            <a:endParaRPr lang="en-US"/>
          </a:p>
        </p:txBody>
      </p:sp>
      <p:sp>
        <p:nvSpPr>
          <p:cNvPr id="11" name="Text 9"/>
          <p:cNvSpPr/>
          <p:nvPr/>
        </p:nvSpPr>
        <p:spPr>
          <a:xfrm>
            <a:off x="8138160" y="1783080"/>
            <a:ext cx="3291840" cy="274320"/>
          </a:xfrm>
          <a:prstGeom prst="rect">
            <a:avLst/>
          </a:prstGeom>
          <a:noFill/>
          <a:ln/>
        </p:spPr>
        <p:txBody>
          <a:bodyPr wrap="square" lIns="0" tIns="0" rIns="0" bIns="0" rtlCol="0" anchor="ctr"/>
          <a:lstStyle/>
          <a:p>
            <a:pPr marL="0" indent="0">
              <a:buNone/>
            </a:pPr>
            <a:r>
              <a:rPr lang="en-US" sz="1100" b="1" kern="0" spc="100" dirty="0">
                <a:solidFill>
                  <a:srgbClr val="E8B95A"/>
                </a:solidFill>
                <a:latin typeface="Calibri" pitchFamily="34" charset="0"/>
                <a:ea typeface="Calibri" pitchFamily="34" charset="-122"/>
                <a:cs typeface="Calibri" pitchFamily="34" charset="-120"/>
              </a:rPr>
              <a:t>ON ITS OWN</a:t>
            </a:r>
            <a:endParaRPr lang="en-US" sz="1100" dirty="0"/>
          </a:p>
        </p:txBody>
      </p:sp>
      <p:sp>
        <p:nvSpPr>
          <p:cNvPr id="12" name="Text 10"/>
          <p:cNvSpPr/>
          <p:nvPr/>
        </p:nvSpPr>
        <p:spPr>
          <a:xfrm>
            <a:off x="8138160" y="2103120"/>
            <a:ext cx="3291840" cy="77724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333</a:t>
            </a:r>
            <a:endParaRPr lang="en-US" sz="5400" dirty="0"/>
          </a:p>
        </p:txBody>
      </p:sp>
      <p:sp>
        <p:nvSpPr>
          <p:cNvPr id="13" name="Text 11"/>
          <p:cNvSpPr/>
          <p:nvPr/>
        </p:nvSpPr>
        <p:spPr>
          <a:xfrm>
            <a:off x="8138160" y="2926080"/>
            <a:ext cx="3291840" cy="548640"/>
          </a:xfrm>
          <a:prstGeom prst="rect">
            <a:avLst/>
          </a:prstGeom>
          <a:noFill/>
          <a:ln/>
        </p:spPr>
        <p:txBody>
          <a:bodyPr wrap="square" lIns="0" tIns="0" rIns="0" bIns="0" rtlCol="0" anchor="ctr"/>
          <a:lstStyle/>
          <a:p>
            <a:pPr marL="0" indent="0">
              <a:lnSpc>
                <a:spcPct val="110000"/>
              </a:lnSpc>
              <a:buNone/>
            </a:pPr>
            <a:r>
              <a:rPr lang="en-US" sz="1200" dirty="0">
                <a:solidFill>
                  <a:srgbClr val="D9E2F5"/>
                </a:solidFill>
                <a:latin typeface="Calibri" pitchFamily="34" charset="0"/>
                <a:ea typeface="Calibri" pitchFamily="34" charset="-122"/>
                <a:cs typeface="Calibri" pitchFamily="34" charset="-120"/>
              </a:rPr>
              <a:t>kg/ha typical error, using the three-year average alone</a:t>
            </a:r>
            <a:endParaRPr lang="en-US" sz="1200" dirty="0"/>
          </a:p>
        </p:txBody>
      </p:sp>
      <p:sp>
        <p:nvSpPr>
          <p:cNvPr id="14" name="Text 12"/>
          <p:cNvSpPr/>
          <p:nvPr/>
        </p:nvSpPr>
        <p:spPr>
          <a:xfrm>
            <a:off x="8138160" y="3794760"/>
            <a:ext cx="3291840" cy="777240"/>
          </a:xfrm>
          <a:prstGeom prst="rect">
            <a:avLst/>
          </a:prstGeom>
          <a:noFill/>
          <a:ln/>
        </p:spPr>
        <p:txBody>
          <a:bodyPr wrap="square" lIns="0" tIns="0" rIns="0" bIns="0" rtlCol="0" anchor="ctr"/>
          <a:lstStyle/>
          <a:p>
            <a:pPr marL="0" indent="0">
              <a:buNone/>
            </a:pPr>
            <a:r>
              <a:rPr lang="en-US" sz="5400" b="1" dirty="0">
                <a:solidFill>
                  <a:srgbClr val="E8B95A"/>
                </a:solidFill>
                <a:latin typeface="Calibri" pitchFamily="34" charset="0"/>
                <a:ea typeface="Calibri" pitchFamily="34" charset="-122"/>
                <a:cs typeface="Calibri" pitchFamily="34" charset="-120"/>
              </a:rPr>
              <a:t>68</a:t>
            </a:r>
            <a:endParaRPr lang="en-US" sz="5400" dirty="0"/>
          </a:p>
        </p:txBody>
      </p:sp>
      <p:sp>
        <p:nvSpPr>
          <p:cNvPr id="15" name="Text 13"/>
          <p:cNvSpPr/>
          <p:nvPr/>
        </p:nvSpPr>
        <p:spPr>
          <a:xfrm>
            <a:off x="8138160" y="4617720"/>
            <a:ext cx="3291840" cy="1737360"/>
          </a:xfrm>
          <a:prstGeom prst="rect">
            <a:avLst/>
          </a:prstGeom>
          <a:noFill/>
          <a:ln/>
        </p:spPr>
        <p:txBody>
          <a:bodyPr wrap="square" lIns="0" tIns="0" rIns="0" bIns="0" rtlCol="0" anchor="ctr"/>
          <a:lstStyle/>
          <a:p>
            <a:pPr marL="0" indent="0">
              <a:lnSpc>
                <a:spcPct val="115000"/>
              </a:lnSpc>
              <a:buNone/>
            </a:pPr>
            <a:r>
              <a:rPr lang="en-US" sz="1200" dirty="0">
                <a:solidFill>
                  <a:srgbClr val="D9E2F5"/>
                </a:solidFill>
                <a:latin typeface="Calibri" pitchFamily="34" charset="0"/>
                <a:ea typeface="Calibri" pitchFamily="34" charset="-122"/>
                <a:cs typeface="Calibri" pitchFamily="34" charset="-120"/>
              </a:rPr>
              <a:t>kg/ha — everything else in this presentation, combined, is worth about this much on top. The baseline does most of the work; the craft is in the last 20%.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1 · THE BLEND</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Five estimates, one average — each wrong in a different way</a:t>
            </a:r>
            <a:endParaRPr lang="en-US" sz="2700" dirty="0"/>
          </a:p>
        </p:txBody>
      </p:sp>
      <p:pic>
        <p:nvPicPr>
          <p:cNvPr id="4" name="Image 0" descr="charts/13_blend_weights.png"/>
          <p:cNvPicPr>
            <a:picLocks noChangeAspect="1"/>
          </p:cNvPicPr>
          <p:nvPr/>
        </p:nvPicPr>
        <p:blipFill>
          <a:blip r:embed="rId3"/>
          <a:stretch>
            <a:fillRect/>
          </a:stretch>
        </p:blipFill>
        <p:spPr>
          <a:xfrm>
            <a:off x="502920" y="1554480"/>
            <a:ext cx="6675120" cy="2743200"/>
          </a:xfrm>
          <a:prstGeom prst="rect">
            <a:avLst/>
          </a:prstGeom>
        </p:spPr>
      </p:pic>
      <p:sp>
        <p:nvSpPr>
          <p:cNvPr id="5" name="Text 2"/>
          <p:cNvSpPr/>
          <p:nvPr/>
        </p:nvSpPr>
        <p:spPr>
          <a:xfrm>
            <a:off x="502920" y="4480560"/>
            <a:ext cx="6675120" cy="2103120"/>
          </a:xfrm>
          <a:prstGeom prst="rect">
            <a:avLst/>
          </a:prstGeom>
          <a:noFill/>
          <a:ln/>
        </p:spPr>
        <p:txBody>
          <a:bodyPr wrap="square" lIns="0" tIns="0" rIns="0" bIns="0" rtlCol="0" anchor="t"/>
          <a:lstStyle/>
          <a:p>
            <a:pPr marL="0" indent="0" algn="l">
              <a:lnSpc>
                <a:spcPct val="114000"/>
              </a:lnSpc>
              <a:buNone/>
            </a:pPr>
            <a:r>
              <a:rPr lang="en-US" sz="1250" b="1" dirty="0">
                <a:solidFill>
                  <a:srgbClr val="20242B"/>
                </a:solidFill>
                <a:latin typeface="Calibri" pitchFamily="34" charset="0"/>
                <a:ea typeface="Calibri" pitchFamily="34" charset="-122"/>
                <a:cs typeface="Calibri" pitchFamily="34" charset="-120"/>
              </a:rPr>
              <a:t>Why five and not one?  </a:t>
            </a:r>
            <a:r>
              <a:rPr lang="en-US" sz="1250" dirty="0">
                <a:solidFill>
                  <a:srgbClr val="20242B"/>
                </a:solidFill>
                <a:latin typeface="Calibri" pitchFamily="34" charset="0"/>
                <a:ea typeface="Calibri" pitchFamily="34" charset="-122"/>
                <a:cs typeface="Calibri" pitchFamily="34" charset="-120"/>
              </a:rPr>
              <a:t>Each estimate looks at something different — history, this season's weather and satellite images, prices, wheat behaviour learned in other countries, and crop physics — and each is wrong in a different way. Averaging cancels independent mistakes.
</a:t>
            </a:r>
            <a:r>
              <a:rPr lang="en-US" sz="1250" b="1" dirty="0">
                <a:solidFill>
                  <a:srgbClr val="20242B"/>
                </a:solidFill>
                <a:latin typeface="Calibri" pitchFamily="34" charset="0"/>
                <a:ea typeface="Calibri" pitchFamily="34" charset="-122"/>
                <a:cs typeface="Calibri" pitchFamily="34" charset="-120"/>
              </a:rPr>
              <a:t>Why keep a model with weight zero?  </a:t>
            </a:r>
            <a:r>
              <a:rPr lang="en-US" sz="1250" dirty="0">
                <a:solidFill>
                  <a:srgbClr val="20242B"/>
                </a:solidFill>
                <a:latin typeface="Calibri" pitchFamily="34" charset="0"/>
                <a:ea typeface="Calibri" pitchFamily="34" charset="-122"/>
                <a:cs typeface="Calibri" pitchFamily="34" charset="-120"/>
              </a:rPr>
              <a:t>The physics estimate wasn't adding accuracy, so it gets no weight in the average — but its direction (up vs down) is still informative, so it still votes in the gate on the right.</a:t>
            </a:r>
            <a:endParaRPr lang="en-US" sz="1250" dirty="0"/>
          </a:p>
        </p:txBody>
      </p:sp>
      <p:sp>
        <p:nvSpPr>
          <p:cNvPr id="6" name="Shape 3"/>
          <p:cNvSpPr/>
          <p:nvPr/>
        </p:nvSpPr>
        <p:spPr>
          <a:xfrm>
            <a:off x="7498080" y="1554480"/>
            <a:ext cx="4206240" cy="5029200"/>
          </a:xfrm>
          <a:prstGeom prst="roundRect">
            <a:avLst>
              <a:gd name="adj" fmla="val 1739"/>
            </a:avLst>
          </a:prstGeom>
          <a:solidFill>
            <a:srgbClr val="EAF1FB"/>
          </a:solidFill>
          <a:ln/>
        </p:spPr>
        <p:txBody>
          <a:bodyPr/>
          <a:lstStyle/>
          <a:p>
            <a:endParaRPr lang="en-US"/>
          </a:p>
        </p:txBody>
      </p:sp>
      <p:sp>
        <p:nvSpPr>
          <p:cNvPr id="7" name="Text 4"/>
          <p:cNvSpPr/>
          <p:nvPr/>
        </p:nvSpPr>
        <p:spPr>
          <a:xfrm>
            <a:off x="7726680" y="1755648"/>
            <a:ext cx="3749040" cy="274320"/>
          </a:xfrm>
          <a:prstGeom prst="rect">
            <a:avLst/>
          </a:prstGeom>
          <a:noFill/>
          <a:ln/>
        </p:spPr>
        <p:txBody>
          <a:bodyPr wrap="square" lIns="0" tIns="0" rIns="0" bIns="0" rtlCol="0" anchor="ctr"/>
          <a:lstStyle/>
          <a:p>
            <a:pPr marL="0" indent="0">
              <a:buNone/>
            </a:pPr>
            <a:r>
              <a:rPr lang="en-US" sz="1100" b="1" kern="0" spc="100" dirty="0">
                <a:solidFill>
                  <a:srgbClr val="2A78D6"/>
                </a:solidFill>
                <a:latin typeface="Calibri" pitchFamily="34" charset="0"/>
                <a:ea typeface="Calibri" pitchFamily="34" charset="-122"/>
                <a:cs typeface="Calibri" pitchFamily="34" charset="-120"/>
              </a:rPr>
              <a:t>THE FIVE, IN PLAIN WORDS</a:t>
            </a:r>
            <a:endParaRPr lang="en-US" sz="1100" dirty="0"/>
          </a:p>
        </p:txBody>
      </p:sp>
      <p:sp>
        <p:nvSpPr>
          <p:cNvPr id="8" name="Text 5"/>
          <p:cNvSpPr/>
          <p:nvPr/>
        </p:nvSpPr>
        <p:spPr>
          <a:xfrm>
            <a:off x="7726680" y="2121408"/>
            <a:ext cx="3794760" cy="777240"/>
          </a:xfrm>
          <a:prstGeom prst="rect">
            <a:avLst/>
          </a:prstGeom>
          <a:noFill/>
          <a:ln/>
        </p:spPr>
        <p:txBody>
          <a:bodyPr wrap="square" lIns="0" tIns="0" rIns="0" bIns="0" rtlCol="0" anchor="ctr"/>
          <a:lstStyle/>
          <a:p>
            <a:pPr marL="0" indent="0">
              <a:lnSpc>
                <a:spcPct val="108000"/>
              </a:lnSpc>
              <a:buNone/>
            </a:pPr>
            <a:r>
              <a:rPr lang="en-US" sz="1250" b="1" dirty="0">
                <a:solidFill>
                  <a:srgbClr val="1F2B4D"/>
                </a:solidFill>
                <a:latin typeface="Calibri" pitchFamily="34" charset="0"/>
                <a:ea typeface="Calibri" pitchFamily="34" charset="-122"/>
                <a:cs typeface="Calibri" pitchFamily="34" charset="-120"/>
              </a:rPr>
              <a:t>History (0.50)
</a:t>
            </a:r>
            <a:r>
              <a:rPr lang="en-US" sz="1100" dirty="0">
                <a:solidFill>
                  <a:srgbClr val="20242B"/>
                </a:solidFill>
                <a:latin typeface="Calibri" pitchFamily="34" charset="0"/>
                <a:ea typeface="Calibri" pitchFamily="34" charset="-122"/>
                <a:cs typeface="Calibri" pitchFamily="34" charset="-120"/>
              </a:rPr>
              <a:t>the three-year average from Stage 0</a:t>
            </a:r>
            <a:endParaRPr lang="en-US" sz="1250" dirty="0"/>
          </a:p>
        </p:txBody>
      </p:sp>
      <p:sp>
        <p:nvSpPr>
          <p:cNvPr id="9" name="Text 6"/>
          <p:cNvSpPr/>
          <p:nvPr/>
        </p:nvSpPr>
        <p:spPr>
          <a:xfrm>
            <a:off x="7726680" y="3008376"/>
            <a:ext cx="3794760" cy="777240"/>
          </a:xfrm>
          <a:prstGeom prst="rect">
            <a:avLst/>
          </a:prstGeom>
          <a:noFill/>
          <a:ln/>
        </p:spPr>
        <p:txBody>
          <a:bodyPr wrap="square" lIns="0" tIns="0" rIns="0" bIns="0" rtlCol="0" anchor="ctr"/>
          <a:lstStyle/>
          <a:p>
            <a:pPr marL="0" indent="0">
              <a:lnSpc>
                <a:spcPct val="108000"/>
              </a:lnSpc>
              <a:buNone/>
            </a:pPr>
            <a:r>
              <a:rPr lang="en-US" sz="1250" b="1" dirty="0">
                <a:solidFill>
                  <a:srgbClr val="1F2B4D"/>
                </a:solidFill>
                <a:latin typeface="Calibri" pitchFamily="34" charset="0"/>
                <a:ea typeface="Calibri" pitchFamily="34" charset="-122"/>
                <a:cs typeface="Calibri" pitchFamily="34" charset="-120"/>
              </a:rPr>
              <a:t>Weather + satellite (0.15)
</a:t>
            </a:r>
            <a:r>
              <a:rPr lang="en-US" sz="1100" dirty="0">
                <a:solidFill>
                  <a:srgbClr val="20242B"/>
                </a:solidFill>
                <a:latin typeface="Calibri" pitchFamily="34" charset="0"/>
                <a:ea typeface="Calibri" pitchFamily="34" charset="-122"/>
                <a:cs typeface="Calibri" pitchFamily="34" charset="-120"/>
              </a:rPr>
              <a:t>what has been observed up to 5 March</a:t>
            </a:r>
            <a:endParaRPr lang="en-US" sz="1250" dirty="0"/>
          </a:p>
        </p:txBody>
      </p:sp>
      <p:sp>
        <p:nvSpPr>
          <p:cNvPr id="10" name="Text 7"/>
          <p:cNvSpPr/>
          <p:nvPr/>
        </p:nvSpPr>
        <p:spPr>
          <a:xfrm>
            <a:off x="7726680" y="3895344"/>
            <a:ext cx="3794760" cy="777240"/>
          </a:xfrm>
          <a:prstGeom prst="rect">
            <a:avLst/>
          </a:prstGeom>
          <a:noFill/>
          <a:ln/>
        </p:spPr>
        <p:txBody>
          <a:bodyPr wrap="square" lIns="0" tIns="0" rIns="0" bIns="0" rtlCol="0" anchor="ctr"/>
          <a:lstStyle/>
          <a:p>
            <a:pPr marL="0" indent="0">
              <a:lnSpc>
                <a:spcPct val="108000"/>
              </a:lnSpc>
              <a:buNone/>
            </a:pPr>
            <a:r>
              <a:rPr lang="en-US" sz="1250" b="1" dirty="0">
                <a:solidFill>
                  <a:srgbClr val="1F2B4D"/>
                </a:solidFill>
                <a:latin typeface="Calibri" pitchFamily="34" charset="0"/>
                <a:ea typeface="Calibri" pitchFamily="34" charset="-122"/>
                <a:cs typeface="Calibri" pitchFamily="34" charset="-120"/>
              </a:rPr>
              <a:t>Economic (0.15)
</a:t>
            </a:r>
            <a:r>
              <a:rPr lang="en-US" sz="1100" dirty="0">
                <a:solidFill>
                  <a:srgbClr val="20242B"/>
                </a:solidFill>
                <a:latin typeface="Calibri" pitchFamily="34" charset="0"/>
                <a:ea typeface="Calibri" pitchFamily="34" charset="-122"/>
                <a:cs typeface="Calibri" pitchFamily="34" charset="-120"/>
              </a:rPr>
              <a:t>last year's prices and support-price changes</a:t>
            </a:r>
            <a:endParaRPr lang="en-US" sz="1250" dirty="0"/>
          </a:p>
        </p:txBody>
      </p:sp>
      <p:sp>
        <p:nvSpPr>
          <p:cNvPr id="11" name="Text 8"/>
          <p:cNvSpPr/>
          <p:nvPr/>
        </p:nvSpPr>
        <p:spPr>
          <a:xfrm>
            <a:off x="7726680" y="4782312"/>
            <a:ext cx="3794760" cy="1371600"/>
          </a:xfrm>
          <a:prstGeom prst="rect">
            <a:avLst/>
          </a:prstGeom>
          <a:noFill/>
          <a:ln/>
        </p:spPr>
        <p:txBody>
          <a:bodyPr wrap="square" lIns="0" tIns="0" rIns="0" bIns="0" rtlCol="0" anchor="ctr"/>
          <a:lstStyle/>
          <a:p>
            <a:pPr marL="0" indent="0">
              <a:lnSpc>
                <a:spcPct val="108000"/>
              </a:lnSpc>
              <a:buNone/>
            </a:pPr>
            <a:r>
              <a:rPr lang="en-US" sz="1250" b="1" dirty="0">
                <a:solidFill>
                  <a:srgbClr val="1F2B4D"/>
                </a:solidFill>
                <a:latin typeface="Calibri" pitchFamily="34" charset="0"/>
                <a:ea typeface="Calibri" pitchFamily="34" charset="-122"/>
                <a:cs typeface="Calibri" pitchFamily="34" charset="-120"/>
              </a:rPr>
              <a:t>Transfer (0.20)
</a:t>
            </a:r>
            <a:r>
              <a:rPr lang="en-US" sz="1100" dirty="0">
                <a:solidFill>
                  <a:srgbClr val="20242B"/>
                </a:solidFill>
                <a:latin typeface="Calibri" pitchFamily="34" charset="0"/>
                <a:ea typeface="Calibri" pitchFamily="34" charset="-122"/>
                <a:cs typeface="Calibri" pitchFamily="34" charset="-120"/>
              </a:rPr>
              <a:t>a model trained on wheat elsewhere in the world, applied here — it imports general knowledge about how wheat responds to weather that 119 districts alone cannot teach</a:t>
            </a:r>
            <a:endParaRPr lang="en-US" sz="1250" dirty="0"/>
          </a:p>
        </p:txBody>
      </p:sp>
      <p:sp>
        <p:nvSpPr>
          <p:cNvPr id="12" name="Text 9"/>
          <p:cNvSpPr/>
          <p:nvPr/>
        </p:nvSpPr>
        <p:spPr>
          <a:xfrm>
            <a:off x="7726680" y="6263640"/>
            <a:ext cx="3794760" cy="777240"/>
          </a:xfrm>
          <a:prstGeom prst="rect">
            <a:avLst/>
          </a:prstGeom>
          <a:noFill/>
          <a:ln/>
        </p:spPr>
        <p:txBody>
          <a:bodyPr wrap="square" lIns="0" tIns="0" rIns="0" bIns="0" rtlCol="0" anchor="ctr"/>
          <a:lstStyle/>
          <a:p>
            <a:pPr marL="0" indent="0">
              <a:lnSpc>
                <a:spcPct val="108000"/>
              </a:lnSpc>
              <a:buNone/>
            </a:pPr>
            <a:r>
              <a:rPr lang="en-US" sz="1250" b="1" dirty="0">
                <a:solidFill>
                  <a:srgbClr val="1F2B4D"/>
                </a:solidFill>
                <a:latin typeface="Calibri" pitchFamily="34" charset="0"/>
                <a:ea typeface="Calibri" pitchFamily="34" charset="-122"/>
                <a:cs typeface="Calibri" pitchFamily="34" charset="-120"/>
              </a:rPr>
              <a:t>Physics (0.00)
</a:t>
            </a:r>
            <a:r>
              <a:rPr lang="en-US" sz="1100" dirty="0">
                <a:solidFill>
                  <a:srgbClr val="20242B"/>
                </a:solidFill>
                <a:latin typeface="Calibri" pitchFamily="34" charset="0"/>
                <a:ea typeface="Calibri" pitchFamily="34" charset="-122"/>
                <a:cs typeface="Calibri" pitchFamily="34" charset="-120"/>
              </a:rPr>
              <a:t>soil water balance and heat stress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1 · THE DISAGREEMENT GATE</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Normally trust history — unless the evidence gangs up against it</a:t>
            </a:r>
            <a:endParaRPr lang="en-US" sz="2700" dirty="0"/>
          </a:p>
        </p:txBody>
      </p:sp>
      <p:sp>
        <p:nvSpPr>
          <p:cNvPr id="4" name="Text 2"/>
          <p:cNvSpPr/>
          <p:nvPr/>
        </p:nvSpPr>
        <p:spPr>
          <a:xfrm>
            <a:off x="502920" y="1463040"/>
            <a:ext cx="6309360" cy="868680"/>
          </a:xfrm>
          <a:prstGeom prst="rect">
            <a:avLst/>
          </a:prstGeom>
          <a:noFill/>
          <a:ln/>
        </p:spPr>
        <p:txBody>
          <a:bodyPr wrap="square" lIns="0" tIns="0" rIns="0" bIns="0" rtlCol="0" anchor="t"/>
          <a:lstStyle/>
          <a:p>
            <a:pPr marL="0" indent="0" algn="l">
              <a:lnSpc>
                <a:spcPct val="114000"/>
              </a:lnSpc>
              <a:buNone/>
            </a:pPr>
            <a:r>
              <a:rPr lang="en-US" sz="1350" dirty="0">
                <a:solidFill>
                  <a:srgbClr val="20242B"/>
                </a:solidFill>
                <a:latin typeface="Calibri" pitchFamily="34" charset="0"/>
                <a:ea typeface="Calibri" pitchFamily="34" charset="-122"/>
                <a:cs typeface="Calibri" pitchFamily="34" charset="-120"/>
              </a:rPr>
              <a:t>Let L be last season's yield. Each non-history estimate casts a vote on direction only — is this year going up or down?</a:t>
            </a:r>
            <a:endParaRPr lang="en-US" sz="1350" dirty="0"/>
          </a:p>
        </p:txBody>
      </p:sp>
      <p:sp>
        <p:nvSpPr>
          <p:cNvPr id="5" name="Shape 3"/>
          <p:cNvSpPr/>
          <p:nvPr/>
        </p:nvSpPr>
        <p:spPr>
          <a:xfrm>
            <a:off x="502920" y="2286000"/>
            <a:ext cx="6309360" cy="566928"/>
          </a:xfrm>
          <a:prstGeom prst="roundRect">
            <a:avLst>
              <a:gd name="adj" fmla="val 11290"/>
            </a:avLst>
          </a:prstGeom>
          <a:solidFill>
            <a:srgbClr val="EAF1FB"/>
          </a:solidFill>
          <a:ln/>
        </p:spPr>
        <p:txBody>
          <a:bodyPr/>
          <a:lstStyle/>
          <a:p>
            <a:endParaRPr lang="en-US"/>
          </a:p>
        </p:txBody>
      </p:sp>
      <p:sp>
        <p:nvSpPr>
          <p:cNvPr id="6" name="Text 4"/>
          <p:cNvSpPr/>
          <p:nvPr/>
        </p:nvSpPr>
        <p:spPr>
          <a:xfrm>
            <a:off x="640080" y="2286000"/>
            <a:ext cx="6035040" cy="566928"/>
          </a:xfrm>
          <a:prstGeom prst="rect">
            <a:avLst/>
          </a:prstGeom>
          <a:noFill/>
          <a:ln/>
        </p:spPr>
        <p:txBody>
          <a:bodyPr wrap="square" lIns="0" tIns="0" rIns="0" bIns="0" rtlCol="0" anchor="ctr"/>
          <a:lstStyle/>
          <a:p>
            <a:pPr marL="0" indent="0" algn="ctr">
              <a:lnSpc>
                <a:spcPct val="112000"/>
              </a:lnSpc>
              <a:buNone/>
            </a:pPr>
            <a:r>
              <a:rPr lang="en-US" sz="1500" dirty="0">
                <a:solidFill>
                  <a:srgbClr val="20242B"/>
                </a:solidFill>
                <a:latin typeface="Cambria" pitchFamily="34" charset="0"/>
                <a:ea typeface="Cambria" pitchFamily="34" charset="-122"/>
                <a:cs typeface="Cambria" pitchFamily="34" charset="-120"/>
              </a:rPr>
              <a:t>s = sign(estimate − L) ∈ {−1, 0, +1},    S = sum of the 4 votes</a:t>
            </a:r>
            <a:endParaRPr lang="en-US" sz="1500" dirty="0"/>
          </a:p>
        </p:txBody>
      </p:sp>
      <p:sp>
        <p:nvSpPr>
          <p:cNvPr id="7" name="Text 5"/>
          <p:cNvSpPr/>
          <p:nvPr/>
        </p:nvSpPr>
        <p:spPr>
          <a:xfrm>
            <a:off x="502920" y="3017520"/>
            <a:ext cx="6309360" cy="822960"/>
          </a:xfrm>
          <a:prstGeom prst="rect">
            <a:avLst/>
          </a:prstGeom>
          <a:noFill/>
          <a:ln/>
        </p:spPr>
        <p:txBody>
          <a:bodyPr wrap="square" lIns="0" tIns="0" rIns="0" bIns="0" rtlCol="0" anchor="t"/>
          <a:lstStyle/>
          <a:p>
            <a:pPr marL="0" indent="0" algn="l">
              <a:lnSpc>
                <a:spcPct val="114000"/>
              </a:lnSpc>
              <a:buNone/>
            </a:pPr>
            <a:r>
              <a:rPr lang="en-US" sz="1350" dirty="0">
                <a:solidFill>
                  <a:srgbClr val="20242B"/>
                </a:solidFill>
                <a:latin typeface="Calibri" pitchFamily="34" charset="0"/>
                <a:ea typeface="Calibri" pitchFamily="34" charset="-122"/>
                <a:cs typeface="Calibri" pitchFamily="34" charset="-120"/>
              </a:rPr>
              <a:t>If a majority agree (|S| ≥ 2) and they disagree with what history implies, the gate fires: history's weight collapses from 0.50 to 0.20, and the season-aware models take over.</a:t>
            </a:r>
            <a:endParaRPr lang="en-US" sz="1350" dirty="0"/>
          </a:p>
        </p:txBody>
      </p:sp>
      <p:sp>
        <p:nvSpPr>
          <p:cNvPr id="8" name="Shape 6"/>
          <p:cNvSpPr/>
          <p:nvPr/>
        </p:nvSpPr>
        <p:spPr>
          <a:xfrm>
            <a:off x="502920" y="3886200"/>
            <a:ext cx="6309360" cy="960120"/>
          </a:xfrm>
          <a:prstGeom prst="roundRect">
            <a:avLst>
              <a:gd name="adj" fmla="val 6667"/>
            </a:avLst>
          </a:prstGeom>
          <a:solidFill>
            <a:srgbClr val="EAF1FB"/>
          </a:solidFill>
          <a:ln/>
        </p:spPr>
        <p:txBody>
          <a:bodyPr/>
          <a:lstStyle/>
          <a:p>
            <a:endParaRPr lang="en-US"/>
          </a:p>
        </p:txBody>
      </p:sp>
      <p:sp>
        <p:nvSpPr>
          <p:cNvPr id="9" name="Text 7"/>
          <p:cNvSpPr/>
          <p:nvPr/>
        </p:nvSpPr>
        <p:spPr>
          <a:xfrm>
            <a:off x="640080" y="3886200"/>
            <a:ext cx="6035040" cy="960120"/>
          </a:xfrm>
          <a:prstGeom prst="rect">
            <a:avLst/>
          </a:prstGeom>
          <a:noFill/>
          <a:ln/>
        </p:spPr>
        <p:txBody>
          <a:bodyPr wrap="square" lIns="0" tIns="0" rIns="0" bIns="0" rtlCol="0" anchor="ctr"/>
          <a:lstStyle/>
          <a:p>
            <a:pPr marL="0" indent="0" algn="l">
              <a:lnSpc>
                <a:spcPct val="112000"/>
              </a:lnSpc>
              <a:buNone/>
            </a:pPr>
            <a:r>
              <a:rPr lang="en-US" sz="1450" dirty="0">
                <a:solidFill>
                  <a:srgbClr val="20242B"/>
                </a:solidFill>
                <a:latin typeface="Cambria" pitchFamily="34" charset="0"/>
                <a:ea typeface="Cambria" pitchFamily="34" charset="-122"/>
                <a:cs typeface="Cambria" pitchFamily="34" charset="-120"/>
              </a:rPr>
              <a:t>normal:        Blend_raw = 0.50·H + 0.15·R + 0.15·E + 0.20·C</a:t>
            </a:r>
            <a:endParaRPr lang="en-US" sz="1450" dirty="0"/>
          </a:p>
          <a:p>
            <a:pPr marL="0" indent="0" algn="l">
              <a:lnSpc>
                <a:spcPct val="112000"/>
              </a:lnSpc>
              <a:buNone/>
            </a:pPr>
            <a:r>
              <a:rPr lang="en-US" sz="1450" dirty="0">
                <a:solidFill>
                  <a:srgbClr val="20242B"/>
                </a:solidFill>
                <a:latin typeface="Cambria" pitchFamily="34" charset="0"/>
                <a:ea typeface="Cambria" pitchFamily="34" charset="-122"/>
                <a:cs typeface="Cambria" pitchFamily="34" charset="-120"/>
              </a:rPr>
              <a:t>gate fires:   Blend_raw = 0.20·H + 0.30·R + 0.30·E + 0.20·C</a:t>
            </a:r>
            <a:endParaRPr lang="en-US" sz="1450" dirty="0"/>
          </a:p>
        </p:txBody>
      </p:sp>
      <p:sp>
        <p:nvSpPr>
          <p:cNvPr id="10" name="Shape 8"/>
          <p:cNvSpPr/>
          <p:nvPr/>
        </p:nvSpPr>
        <p:spPr>
          <a:xfrm>
            <a:off x="502920" y="5074920"/>
            <a:ext cx="6309360" cy="1463040"/>
          </a:xfrm>
          <a:prstGeom prst="roundRect">
            <a:avLst>
              <a:gd name="adj" fmla="val 4375"/>
            </a:avLst>
          </a:prstGeom>
          <a:solidFill>
            <a:srgbClr val="F4F5F7"/>
          </a:solidFill>
          <a:ln/>
        </p:spPr>
        <p:txBody>
          <a:bodyPr/>
          <a:lstStyle/>
          <a:p>
            <a:endParaRPr lang="en-US"/>
          </a:p>
        </p:txBody>
      </p:sp>
      <p:sp>
        <p:nvSpPr>
          <p:cNvPr id="11" name="Text 9"/>
          <p:cNvSpPr/>
          <p:nvPr/>
        </p:nvSpPr>
        <p:spPr>
          <a:xfrm>
            <a:off x="731520" y="5193792"/>
            <a:ext cx="5852160" cy="1234440"/>
          </a:xfrm>
          <a:prstGeom prst="rect">
            <a:avLst/>
          </a:prstGeom>
          <a:noFill/>
          <a:ln/>
        </p:spPr>
        <p:txBody>
          <a:bodyPr wrap="square" lIns="0" tIns="0" rIns="0" bIns="0" rtlCol="0" anchor="ctr"/>
          <a:lstStyle/>
          <a:p>
            <a:pPr marL="0" indent="0">
              <a:lnSpc>
                <a:spcPct val="115000"/>
              </a:lnSpc>
              <a:buNone/>
            </a:pPr>
            <a:r>
              <a:rPr lang="en-US" sz="1200" b="1" dirty="0">
                <a:solidFill>
                  <a:srgbClr val="1F2B4D"/>
                </a:solidFill>
                <a:latin typeface="Calibri" pitchFamily="34" charset="0"/>
                <a:ea typeface="Calibri" pitchFamily="34" charset="-122"/>
                <a:cs typeface="Calibri" pitchFamily="34" charset="-120"/>
              </a:rPr>
              <a:t>Worked vote (illustrative):  </a:t>
            </a:r>
            <a:r>
              <a:rPr lang="en-US" sz="1200" dirty="0">
                <a:solidFill>
                  <a:srgbClr val="20242B"/>
                </a:solidFill>
                <a:latin typeface="Calibri" pitchFamily="34" charset="0"/>
                <a:ea typeface="Calibri" pitchFamily="34" charset="-122"/>
                <a:cs typeface="Calibri" pitchFamily="34" charset="-120"/>
              </a:rPr>
              <a:t>L = 4,580. Weather-satellite says 4,340 (−1), economic says 4,610 (+1), transfer says 4,400 (−1), physics says 4,470 (−1).  S = −2 → a majority say “down”. History says “flat”. The gate fires and the blend stops leaning on last year.</a:t>
            </a:r>
            <a:endParaRPr lang="en-US" sz="1200" dirty="0"/>
          </a:p>
        </p:txBody>
      </p:sp>
      <p:sp>
        <p:nvSpPr>
          <p:cNvPr id="12" name="Shape 10"/>
          <p:cNvSpPr/>
          <p:nvPr/>
        </p:nvSpPr>
        <p:spPr>
          <a:xfrm>
            <a:off x="7223760" y="1463040"/>
            <a:ext cx="4480560" cy="5074920"/>
          </a:xfrm>
          <a:prstGeom prst="roundRect">
            <a:avLst>
              <a:gd name="adj" fmla="val 1633"/>
            </a:avLst>
          </a:prstGeom>
          <a:solidFill>
            <a:srgbClr val="1F2B4D"/>
          </a:solidFill>
          <a:ln/>
        </p:spPr>
        <p:txBody>
          <a:bodyPr/>
          <a:lstStyle/>
          <a:p>
            <a:endParaRPr lang="en-US"/>
          </a:p>
        </p:txBody>
      </p:sp>
      <p:sp>
        <p:nvSpPr>
          <p:cNvPr id="13" name="Text 11"/>
          <p:cNvSpPr/>
          <p:nvPr/>
        </p:nvSpPr>
        <p:spPr>
          <a:xfrm>
            <a:off x="7498080" y="1719072"/>
            <a:ext cx="3931920" cy="274320"/>
          </a:xfrm>
          <a:prstGeom prst="rect">
            <a:avLst/>
          </a:prstGeom>
          <a:noFill/>
          <a:ln/>
        </p:spPr>
        <p:txBody>
          <a:bodyPr wrap="square" lIns="0" tIns="0" rIns="0" bIns="0" rtlCol="0" anchor="ctr"/>
          <a:lstStyle/>
          <a:p>
            <a:pPr marL="0" indent="0">
              <a:buNone/>
            </a:pPr>
            <a:r>
              <a:rPr lang="en-US" sz="1100" b="1" kern="0" spc="100" dirty="0">
                <a:solidFill>
                  <a:srgbClr val="E8B95A"/>
                </a:solidFill>
                <a:latin typeface="Calibri" pitchFamily="34" charset="0"/>
                <a:ea typeface="Calibri" pitchFamily="34" charset="-122"/>
                <a:cs typeface="Calibri" pitchFamily="34" charset="-120"/>
              </a:rPr>
              <a:t>INTUITION</a:t>
            </a:r>
            <a:endParaRPr lang="en-US" sz="1100" dirty="0"/>
          </a:p>
        </p:txBody>
      </p:sp>
      <p:sp>
        <p:nvSpPr>
          <p:cNvPr id="14" name="Text 12"/>
          <p:cNvSpPr/>
          <p:nvPr/>
        </p:nvSpPr>
        <p:spPr>
          <a:xfrm>
            <a:off x="7498080" y="2103120"/>
            <a:ext cx="3931920" cy="2103120"/>
          </a:xfrm>
          <a:prstGeom prst="rect">
            <a:avLst/>
          </a:prstGeom>
          <a:noFill/>
          <a:ln/>
        </p:spPr>
        <p:txBody>
          <a:bodyPr wrap="square" lIns="0" tIns="0" rIns="0" bIns="0" rtlCol="0" anchor="t"/>
          <a:lstStyle/>
          <a:p>
            <a:pPr marL="0" indent="0" algn="l">
              <a:lnSpc>
                <a:spcPct val="114000"/>
              </a:lnSpc>
              <a:buNone/>
            </a:pPr>
            <a:r>
              <a:rPr lang="en-US" sz="1300" dirty="0">
                <a:solidFill>
                  <a:srgbClr val="D9E2F5"/>
                </a:solidFill>
                <a:latin typeface="Calibri" pitchFamily="34" charset="0"/>
                <a:ea typeface="Calibri" pitchFamily="34" charset="-122"/>
                <a:cs typeface="Calibri" pitchFamily="34" charset="-120"/>
              </a:rPr>
              <a:t>Most years, last year is the best guide, so history dominates. But when several independent models — each looking at this season's actual weather and satellite data — all say “this year is different”, continuing to lean on last year is the wrong bet. The gate is that judgment, written as arithmetic.</a:t>
            </a:r>
            <a:endParaRPr lang="en-US" sz="1300" dirty="0"/>
          </a:p>
        </p:txBody>
      </p:sp>
      <p:sp>
        <p:nvSpPr>
          <p:cNvPr id="15" name="Text 13"/>
          <p:cNvSpPr/>
          <p:nvPr/>
        </p:nvSpPr>
        <p:spPr>
          <a:xfrm>
            <a:off x="7498080" y="4389120"/>
            <a:ext cx="3931920" cy="731520"/>
          </a:xfrm>
          <a:prstGeom prst="rect">
            <a:avLst/>
          </a:prstGeom>
          <a:noFill/>
          <a:ln/>
        </p:spPr>
        <p:txBody>
          <a:bodyPr wrap="square" lIns="0" tIns="0" rIns="0" bIns="0" rtlCol="0" anchor="ctr"/>
          <a:lstStyle/>
          <a:p>
            <a:pPr marL="0" indent="0">
              <a:buNone/>
            </a:pPr>
            <a:r>
              <a:rPr lang="en-US" sz="4400" b="1" dirty="0">
                <a:solidFill>
                  <a:srgbClr val="E8B95A"/>
                </a:solidFill>
                <a:latin typeface="Calibri" pitchFamily="34" charset="0"/>
                <a:ea typeface="Calibri" pitchFamily="34" charset="-122"/>
                <a:cs typeface="Calibri" pitchFamily="34" charset="-120"/>
              </a:rPr>
              <a:t>20.6%</a:t>
            </a:r>
            <a:endParaRPr lang="en-US" sz="4400" dirty="0"/>
          </a:p>
        </p:txBody>
      </p:sp>
      <p:sp>
        <p:nvSpPr>
          <p:cNvPr id="16" name="Text 14"/>
          <p:cNvSpPr/>
          <p:nvPr/>
        </p:nvSpPr>
        <p:spPr>
          <a:xfrm>
            <a:off x="7498080" y="5166360"/>
            <a:ext cx="3931920" cy="1188720"/>
          </a:xfrm>
          <a:prstGeom prst="rect">
            <a:avLst/>
          </a:prstGeom>
          <a:noFill/>
          <a:ln/>
        </p:spPr>
        <p:txBody>
          <a:bodyPr wrap="square" lIns="0" tIns="0" rIns="0" bIns="0" rtlCol="0" anchor="ctr"/>
          <a:lstStyle/>
          <a:p>
            <a:pPr marL="0" indent="0">
              <a:lnSpc>
                <a:spcPct val="112000"/>
              </a:lnSpc>
              <a:buNone/>
            </a:pPr>
            <a:r>
              <a:rPr lang="en-US" sz="1200" dirty="0">
                <a:solidFill>
                  <a:srgbClr val="D9E2F5"/>
                </a:solidFill>
                <a:latin typeface="Calibri" pitchFamily="34" charset="0"/>
                <a:ea typeface="Calibri" pitchFamily="34" charset="-122"/>
                <a:cs typeface="Calibri" pitchFamily="34" charset="-120"/>
              </a:rPr>
              <a:t>of district-seasons fire the gate — rare enough that history usually rules, common enough to matter in the years that matter.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1 · MOVEMENT CALIBRATION</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Averaging makes the blend timid — so its movement is amplified</a:t>
            </a:r>
            <a:endParaRPr lang="en-US" sz="2700" dirty="0"/>
          </a:p>
        </p:txBody>
      </p:sp>
      <p:sp>
        <p:nvSpPr>
          <p:cNvPr id="4" name="Text 2"/>
          <p:cNvSpPr/>
          <p:nvPr/>
        </p:nvSpPr>
        <p:spPr>
          <a:xfrm>
            <a:off x="502920" y="1463040"/>
            <a:ext cx="6309360" cy="914400"/>
          </a:xfrm>
          <a:prstGeom prst="rect">
            <a:avLst/>
          </a:prstGeom>
          <a:noFill/>
          <a:ln/>
        </p:spPr>
        <p:txBody>
          <a:bodyPr wrap="square" lIns="0" tIns="0" rIns="0" bIns="0" rtlCol="0" anchor="t"/>
          <a:lstStyle/>
          <a:p>
            <a:pPr marL="0" indent="0" algn="l">
              <a:lnSpc>
                <a:spcPct val="114000"/>
              </a:lnSpc>
              <a:buNone/>
            </a:pPr>
            <a:r>
              <a:rPr lang="en-US" sz="1350" dirty="0">
                <a:solidFill>
                  <a:srgbClr val="20242B"/>
                </a:solidFill>
                <a:latin typeface="Calibri" pitchFamily="34" charset="0"/>
                <a:ea typeface="Calibri" pitchFamily="34" charset="-122"/>
                <a:cs typeface="Calibri" pitchFamily="34" charset="-120"/>
              </a:rPr>
              <a:t>Averaging five estimates pulls every forecast toward the middle, so the blend systematically moves less than reality does. The fix: amplify its movement away from last season by a single fitted factor.</a:t>
            </a:r>
            <a:endParaRPr lang="en-US" sz="1350" dirty="0"/>
          </a:p>
        </p:txBody>
      </p:sp>
      <p:sp>
        <p:nvSpPr>
          <p:cNvPr id="5" name="Shape 3"/>
          <p:cNvSpPr/>
          <p:nvPr/>
        </p:nvSpPr>
        <p:spPr>
          <a:xfrm>
            <a:off x="502920" y="2468880"/>
            <a:ext cx="6309360" cy="640080"/>
          </a:xfrm>
          <a:prstGeom prst="roundRect">
            <a:avLst>
              <a:gd name="adj" fmla="val 10000"/>
            </a:avLst>
          </a:prstGeom>
          <a:solidFill>
            <a:srgbClr val="EAF1FB"/>
          </a:solidFill>
          <a:ln/>
        </p:spPr>
        <p:txBody>
          <a:bodyPr/>
          <a:lstStyle/>
          <a:p>
            <a:endParaRPr lang="en-US"/>
          </a:p>
        </p:txBody>
      </p:sp>
      <p:sp>
        <p:nvSpPr>
          <p:cNvPr id="6" name="Text 4"/>
          <p:cNvSpPr/>
          <p:nvPr/>
        </p:nvSpPr>
        <p:spPr>
          <a:xfrm>
            <a:off x="640080" y="2468880"/>
            <a:ext cx="6035040" cy="640080"/>
          </a:xfrm>
          <a:prstGeom prst="rect">
            <a:avLst/>
          </a:prstGeom>
          <a:noFill/>
          <a:ln/>
        </p:spPr>
        <p:txBody>
          <a:bodyPr wrap="square" lIns="0" tIns="0" rIns="0" bIns="0" rtlCol="0" anchor="ctr"/>
          <a:lstStyle/>
          <a:p>
            <a:pPr marL="0" indent="0" algn="ctr">
              <a:lnSpc>
                <a:spcPct val="112000"/>
              </a:lnSpc>
              <a:buNone/>
            </a:pPr>
            <a:r>
              <a:rPr lang="en-US" sz="2000" b="1" dirty="0">
                <a:solidFill>
                  <a:srgbClr val="20242B"/>
                </a:solidFill>
                <a:latin typeface="Cambria" pitchFamily="34" charset="0"/>
                <a:ea typeface="Cambria" pitchFamily="34" charset="-122"/>
                <a:cs typeface="Cambria" pitchFamily="34" charset="-120"/>
              </a:rPr>
              <a:t>Blend  =  L + 1.50 × (Blend_raw − L)</a:t>
            </a:r>
            <a:endParaRPr lang="en-US" sz="2000" dirty="0"/>
          </a:p>
        </p:txBody>
      </p:sp>
      <p:sp>
        <p:nvSpPr>
          <p:cNvPr id="7" name="Text 5"/>
          <p:cNvSpPr/>
          <p:nvPr/>
        </p:nvSpPr>
        <p:spPr>
          <a:xfrm>
            <a:off x="502920" y="3291840"/>
            <a:ext cx="6309360" cy="1554480"/>
          </a:xfrm>
          <a:prstGeom prst="rect">
            <a:avLst/>
          </a:prstGeom>
          <a:noFill/>
          <a:ln/>
        </p:spPr>
        <p:txBody>
          <a:bodyPr wrap="square" lIns="0" tIns="0" rIns="0" bIns="0" rtlCol="0" anchor="t"/>
          <a:lstStyle/>
          <a:p>
            <a:pPr marL="0" indent="0" algn="l">
              <a:lnSpc>
                <a:spcPct val="114000"/>
              </a:lnSpc>
              <a:buNone/>
            </a:pPr>
            <a:r>
              <a:rPr lang="en-US" sz="1250" b="1" dirty="0">
                <a:solidFill>
                  <a:srgbClr val="20242B"/>
                </a:solidFill>
                <a:latin typeface="Calibri" pitchFamily="34" charset="0"/>
                <a:ea typeface="Calibri" pitchFamily="34" charset="-122"/>
                <a:cs typeface="Calibri" pitchFamily="34" charset="-120"/>
              </a:rPr>
              <a:t>Where 1.50 comes from.  </a:t>
            </a:r>
            <a:r>
              <a:rPr lang="en-US" sz="1250" dirty="0">
                <a:solidFill>
                  <a:srgbClr val="20242B"/>
                </a:solidFill>
                <a:latin typeface="Calibri" pitchFamily="34" charset="0"/>
                <a:ea typeface="Calibri" pitchFamily="34" charset="-122"/>
                <a:cs typeface="Calibri" pitchFamily="34" charset="-120"/>
              </a:rPr>
              <a:t>Take historical cases. Let x be how far the raw blend moved from last year, and z how far the truth actually moved. Find the single rescaling factor that maps one onto the other by least squares:
</a:t>
            </a:r>
            <a:r>
              <a:rPr lang="en-US" sz="1400" b="1" dirty="0">
                <a:solidFill>
                  <a:srgbClr val="1F2B4D"/>
                </a:solidFill>
                <a:latin typeface="Cambria" pitchFamily="34" charset="0"/>
                <a:ea typeface="Cambria" pitchFamily="34" charset="-122"/>
                <a:cs typeface="Cambria" pitchFamily="34" charset="-120"/>
              </a:rPr>
              <a:t>ŝ = Σ xᵢzᵢ / Σ xᵢ²   (ordinary regression through the origin)
</a:t>
            </a:r>
            <a:r>
              <a:rPr lang="en-US" sz="1250" dirty="0">
                <a:solidFill>
                  <a:srgbClr val="20242B"/>
                </a:solidFill>
                <a:latin typeface="Calibri" pitchFamily="34" charset="0"/>
                <a:ea typeface="Calibri" pitchFamily="34" charset="-122"/>
                <a:cs typeface="Calibri" pitchFamily="34" charset="-120"/>
              </a:rPr>
              <a:t>It came out near 1.5: the truth typically moves about 50% further than the blend dares to.</a:t>
            </a:r>
            <a:endParaRPr lang="en-US" sz="1250" dirty="0"/>
          </a:p>
        </p:txBody>
      </p:sp>
      <p:sp>
        <p:nvSpPr>
          <p:cNvPr id="8" name="Shape 6"/>
          <p:cNvSpPr/>
          <p:nvPr/>
        </p:nvSpPr>
        <p:spPr>
          <a:xfrm>
            <a:off x="502920" y="5029200"/>
            <a:ext cx="6309360" cy="1508760"/>
          </a:xfrm>
          <a:prstGeom prst="roundRect">
            <a:avLst>
              <a:gd name="adj" fmla="val 4242"/>
            </a:avLst>
          </a:prstGeom>
          <a:solidFill>
            <a:srgbClr val="FBF3E2"/>
          </a:solidFill>
          <a:ln/>
        </p:spPr>
        <p:txBody>
          <a:bodyPr/>
          <a:lstStyle/>
          <a:p>
            <a:endParaRPr lang="en-US"/>
          </a:p>
        </p:txBody>
      </p:sp>
      <p:sp>
        <p:nvSpPr>
          <p:cNvPr id="9" name="Text 7"/>
          <p:cNvSpPr/>
          <p:nvPr/>
        </p:nvSpPr>
        <p:spPr>
          <a:xfrm>
            <a:off x="731520" y="5138928"/>
            <a:ext cx="5852160" cy="1298448"/>
          </a:xfrm>
          <a:prstGeom prst="rect">
            <a:avLst/>
          </a:prstGeom>
          <a:noFill/>
          <a:ln/>
        </p:spPr>
        <p:txBody>
          <a:bodyPr wrap="square" lIns="0" tIns="0" rIns="0" bIns="0" rtlCol="0" anchor="ctr"/>
          <a:lstStyle/>
          <a:p>
            <a:pPr marL="0" indent="0">
              <a:lnSpc>
                <a:spcPct val="115000"/>
              </a:lnSpc>
              <a:buNone/>
            </a:pPr>
            <a:r>
              <a:rPr lang="en-US" sz="1200" b="1" dirty="0">
                <a:solidFill>
                  <a:srgbClr val="C98500"/>
                </a:solidFill>
                <a:latin typeface="Calibri" pitchFamily="34" charset="0"/>
                <a:ea typeface="Calibri" pitchFamily="34" charset="-122"/>
                <a:cs typeface="Calibri" pitchFamily="34" charset="-120"/>
              </a:rPr>
              <a:t>Real numbers — Rewari 2022:  </a:t>
            </a:r>
            <a:r>
              <a:rPr lang="en-US" sz="1200" dirty="0">
                <a:solidFill>
                  <a:srgbClr val="20242B"/>
                </a:solidFill>
                <a:latin typeface="Calibri" pitchFamily="34" charset="0"/>
                <a:ea typeface="Calibri" pitchFamily="34" charset="-122"/>
                <a:cs typeface="Calibri" pitchFamily="34" charset="-120"/>
              </a:rPr>
              <a:t>last season L = 4,580; the published blend is 4,274.7. Working backwards: the raw blend had moved (4,274.7 − 4,580)/1.5 = −203.5, i.e. sat at 4,376.5. The calibration pushed a timid “down a bit” to a committed “down 305” — and the truth fell 430.</a:t>
            </a:r>
            <a:endParaRPr lang="en-US" sz="1200" dirty="0"/>
          </a:p>
        </p:txBody>
      </p:sp>
      <p:sp>
        <p:nvSpPr>
          <p:cNvPr id="10" name="Shape 8"/>
          <p:cNvSpPr/>
          <p:nvPr/>
        </p:nvSpPr>
        <p:spPr>
          <a:xfrm>
            <a:off x="7223760" y="1463040"/>
            <a:ext cx="4480560" cy="5074920"/>
          </a:xfrm>
          <a:prstGeom prst="roundRect">
            <a:avLst>
              <a:gd name="adj" fmla="val 1633"/>
            </a:avLst>
          </a:prstGeom>
          <a:solidFill>
            <a:srgbClr val="F4F5F7"/>
          </a:solidFill>
          <a:ln/>
        </p:spPr>
        <p:txBody>
          <a:bodyPr/>
          <a:lstStyle/>
          <a:p>
            <a:endParaRPr lang="en-US"/>
          </a:p>
        </p:txBody>
      </p:sp>
      <p:sp>
        <p:nvSpPr>
          <p:cNvPr id="11" name="Text 9"/>
          <p:cNvSpPr/>
          <p:nvPr/>
        </p:nvSpPr>
        <p:spPr>
          <a:xfrm>
            <a:off x="7498080" y="1719072"/>
            <a:ext cx="3931920" cy="274320"/>
          </a:xfrm>
          <a:prstGeom prst="rect">
            <a:avLst/>
          </a:prstGeom>
          <a:noFill/>
          <a:ln/>
        </p:spPr>
        <p:txBody>
          <a:bodyPr wrap="square" lIns="0" tIns="0" rIns="0" bIns="0" rtlCol="0" anchor="ctr"/>
          <a:lstStyle/>
          <a:p>
            <a:pPr marL="0" indent="0">
              <a:buNone/>
            </a:pPr>
            <a:r>
              <a:rPr lang="en-US" sz="1100" b="1" kern="0" spc="100" dirty="0">
                <a:solidFill>
                  <a:srgbClr val="5A6170"/>
                </a:solidFill>
                <a:latin typeface="Calibri" pitchFamily="34" charset="0"/>
                <a:ea typeface="Calibri" pitchFamily="34" charset="-122"/>
                <a:cs typeface="Calibri" pitchFamily="34" charset="-120"/>
              </a:rPr>
              <a:t>A NOTE ON FALSE PRECISION</a:t>
            </a:r>
            <a:endParaRPr lang="en-US" sz="1100" dirty="0"/>
          </a:p>
        </p:txBody>
      </p:sp>
      <p:sp>
        <p:nvSpPr>
          <p:cNvPr id="12" name="Text 10"/>
          <p:cNvSpPr/>
          <p:nvPr/>
        </p:nvSpPr>
        <p:spPr>
          <a:xfrm>
            <a:off x="7498080" y="2103120"/>
            <a:ext cx="3977640" cy="2011680"/>
          </a:xfrm>
          <a:prstGeom prst="rect">
            <a:avLst/>
          </a:prstGeom>
          <a:noFill/>
          <a:ln/>
        </p:spPr>
        <p:txBody>
          <a:bodyPr wrap="square" lIns="0" tIns="0" rIns="0" bIns="0" rtlCol="0" anchor="t"/>
          <a:lstStyle/>
          <a:p>
            <a:pPr marL="0" indent="0" algn="l">
              <a:lnSpc>
                <a:spcPct val="114000"/>
              </a:lnSpc>
              <a:buNone/>
            </a:pPr>
            <a:r>
              <a:rPr lang="en-US" sz="1300" dirty="0">
                <a:solidFill>
                  <a:srgbClr val="20242B"/>
                </a:solidFill>
                <a:latin typeface="Calibri" pitchFamily="34" charset="0"/>
                <a:ea typeface="Calibri" pitchFamily="34" charset="-122"/>
                <a:cs typeface="Calibri" pitchFamily="34" charset="-120"/>
              </a:rPr>
              <a:t>The original code carried  1.5001443110.  Ten significant figures, fitted from two seasons, is storytelling — the difference from 1.50 is 0.0013 kg/ha, roughly one grain per square metre. It was rounded.</a:t>
            </a:r>
            <a:endParaRPr lang="en-US" sz="1300" dirty="0"/>
          </a:p>
        </p:txBody>
      </p:sp>
      <p:sp>
        <p:nvSpPr>
          <p:cNvPr id="13" name="Shape 11"/>
          <p:cNvSpPr/>
          <p:nvPr/>
        </p:nvSpPr>
        <p:spPr>
          <a:xfrm>
            <a:off x="7498080" y="3977640"/>
            <a:ext cx="3931920" cy="2286000"/>
          </a:xfrm>
          <a:prstGeom prst="roundRect">
            <a:avLst>
              <a:gd name="adj" fmla="val 2800"/>
            </a:avLst>
          </a:prstGeom>
          <a:solidFill>
            <a:srgbClr val="FFFFFF"/>
          </a:solidFill>
          <a:ln w="12700">
            <a:solidFill>
              <a:srgbClr val="E3E5EA"/>
            </a:solidFill>
            <a:prstDash val="solid"/>
          </a:ln>
        </p:spPr>
        <p:txBody>
          <a:bodyPr/>
          <a:lstStyle/>
          <a:p>
            <a:endParaRPr lang="en-US"/>
          </a:p>
        </p:txBody>
      </p:sp>
      <p:sp>
        <p:nvSpPr>
          <p:cNvPr id="14" name="Text 12"/>
          <p:cNvSpPr/>
          <p:nvPr/>
        </p:nvSpPr>
        <p:spPr>
          <a:xfrm>
            <a:off x="7726680" y="4160520"/>
            <a:ext cx="3474720" cy="274320"/>
          </a:xfrm>
          <a:prstGeom prst="rect">
            <a:avLst/>
          </a:prstGeom>
          <a:noFill/>
          <a:ln/>
        </p:spPr>
        <p:txBody>
          <a:bodyPr wrap="square" lIns="0" tIns="0" rIns="0" bIns="0" rtlCol="0" anchor="ctr"/>
          <a:lstStyle/>
          <a:p>
            <a:pPr marL="0" indent="0">
              <a:buNone/>
            </a:pPr>
            <a:r>
              <a:rPr lang="en-US" sz="1050" b="1" kern="0" spc="100" dirty="0">
                <a:solidFill>
                  <a:srgbClr val="C98500"/>
                </a:solidFill>
                <a:latin typeface="Calibri" pitchFamily="34" charset="0"/>
                <a:ea typeface="Calibri" pitchFamily="34" charset="-122"/>
                <a:cs typeface="Calibri" pitchFamily="34" charset="-120"/>
              </a:rPr>
              <a:t>STAGE 1 SCORECARD</a:t>
            </a:r>
            <a:endParaRPr lang="en-US" sz="1050" dirty="0"/>
          </a:p>
        </p:txBody>
      </p:sp>
      <p:sp>
        <p:nvSpPr>
          <p:cNvPr id="15" name="Text 13"/>
          <p:cNvSpPr/>
          <p:nvPr/>
        </p:nvSpPr>
        <p:spPr>
          <a:xfrm>
            <a:off x="7726680" y="4480560"/>
            <a:ext cx="3520440" cy="1691640"/>
          </a:xfrm>
          <a:prstGeom prst="rect">
            <a:avLst/>
          </a:prstGeom>
          <a:noFill/>
          <a:ln/>
        </p:spPr>
        <p:txBody>
          <a:bodyPr wrap="square" lIns="0" tIns="0" rIns="0" bIns="0" rtlCol="0" anchor="ctr"/>
          <a:lstStyle/>
          <a:p>
            <a:pPr marL="0" indent="0">
              <a:lnSpc>
                <a:spcPct val="112000"/>
              </a:lnSpc>
              <a:buNone/>
            </a:pPr>
            <a:r>
              <a:rPr lang="en-US" sz="3400" b="1" dirty="0">
                <a:solidFill>
                  <a:srgbClr val="1F2B4D"/>
                </a:solidFill>
                <a:latin typeface="Calibri" pitchFamily="34" charset="0"/>
                <a:ea typeface="Calibri" pitchFamily="34" charset="-122"/>
                <a:cs typeface="Calibri" pitchFamily="34" charset="-120"/>
              </a:rPr>
              <a:t>273.3</a:t>
            </a:r>
            <a:r>
              <a:rPr lang="en-US" sz="1200" dirty="0">
                <a:solidFill>
                  <a:srgbClr val="5A6170"/>
                </a:solidFill>
                <a:latin typeface="Calibri" pitchFamily="34" charset="0"/>
                <a:ea typeface="Calibri" pitchFamily="34" charset="-122"/>
                <a:cs typeface="Calibri" pitchFamily="34" charset="-120"/>
              </a:rPr>
              <a:t>  kg/ha typical error
</a:t>
            </a:r>
            <a:r>
              <a:rPr lang="en-US" sz="1150" dirty="0">
                <a:solidFill>
                  <a:srgbClr val="20242B"/>
                </a:solidFill>
                <a:latin typeface="Calibri" pitchFamily="34" charset="0"/>
                <a:ea typeface="Calibri" pitchFamily="34" charset="-122"/>
                <a:cs typeface="Calibri" pitchFamily="34" charset="-120"/>
              </a:rPr>
              <a:t>Stage 1 does the heavy lifting: about 59 of the 68 kg/ha of total improvement over the naive average happens here.</a:t>
            </a:r>
            <a:endParaRPr lang="en-US" sz="3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2 · WEATHER AHEAD</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What changes when a model is allowed to see the 10-day forecast?</a:t>
            </a:r>
            <a:endParaRPr lang="en-US" sz="2700" dirty="0"/>
          </a:p>
        </p:txBody>
      </p:sp>
      <p:sp>
        <p:nvSpPr>
          <p:cNvPr id="4" name="Text 2"/>
          <p:cNvSpPr/>
          <p:nvPr/>
        </p:nvSpPr>
        <p:spPr>
          <a:xfrm>
            <a:off x="502920" y="1463040"/>
            <a:ext cx="11155680" cy="777240"/>
          </a:xfrm>
          <a:prstGeom prst="rect">
            <a:avLst/>
          </a:prstGeom>
          <a:noFill/>
          <a:ln/>
        </p:spPr>
        <p:txBody>
          <a:bodyPr wrap="square" lIns="0" tIns="0" rIns="0" bIns="0" rtlCol="0" anchor="t"/>
          <a:lstStyle/>
          <a:p>
            <a:pPr marL="0" indent="0" algn="l">
              <a:lnSpc>
                <a:spcPct val="114000"/>
              </a:lnSpc>
              <a:buNone/>
            </a:pPr>
            <a:r>
              <a:rPr lang="en-US" sz="1350" dirty="0">
                <a:solidFill>
                  <a:srgbClr val="20242B"/>
                </a:solidFill>
                <a:latin typeface="Calibri" pitchFamily="34" charset="0"/>
                <a:ea typeface="Calibri" pitchFamily="34" charset="-122"/>
                <a:cs typeface="Calibri" pitchFamily="34" charset="-120"/>
              </a:rPr>
              <a:t>Ten-day weather forecasts exist on 5 March. Rather than dumping them in as extra inputs, the model runs the drug-trial design from earlier: train four models that differ only in whether forecast weather is available, and read off the difference.</a:t>
            </a:r>
            <a:endParaRPr lang="en-US" sz="1350" dirty="0"/>
          </a:p>
        </p:txBody>
      </p:sp>
      <p:sp>
        <p:nvSpPr>
          <p:cNvPr id="5" name="Shape 3"/>
          <p:cNvSpPr/>
          <p:nvPr/>
        </p:nvSpPr>
        <p:spPr>
          <a:xfrm>
            <a:off x="822960" y="2377440"/>
            <a:ext cx="10515600" cy="868680"/>
          </a:xfrm>
          <a:prstGeom prst="roundRect">
            <a:avLst>
              <a:gd name="adj" fmla="val 7368"/>
            </a:avLst>
          </a:prstGeom>
          <a:solidFill>
            <a:srgbClr val="EAF1FB"/>
          </a:solidFill>
          <a:ln/>
        </p:spPr>
        <p:txBody>
          <a:bodyPr/>
          <a:lstStyle/>
          <a:p>
            <a:endParaRPr lang="en-US"/>
          </a:p>
        </p:txBody>
      </p:sp>
      <p:sp>
        <p:nvSpPr>
          <p:cNvPr id="6" name="Text 4"/>
          <p:cNvSpPr/>
          <p:nvPr/>
        </p:nvSpPr>
        <p:spPr>
          <a:xfrm>
            <a:off x="960120" y="2377440"/>
            <a:ext cx="10241280" cy="868680"/>
          </a:xfrm>
          <a:prstGeom prst="rect">
            <a:avLst/>
          </a:prstGeom>
          <a:noFill/>
          <a:ln/>
        </p:spPr>
        <p:txBody>
          <a:bodyPr wrap="square" lIns="0" tIns="0" rIns="0" bIns="0" rtlCol="0" anchor="ctr"/>
          <a:lstStyle/>
          <a:p>
            <a:pPr marL="0" indent="0" algn="ctr">
              <a:lnSpc>
                <a:spcPct val="112000"/>
              </a:lnSpc>
              <a:buNone/>
            </a:pPr>
            <a:r>
              <a:rPr lang="en-US" sz="1700" b="1" dirty="0">
                <a:solidFill>
                  <a:srgbClr val="20242B"/>
                </a:solidFill>
                <a:latin typeface="Cambria" pitchFamily="34" charset="0"/>
                <a:ea typeface="Cambria" pitchFamily="34" charset="-122"/>
                <a:cs typeface="Cambria" pitchFamily="34" charset="-120"/>
              </a:rPr>
              <a:t>c_ahead  =  ( ŷ_full + ŷ_effect + ŷ_broad ) / 3   −   ŷ_no-forecast          then          ŷ  +=  1.75 · c_ahead</a:t>
            </a:r>
            <a:endParaRPr lang="en-US" sz="1700" dirty="0"/>
          </a:p>
        </p:txBody>
      </p:sp>
      <p:sp>
        <p:nvSpPr>
          <p:cNvPr id="7" name="Shape 5"/>
          <p:cNvSpPr/>
          <p:nvPr/>
        </p:nvSpPr>
        <p:spPr>
          <a:xfrm>
            <a:off x="502920" y="3520440"/>
            <a:ext cx="3611880" cy="2148840"/>
          </a:xfrm>
          <a:prstGeom prst="roundRect">
            <a:avLst>
              <a:gd name="adj" fmla="val 2979"/>
            </a:avLst>
          </a:prstGeom>
          <a:solidFill>
            <a:srgbClr val="EAF1FB"/>
          </a:solidFill>
          <a:ln/>
        </p:spPr>
        <p:txBody>
          <a:bodyPr/>
          <a:lstStyle/>
          <a:p>
            <a:endParaRPr lang="en-US"/>
          </a:p>
        </p:txBody>
      </p:sp>
      <p:sp>
        <p:nvSpPr>
          <p:cNvPr id="8" name="Text 6"/>
          <p:cNvSpPr/>
          <p:nvPr/>
        </p:nvSpPr>
        <p:spPr>
          <a:xfrm>
            <a:off x="704088" y="3685032"/>
            <a:ext cx="3200400" cy="502920"/>
          </a:xfrm>
          <a:prstGeom prst="rect">
            <a:avLst/>
          </a:prstGeom>
          <a:noFill/>
          <a:ln/>
        </p:spPr>
        <p:txBody>
          <a:bodyPr wrap="square" lIns="0" tIns="0" rIns="0" bIns="0" rtlCol="0" anchor="ctr"/>
          <a:lstStyle/>
          <a:p>
            <a:pPr marL="0" indent="0">
              <a:buNone/>
            </a:pPr>
            <a:r>
              <a:rPr lang="en-US" sz="1300" b="1" dirty="0">
                <a:solidFill>
                  <a:srgbClr val="1F2B4D"/>
                </a:solidFill>
                <a:latin typeface="Calibri" pitchFamily="34" charset="0"/>
                <a:ea typeface="Calibri" pitchFamily="34" charset="-122"/>
                <a:cs typeface="Calibri" pitchFamily="34" charset="-120"/>
              </a:rPr>
              <a:t>Why three forecast-aware models?</a:t>
            </a:r>
            <a:endParaRPr lang="en-US" sz="1300" dirty="0"/>
          </a:p>
        </p:txBody>
      </p:sp>
      <p:sp>
        <p:nvSpPr>
          <p:cNvPr id="9" name="Text 7"/>
          <p:cNvSpPr/>
          <p:nvPr/>
        </p:nvSpPr>
        <p:spPr>
          <a:xfrm>
            <a:off x="704088" y="4206240"/>
            <a:ext cx="3246120" cy="1371600"/>
          </a:xfrm>
          <a:prstGeom prst="rect">
            <a:avLst/>
          </a:prstGeom>
          <a:noFill/>
          <a:ln/>
        </p:spPr>
        <p:txBody>
          <a:bodyPr wrap="square" lIns="0" tIns="0" rIns="0" bIns="0" rtlCol="0" anchor="ctr"/>
          <a:lstStyle/>
          <a:p>
            <a:pPr marL="0" indent="0">
              <a:lnSpc>
                <a:spcPct val="110000"/>
              </a:lnSpc>
              <a:buNone/>
            </a:pPr>
            <a:r>
              <a:rPr lang="en-US" sz="1150" dirty="0">
                <a:solidFill>
                  <a:srgbClr val="20242B"/>
                </a:solidFill>
                <a:latin typeface="Calibri" pitchFamily="34" charset="0"/>
                <a:ea typeface="Calibri" pitchFamily="34" charset="-122"/>
                <a:cs typeface="Calibri" pitchFamily="34" charset="-120"/>
              </a:rPr>
              <a:t>There are several reasonable ways to summarise a weather forecast — raw values, departures from normal, derived stress measures. Averaging three avoids betting everything on one choice.</a:t>
            </a:r>
            <a:endParaRPr lang="en-US" sz="1150" dirty="0"/>
          </a:p>
        </p:txBody>
      </p:sp>
      <p:sp>
        <p:nvSpPr>
          <p:cNvPr id="10" name="Shape 8"/>
          <p:cNvSpPr/>
          <p:nvPr/>
        </p:nvSpPr>
        <p:spPr>
          <a:xfrm>
            <a:off x="4325112" y="3520440"/>
            <a:ext cx="3611880" cy="2148840"/>
          </a:xfrm>
          <a:prstGeom prst="roundRect">
            <a:avLst>
              <a:gd name="adj" fmla="val 2979"/>
            </a:avLst>
          </a:prstGeom>
          <a:solidFill>
            <a:srgbClr val="F4F5F7"/>
          </a:solidFill>
          <a:ln/>
        </p:spPr>
        <p:txBody>
          <a:bodyPr/>
          <a:lstStyle/>
          <a:p>
            <a:endParaRPr lang="en-US"/>
          </a:p>
        </p:txBody>
      </p:sp>
      <p:sp>
        <p:nvSpPr>
          <p:cNvPr id="11" name="Text 9"/>
          <p:cNvSpPr/>
          <p:nvPr/>
        </p:nvSpPr>
        <p:spPr>
          <a:xfrm>
            <a:off x="4526280" y="3685032"/>
            <a:ext cx="3200400" cy="502920"/>
          </a:xfrm>
          <a:prstGeom prst="rect">
            <a:avLst/>
          </a:prstGeom>
          <a:noFill/>
          <a:ln/>
        </p:spPr>
        <p:txBody>
          <a:bodyPr wrap="square" lIns="0" tIns="0" rIns="0" bIns="0" rtlCol="0" anchor="ctr"/>
          <a:lstStyle/>
          <a:p>
            <a:pPr marL="0" indent="0">
              <a:buNone/>
            </a:pPr>
            <a:r>
              <a:rPr lang="en-US" sz="1300" b="1" dirty="0">
                <a:solidFill>
                  <a:srgbClr val="20242B"/>
                </a:solidFill>
                <a:latin typeface="Calibri" pitchFamily="34" charset="0"/>
                <a:ea typeface="Calibri" pitchFamily="34" charset="-122"/>
                <a:cs typeface="Calibri" pitchFamily="34" charset="-120"/>
              </a:rPr>
              <a:t>Why × 1.75?</a:t>
            </a:r>
            <a:endParaRPr lang="en-US" sz="1300" dirty="0"/>
          </a:p>
        </p:txBody>
      </p:sp>
      <p:sp>
        <p:nvSpPr>
          <p:cNvPr id="12" name="Text 10"/>
          <p:cNvSpPr/>
          <p:nvPr/>
        </p:nvSpPr>
        <p:spPr>
          <a:xfrm>
            <a:off x="4526280" y="4206240"/>
            <a:ext cx="3246120" cy="1371600"/>
          </a:xfrm>
          <a:prstGeom prst="rect">
            <a:avLst/>
          </a:prstGeom>
          <a:noFill/>
          <a:ln/>
        </p:spPr>
        <p:txBody>
          <a:bodyPr wrap="square" lIns="0" tIns="0" rIns="0" bIns="0" rtlCol="0" anchor="ctr"/>
          <a:lstStyle/>
          <a:p>
            <a:pPr marL="0" indent="0">
              <a:lnSpc>
                <a:spcPct val="110000"/>
              </a:lnSpc>
              <a:buNone/>
            </a:pPr>
            <a:r>
              <a:rPr lang="en-US" sz="1150" dirty="0">
                <a:solidFill>
                  <a:srgbClr val="20242B"/>
                </a:solidFill>
                <a:latin typeface="Calibri" pitchFamily="34" charset="0"/>
                <a:ea typeface="Calibri" pitchFamily="34" charset="-122"/>
                <a:cs typeface="Calibri" pitchFamily="34" charset="-120"/>
              </a:rPr>
              <a:t>Same logic as movement calibration: a difference of averaged models understates the real effect, so it is scaled up. The multiplier was chosen on early seasons, then frozen before later ones were looked at.</a:t>
            </a:r>
            <a:endParaRPr lang="en-US" sz="1150" dirty="0"/>
          </a:p>
        </p:txBody>
      </p:sp>
      <p:sp>
        <p:nvSpPr>
          <p:cNvPr id="13" name="Shape 11"/>
          <p:cNvSpPr/>
          <p:nvPr/>
        </p:nvSpPr>
        <p:spPr>
          <a:xfrm>
            <a:off x="8147304" y="3520440"/>
            <a:ext cx="3611880" cy="2148840"/>
          </a:xfrm>
          <a:prstGeom prst="roundRect">
            <a:avLst>
              <a:gd name="adj" fmla="val 2979"/>
            </a:avLst>
          </a:prstGeom>
          <a:solidFill>
            <a:srgbClr val="FBF3E2"/>
          </a:solidFill>
          <a:ln/>
        </p:spPr>
        <p:txBody>
          <a:bodyPr/>
          <a:lstStyle/>
          <a:p>
            <a:endParaRPr lang="en-US"/>
          </a:p>
        </p:txBody>
      </p:sp>
      <p:sp>
        <p:nvSpPr>
          <p:cNvPr id="14" name="Text 12"/>
          <p:cNvSpPr/>
          <p:nvPr/>
        </p:nvSpPr>
        <p:spPr>
          <a:xfrm>
            <a:off x="8348472" y="3685032"/>
            <a:ext cx="3200400" cy="502920"/>
          </a:xfrm>
          <a:prstGeom prst="rect">
            <a:avLst/>
          </a:prstGeom>
          <a:noFill/>
          <a:ln/>
        </p:spPr>
        <p:txBody>
          <a:bodyPr wrap="square" lIns="0" tIns="0" rIns="0" bIns="0" rtlCol="0" anchor="ctr"/>
          <a:lstStyle/>
          <a:p>
            <a:pPr marL="0" indent="0">
              <a:buNone/>
            </a:pPr>
            <a:r>
              <a:rPr lang="en-US" sz="1300" b="1" dirty="0">
                <a:solidFill>
                  <a:srgbClr val="C98500"/>
                </a:solidFill>
                <a:latin typeface="Calibri" pitchFamily="34" charset="0"/>
                <a:ea typeface="Calibri" pitchFamily="34" charset="-122"/>
                <a:cs typeface="Calibri" pitchFamily="34" charset="-120"/>
              </a:rPr>
              <a:t>Rewari 2022, real numbers</a:t>
            </a:r>
            <a:endParaRPr lang="en-US" sz="1300" dirty="0"/>
          </a:p>
        </p:txBody>
      </p:sp>
      <p:sp>
        <p:nvSpPr>
          <p:cNvPr id="15" name="Text 13"/>
          <p:cNvSpPr/>
          <p:nvPr/>
        </p:nvSpPr>
        <p:spPr>
          <a:xfrm>
            <a:off x="8348472" y="4206240"/>
            <a:ext cx="3246120" cy="1371600"/>
          </a:xfrm>
          <a:prstGeom prst="rect">
            <a:avLst/>
          </a:prstGeom>
          <a:noFill/>
          <a:ln/>
        </p:spPr>
        <p:txBody>
          <a:bodyPr wrap="square" lIns="0" tIns="0" rIns="0" bIns="0" rtlCol="0" anchor="ctr"/>
          <a:lstStyle/>
          <a:p>
            <a:pPr marL="0" indent="0">
              <a:lnSpc>
                <a:spcPct val="110000"/>
              </a:lnSpc>
              <a:buNone/>
            </a:pPr>
            <a:r>
              <a:rPr lang="en-US" sz="1150" dirty="0">
                <a:solidFill>
                  <a:srgbClr val="20242B"/>
                </a:solidFill>
                <a:latin typeface="Calibri" pitchFamily="34" charset="0"/>
                <a:ea typeface="Calibri" pitchFamily="34" charset="-122"/>
                <a:cs typeface="Calibri" pitchFamily="34" charset="-120"/>
              </a:rPr>
              <a:t>The February–March forecast looked mildly favourable: c_ahead = +12.7, so the forecast moves up 1.75 × 12.7 = +22.3, from 4,274.7 to 4,297.0.</a:t>
            </a:r>
            <a:endParaRPr lang="en-US" sz="1150" dirty="0"/>
          </a:p>
        </p:txBody>
      </p:sp>
      <p:sp>
        <p:nvSpPr>
          <p:cNvPr id="16" name="Shape 14"/>
          <p:cNvSpPr/>
          <p:nvPr/>
        </p:nvSpPr>
        <p:spPr>
          <a:xfrm>
            <a:off x="502920" y="5897880"/>
            <a:ext cx="11201400" cy="658368"/>
          </a:xfrm>
          <a:prstGeom prst="roundRect">
            <a:avLst>
              <a:gd name="adj" fmla="val 8333"/>
            </a:avLst>
          </a:prstGeom>
          <a:solidFill>
            <a:srgbClr val="FFFFFF"/>
          </a:solidFill>
          <a:ln w="12700">
            <a:solidFill>
              <a:srgbClr val="E3E5EA"/>
            </a:solidFill>
            <a:prstDash val="solid"/>
          </a:ln>
        </p:spPr>
        <p:txBody>
          <a:bodyPr/>
          <a:lstStyle/>
          <a:p>
            <a:endParaRPr lang="en-US"/>
          </a:p>
        </p:txBody>
      </p:sp>
      <p:sp>
        <p:nvSpPr>
          <p:cNvPr id="17" name="Text 15"/>
          <p:cNvSpPr/>
          <p:nvPr/>
        </p:nvSpPr>
        <p:spPr>
          <a:xfrm>
            <a:off x="777240" y="5943600"/>
            <a:ext cx="10698480" cy="566928"/>
          </a:xfrm>
          <a:prstGeom prst="rect">
            <a:avLst/>
          </a:prstGeom>
          <a:noFill/>
          <a:ln/>
        </p:spPr>
        <p:txBody>
          <a:bodyPr wrap="square" lIns="0" tIns="0" rIns="0" bIns="0" rtlCol="0" anchor="ctr"/>
          <a:lstStyle/>
          <a:p>
            <a:pPr marL="0" indent="0">
              <a:buNone/>
            </a:pPr>
            <a:r>
              <a:rPr lang="en-US" sz="1400" b="1" dirty="0">
                <a:solidFill>
                  <a:srgbClr val="1F2B4D"/>
                </a:solidFill>
                <a:latin typeface="Calibri" pitchFamily="34" charset="0"/>
                <a:ea typeface="Calibri" pitchFamily="34" charset="-122"/>
                <a:cs typeface="Calibri" pitchFamily="34" charset="-120"/>
              </a:rPr>
              <a:t>Result: 271.7 kg/ha </a:t>
            </a:r>
            <a:r>
              <a:rPr lang="en-US" sz="1250" dirty="0">
                <a:solidFill>
                  <a:srgbClr val="5A6170"/>
                </a:solidFill>
                <a:latin typeface="Calibri" pitchFamily="34" charset="0"/>
                <a:ea typeface="Calibri" pitchFamily="34" charset="-122"/>
                <a:cs typeface="Calibri" pitchFamily="34" charset="-120"/>
              </a:rPr>
              <a:t> — an improvement of 1.6. Small, but bought with a clean experiment: it is exactly the value of the forecast, nothing else.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3 · THE TRAINING-DATA CORRECTION</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Not a modelling idea — a bookkeeping fix, honestly downweighted</a:t>
            </a:r>
            <a:endParaRPr lang="en-US" sz="2700" dirty="0"/>
          </a:p>
        </p:txBody>
      </p:sp>
      <p:sp>
        <p:nvSpPr>
          <p:cNvPr id="4" name="Text 2"/>
          <p:cNvSpPr/>
          <p:nvPr/>
        </p:nvSpPr>
        <p:spPr>
          <a:xfrm>
            <a:off x="502920" y="1463040"/>
            <a:ext cx="6583680" cy="1371600"/>
          </a:xfrm>
          <a:prstGeom prst="rect">
            <a:avLst/>
          </a:prstGeom>
          <a:noFill/>
          <a:ln/>
        </p:spPr>
        <p:txBody>
          <a:bodyPr wrap="square" lIns="0" tIns="0" rIns="0" bIns="0" rtlCol="0" anchor="t"/>
          <a:lstStyle/>
          <a:p>
            <a:pPr marL="0" indent="0" algn="l">
              <a:lnSpc>
                <a:spcPct val="114000"/>
              </a:lnSpc>
              <a:buNone/>
            </a:pPr>
            <a:r>
              <a:rPr lang="en-US" sz="1300" dirty="0">
                <a:solidFill>
                  <a:srgbClr val="20242B"/>
                </a:solidFill>
                <a:latin typeface="Calibri" pitchFamily="34" charset="0"/>
                <a:ea typeface="Calibri" pitchFamily="34" charset="-122"/>
                <a:cs typeface="Calibri" pitchFamily="34" charset="-120"/>
              </a:rPr>
              <a:t>The satellite-aware models were trained on 2017 onwards — because Sentinel starts in 2017. But 78 of the measures doing most of the work (weather, soil, economics) reach back to 2013. </a:t>
            </a:r>
            <a:r>
              <a:rPr lang="en-US" sz="1300" b="1" dirty="0">
                <a:solidFill>
                  <a:srgbClr val="20242B"/>
                </a:solidFill>
                <a:latin typeface="Calibri" pitchFamily="34" charset="0"/>
                <a:ea typeface="Calibri" pitchFamily="34" charset="-122"/>
                <a:cs typeface="Calibri" pitchFamily="34" charset="-120"/>
              </a:rPr>
              <a:t>Four seasons of usable training data were being thrown away</a:t>
            </a:r>
            <a:r>
              <a:rPr lang="en-US" sz="1300" dirty="0">
                <a:solidFill>
                  <a:srgbClr val="20242B"/>
                </a:solidFill>
                <a:latin typeface="Calibri" pitchFamily="34" charset="0"/>
                <a:ea typeface="Calibri" pitchFamily="34" charset="-122"/>
                <a:cs typeface="Calibri" pitchFamily="34" charset="-120"/>
              </a:rPr>
              <a:t> because one late-arriving source sat in the same table. Fixing it grows training examples from 238 to 952.</a:t>
            </a:r>
            <a:endParaRPr lang="en-US" sz="1300" dirty="0"/>
          </a:p>
        </p:txBody>
      </p:sp>
      <p:sp>
        <p:nvSpPr>
          <p:cNvPr id="5" name="Shape 3"/>
          <p:cNvSpPr/>
          <p:nvPr/>
        </p:nvSpPr>
        <p:spPr>
          <a:xfrm>
            <a:off x="502920" y="2926080"/>
            <a:ext cx="6583680" cy="822960"/>
          </a:xfrm>
          <a:prstGeom prst="roundRect">
            <a:avLst>
              <a:gd name="adj" fmla="val 7778"/>
            </a:avLst>
          </a:prstGeom>
          <a:solidFill>
            <a:srgbClr val="EAF1FB"/>
          </a:solidFill>
          <a:ln/>
        </p:spPr>
        <p:txBody>
          <a:bodyPr/>
          <a:lstStyle/>
          <a:p>
            <a:endParaRPr lang="en-US"/>
          </a:p>
        </p:txBody>
      </p:sp>
      <p:sp>
        <p:nvSpPr>
          <p:cNvPr id="6" name="Text 4"/>
          <p:cNvSpPr/>
          <p:nvPr/>
        </p:nvSpPr>
        <p:spPr>
          <a:xfrm>
            <a:off x="640080" y="2926080"/>
            <a:ext cx="6309360" cy="822960"/>
          </a:xfrm>
          <a:prstGeom prst="rect">
            <a:avLst/>
          </a:prstGeom>
          <a:noFill/>
          <a:ln/>
        </p:spPr>
        <p:txBody>
          <a:bodyPr wrap="square" lIns="0" tIns="0" rIns="0" bIns="0" rtlCol="0" anchor="ctr"/>
          <a:lstStyle/>
          <a:p>
            <a:pPr marL="0" indent="0" algn="ctr">
              <a:lnSpc>
                <a:spcPct val="112000"/>
              </a:lnSpc>
              <a:buNone/>
            </a:pPr>
            <a:r>
              <a:rPr lang="en-US" sz="1600" b="1" dirty="0">
                <a:solidFill>
                  <a:srgbClr val="20242B"/>
                </a:solidFill>
                <a:latin typeface="Cambria" pitchFamily="34" charset="0"/>
                <a:ea typeface="Cambria" pitchFamily="34" charset="-122"/>
                <a:cs typeface="Cambria" pitchFamily="34" charset="-120"/>
              </a:rPr>
              <a:t>c_data = ŷ(trained from 2013) − ŷ(trained from 2017)</a:t>
            </a:r>
            <a:endParaRPr lang="en-US" sz="1600" dirty="0"/>
          </a:p>
          <a:p>
            <a:pPr marL="0" indent="0" algn="ctr">
              <a:lnSpc>
                <a:spcPct val="112000"/>
              </a:lnSpc>
              <a:buNone/>
            </a:pPr>
            <a:r>
              <a:rPr lang="en-US" sz="1600" b="1" dirty="0">
                <a:solidFill>
                  <a:srgbClr val="20242B"/>
                </a:solidFill>
                <a:latin typeface="Cambria" pitchFamily="34" charset="0"/>
                <a:ea typeface="Cambria" pitchFamily="34" charset="-122"/>
                <a:cs typeface="Cambria" pitchFamily="34" charset="-120"/>
              </a:rPr>
              <a:t>ŷ  +=  0.25 · c_data</a:t>
            </a:r>
            <a:endParaRPr lang="en-US" sz="1600" dirty="0"/>
          </a:p>
        </p:txBody>
      </p:sp>
      <p:sp>
        <p:nvSpPr>
          <p:cNvPr id="7" name="Text 5"/>
          <p:cNvSpPr/>
          <p:nvPr/>
        </p:nvSpPr>
        <p:spPr>
          <a:xfrm>
            <a:off x="502920" y="3931920"/>
            <a:ext cx="6583680" cy="1371600"/>
          </a:xfrm>
          <a:prstGeom prst="rect">
            <a:avLst/>
          </a:prstGeom>
          <a:noFill/>
          <a:ln/>
        </p:spPr>
        <p:txBody>
          <a:bodyPr wrap="square" lIns="0" tIns="0" rIns="0" bIns="0" rtlCol="0" anchor="t"/>
          <a:lstStyle/>
          <a:p>
            <a:pPr marL="0" indent="0" algn="l">
              <a:lnSpc>
                <a:spcPct val="114000"/>
              </a:lnSpc>
              <a:buNone/>
            </a:pPr>
            <a:r>
              <a:rPr lang="en-US" sz="1300" b="1" dirty="0">
                <a:solidFill>
                  <a:srgbClr val="20242B"/>
                </a:solidFill>
                <a:latin typeface="Calibri" pitchFamily="34" charset="0"/>
                <a:ea typeface="Calibri" pitchFamily="34" charset="-122"/>
                <a:cs typeface="Calibri" pitchFamily="34" charset="-120"/>
              </a:rPr>
              <a:t>Why only a quarter of it?  </a:t>
            </a:r>
            <a:r>
              <a:rPr lang="en-US" sz="1300" dirty="0">
                <a:solidFill>
                  <a:srgbClr val="20242B"/>
                </a:solidFill>
                <a:latin typeface="Calibri" pitchFamily="34" charset="0"/>
                <a:ea typeface="Calibri" pitchFamily="34" charset="-122"/>
                <a:cs typeface="Calibri" pitchFamily="34" charset="-120"/>
              </a:rPr>
              <a:t>The two models disagree by 87 kg/ha on average — a big, noisy signal. Taking 25% keeps the useful part without importing the noise. This is shrinkage: the correct response to a signal you believe in but cannot measure precisely.</a:t>
            </a:r>
            <a:endParaRPr lang="en-US" sz="1300" dirty="0"/>
          </a:p>
        </p:txBody>
      </p:sp>
      <p:sp>
        <p:nvSpPr>
          <p:cNvPr id="8" name="Shape 6"/>
          <p:cNvSpPr/>
          <p:nvPr/>
        </p:nvSpPr>
        <p:spPr>
          <a:xfrm>
            <a:off x="502920" y="5349240"/>
            <a:ext cx="6583680" cy="1234440"/>
          </a:xfrm>
          <a:prstGeom prst="roundRect">
            <a:avLst>
              <a:gd name="adj" fmla="val 5185"/>
            </a:avLst>
          </a:prstGeom>
          <a:solidFill>
            <a:srgbClr val="FBF3E2"/>
          </a:solidFill>
          <a:ln/>
        </p:spPr>
        <p:txBody>
          <a:bodyPr/>
          <a:lstStyle/>
          <a:p>
            <a:endParaRPr lang="en-US"/>
          </a:p>
        </p:txBody>
      </p:sp>
      <p:sp>
        <p:nvSpPr>
          <p:cNvPr id="9" name="Text 7"/>
          <p:cNvSpPr/>
          <p:nvPr/>
        </p:nvSpPr>
        <p:spPr>
          <a:xfrm>
            <a:off x="731520" y="5458968"/>
            <a:ext cx="6126480" cy="1005840"/>
          </a:xfrm>
          <a:prstGeom prst="rect">
            <a:avLst/>
          </a:prstGeom>
          <a:noFill/>
          <a:ln/>
        </p:spPr>
        <p:txBody>
          <a:bodyPr wrap="square" lIns="0" tIns="0" rIns="0" bIns="0" rtlCol="0" anchor="ctr"/>
          <a:lstStyle/>
          <a:p>
            <a:pPr marL="0" indent="0">
              <a:lnSpc>
                <a:spcPct val="115000"/>
              </a:lnSpc>
              <a:buNone/>
            </a:pPr>
            <a:r>
              <a:rPr lang="en-US" sz="1250" b="1" dirty="0">
                <a:solidFill>
                  <a:srgbClr val="C98500"/>
                </a:solidFill>
                <a:latin typeface="Calibri" pitchFamily="34" charset="0"/>
                <a:ea typeface="Calibri" pitchFamily="34" charset="-122"/>
                <a:cs typeface="Calibri" pitchFamily="34" charset="-120"/>
              </a:rPr>
              <a:t>Rewari 2022:  </a:t>
            </a:r>
            <a:r>
              <a:rPr lang="en-US" sz="1250" dirty="0">
                <a:solidFill>
                  <a:srgbClr val="20242B"/>
                </a:solidFill>
                <a:latin typeface="Calibri" pitchFamily="34" charset="0"/>
                <a:ea typeface="Calibri" pitchFamily="34" charset="-122"/>
                <a:cs typeface="Calibri" pitchFamily="34" charset="-120"/>
              </a:rPr>
              <a:t>the two models disagree by c_data = −39.09 kg/ha. Shrunk: 0.25 × (−39.09) = −9.77. The forecast moves from 4,297.0 to 4,287.2.</a:t>
            </a:r>
            <a:endParaRPr lang="en-US" sz="1250" dirty="0"/>
          </a:p>
        </p:txBody>
      </p:sp>
      <p:sp>
        <p:nvSpPr>
          <p:cNvPr id="10" name="Shape 8"/>
          <p:cNvSpPr/>
          <p:nvPr/>
        </p:nvSpPr>
        <p:spPr>
          <a:xfrm>
            <a:off x="7498080" y="1463040"/>
            <a:ext cx="4206240" cy="5120640"/>
          </a:xfrm>
          <a:prstGeom prst="roundRect">
            <a:avLst>
              <a:gd name="adj" fmla="val 1739"/>
            </a:avLst>
          </a:prstGeom>
          <a:solidFill>
            <a:srgbClr val="FDECEA"/>
          </a:solidFill>
          <a:ln/>
        </p:spPr>
        <p:txBody>
          <a:bodyPr/>
          <a:lstStyle/>
          <a:p>
            <a:endParaRPr lang="en-US"/>
          </a:p>
        </p:txBody>
      </p:sp>
      <p:sp>
        <p:nvSpPr>
          <p:cNvPr id="11" name="Text 9"/>
          <p:cNvSpPr/>
          <p:nvPr/>
        </p:nvSpPr>
        <p:spPr>
          <a:xfrm>
            <a:off x="7726680" y="1691640"/>
            <a:ext cx="3749040" cy="292608"/>
          </a:xfrm>
          <a:prstGeom prst="rect">
            <a:avLst/>
          </a:prstGeom>
          <a:noFill/>
          <a:ln/>
        </p:spPr>
        <p:txBody>
          <a:bodyPr wrap="square" lIns="0" tIns="0" rIns="0" bIns="0" rtlCol="0" anchor="ctr"/>
          <a:lstStyle/>
          <a:p>
            <a:pPr marL="0" indent="0">
              <a:buNone/>
            </a:pPr>
            <a:r>
              <a:rPr lang="en-US" sz="1150" b="1" kern="0" spc="100" dirty="0">
                <a:solidFill>
                  <a:srgbClr val="C63B36"/>
                </a:solidFill>
                <a:latin typeface="Calibri" pitchFamily="34" charset="0"/>
                <a:ea typeface="Calibri" pitchFamily="34" charset="-122"/>
                <a:cs typeface="Calibri" pitchFamily="34" charset="-120"/>
              </a:rPr>
              <a:t>⚠  THE WEAKEST COMPONENT</a:t>
            </a:r>
            <a:endParaRPr lang="en-US" sz="1150" dirty="0"/>
          </a:p>
        </p:txBody>
      </p:sp>
      <p:sp>
        <p:nvSpPr>
          <p:cNvPr id="12" name="Text 10"/>
          <p:cNvSpPr/>
          <p:nvPr/>
        </p:nvSpPr>
        <p:spPr>
          <a:xfrm>
            <a:off x="7726680" y="2103120"/>
            <a:ext cx="3749040" cy="3017520"/>
          </a:xfrm>
          <a:prstGeom prst="rect">
            <a:avLst/>
          </a:prstGeom>
          <a:noFill/>
          <a:ln/>
        </p:spPr>
        <p:txBody>
          <a:bodyPr wrap="square" lIns="0" tIns="0" rIns="0" bIns="0" rtlCol="0" anchor="t"/>
          <a:lstStyle/>
          <a:p>
            <a:pPr marL="0" indent="0" algn="l">
              <a:lnSpc>
                <a:spcPct val="114000"/>
              </a:lnSpc>
              <a:buNone/>
            </a:pPr>
            <a:r>
              <a:rPr lang="en-US" sz="1150" b="1" dirty="0">
                <a:solidFill>
                  <a:srgbClr val="20242B"/>
                </a:solidFill>
                <a:latin typeface="Calibri" pitchFamily="34" charset="0"/>
                <a:ea typeface="Calibri" pitchFamily="34" charset="-122"/>
                <a:cs typeface="Calibri" pitchFamily="34" charset="-120"/>
              </a:rPr>
              <a:t>Three tests, increasing severity:
</a:t>
            </a:r>
            <a:r>
              <a:rPr lang="en-US" sz="1150" dirty="0">
                <a:solidFill>
                  <a:srgbClr val="20242B"/>
                </a:solidFill>
                <a:latin typeface="Calibri" pitchFamily="34" charset="0"/>
                <a:ea typeface="Calibri" pitchFamily="34" charset="-122"/>
                <a:cs typeface="Calibri" pitchFamily="34" charset="-120"/>
              </a:rPr>
              <a:t>· production features, 4 seasons: +3.35 — helps
· simpler baseline, 7 seasons: helps in 4 of 7 — a coin flip
· same procedure, different features, three dates: −35.4 / +21.8 / −19.7 — the sign flips at random
</a:t>
            </a:r>
            <a:r>
              <a:rPr lang="en-US" sz="1150" b="1" dirty="0">
                <a:solidFill>
                  <a:srgbClr val="20242B"/>
                </a:solidFill>
                <a:latin typeface="Calibri" pitchFamily="34" charset="0"/>
                <a:ea typeface="Calibri" pitchFamily="34" charset="-122"/>
                <a:cs typeface="Calibri" pitchFamily="34" charset="-120"/>
              </a:rPr>
              <a:t>Widening a training window is not a general improvement. It helps when the features carry signal, hurts when they don't — and with four seasons you cannot know which case you are in.</a:t>
            </a:r>
            <a:endParaRPr lang="en-US" sz="1150" dirty="0"/>
          </a:p>
        </p:txBody>
      </p:sp>
      <p:sp>
        <p:nvSpPr>
          <p:cNvPr id="13" name="Text 11"/>
          <p:cNvSpPr/>
          <p:nvPr/>
        </p:nvSpPr>
        <p:spPr>
          <a:xfrm>
            <a:off x="7726680" y="5257800"/>
            <a:ext cx="3749040" cy="1234440"/>
          </a:xfrm>
          <a:prstGeom prst="rect">
            <a:avLst/>
          </a:prstGeom>
          <a:noFill/>
          <a:ln/>
        </p:spPr>
        <p:txBody>
          <a:bodyPr wrap="square" lIns="0" tIns="0" rIns="0" bIns="0" rtlCol="0" anchor="t"/>
          <a:lstStyle/>
          <a:p>
            <a:pPr marL="0" indent="0" algn="l">
              <a:lnSpc>
                <a:spcPct val="114000"/>
              </a:lnSpc>
              <a:buNone/>
            </a:pPr>
            <a:r>
              <a:rPr lang="en-US" sz="1150" dirty="0">
                <a:solidFill>
                  <a:srgbClr val="5A6170"/>
                </a:solidFill>
                <a:latin typeface="Calibri" pitchFamily="34" charset="0"/>
                <a:ea typeface="Calibri" pitchFamily="34" charset="-122"/>
                <a:cs typeface="Calibri" pitchFamily="34" charset="-120"/>
              </a:rPr>
              <a:t>Kept at a heavily shrunk 0.25 — and stated plainly: the model beats the earlier version even without this correction (268.3 vs 269.5). Both choices are defensible; the honest framing is on the slide.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4 · CROP VISION</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The neural network: learning the recipe instead of fixing it</a:t>
            </a:r>
            <a:endParaRPr lang="en-US" sz="2700" dirty="0"/>
          </a:p>
        </p:txBody>
      </p:sp>
      <p:sp>
        <p:nvSpPr>
          <p:cNvPr id="4" name="Text 2"/>
          <p:cNvSpPr/>
          <p:nvPr/>
        </p:nvSpPr>
        <p:spPr>
          <a:xfrm>
            <a:off x="502920" y="1481328"/>
            <a:ext cx="11155680" cy="1051560"/>
          </a:xfrm>
          <a:prstGeom prst="rect">
            <a:avLst/>
          </a:prstGeom>
          <a:noFill/>
          <a:ln/>
        </p:spPr>
        <p:txBody>
          <a:bodyPr wrap="square" lIns="0" tIns="0" rIns="0" bIns="0" rtlCol="0" anchor="t"/>
          <a:lstStyle/>
          <a:p>
            <a:pPr marL="0" indent="0" algn="l">
              <a:lnSpc>
                <a:spcPct val="114000"/>
              </a:lnSpc>
              <a:buNone/>
            </a:pPr>
            <a:r>
              <a:rPr lang="en-US" sz="1350" dirty="0">
                <a:solidFill>
                  <a:srgbClr val="20242B"/>
                </a:solidFill>
                <a:latin typeface="Calibri" pitchFamily="34" charset="0"/>
                <a:ea typeface="Calibri" pitchFamily="34" charset="-122"/>
                <a:cs typeface="Calibri" pitchFamily="34" charset="-120"/>
              </a:rPr>
              <a:t>The satellite sees the crop; the question is how to turn a large messy pile of satellite measurements into a few numbers a prediction model can use. The obvious approach — summary statistics like average greenness — works, but the recipe is fixed by the analyst in advance and treats every part of a district as interchangeable. A neural network </a:t>
            </a:r>
            <a:r>
              <a:rPr lang="en-US" sz="1350" b="1" i="1" dirty="0">
                <a:solidFill>
                  <a:srgbClr val="20242B"/>
                </a:solidFill>
                <a:latin typeface="Calibri" pitchFamily="34" charset="0"/>
                <a:ea typeface="Calibri" pitchFamily="34" charset="-122"/>
                <a:cs typeface="Calibri" pitchFamily="34" charset="-120"/>
              </a:rPr>
              <a:t>learns</a:t>
            </a:r>
            <a:r>
              <a:rPr lang="en-US" sz="1350" dirty="0">
                <a:solidFill>
                  <a:srgbClr val="20242B"/>
                </a:solidFill>
                <a:latin typeface="Calibri" pitchFamily="34" charset="0"/>
                <a:ea typeface="Calibri" pitchFamily="34" charset="-122"/>
                <a:cs typeface="Calibri" pitchFamily="34" charset="-120"/>
              </a:rPr>
              <a:t> the recipe. Formally it is just a function:</a:t>
            </a:r>
            <a:endParaRPr lang="en-US" sz="1350" dirty="0"/>
          </a:p>
        </p:txBody>
      </p:sp>
      <p:sp>
        <p:nvSpPr>
          <p:cNvPr id="5" name="Shape 3"/>
          <p:cNvSpPr/>
          <p:nvPr/>
        </p:nvSpPr>
        <p:spPr>
          <a:xfrm>
            <a:off x="3017520" y="2606040"/>
            <a:ext cx="6126480" cy="685800"/>
          </a:xfrm>
          <a:prstGeom prst="roundRect">
            <a:avLst>
              <a:gd name="adj" fmla="val 9333"/>
            </a:avLst>
          </a:prstGeom>
          <a:solidFill>
            <a:srgbClr val="EAF1FB"/>
          </a:solidFill>
          <a:ln/>
        </p:spPr>
        <p:txBody>
          <a:bodyPr/>
          <a:lstStyle/>
          <a:p>
            <a:endParaRPr lang="en-US"/>
          </a:p>
        </p:txBody>
      </p:sp>
      <p:sp>
        <p:nvSpPr>
          <p:cNvPr id="6" name="Text 4"/>
          <p:cNvSpPr/>
          <p:nvPr/>
        </p:nvSpPr>
        <p:spPr>
          <a:xfrm>
            <a:off x="3154680" y="2606040"/>
            <a:ext cx="5852160" cy="685800"/>
          </a:xfrm>
          <a:prstGeom prst="rect">
            <a:avLst/>
          </a:prstGeom>
          <a:noFill/>
          <a:ln/>
        </p:spPr>
        <p:txBody>
          <a:bodyPr wrap="square" lIns="0" tIns="0" rIns="0" bIns="0" rtlCol="0" anchor="ctr"/>
          <a:lstStyle/>
          <a:p>
            <a:pPr marL="0" indent="0" algn="ctr">
              <a:lnSpc>
                <a:spcPct val="112000"/>
              </a:lnSpc>
              <a:buNone/>
            </a:pPr>
            <a:r>
              <a:rPr lang="en-US" sz="1900" b="1" dirty="0">
                <a:solidFill>
                  <a:srgbClr val="20242B"/>
                </a:solidFill>
                <a:latin typeface="Cambria" pitchFamily="34" charset="0"/>
                <a:ea typeface="Cambria" pitchFamily="34" charset="-122"/>
                <a:cs typeface="Cambria" pitchFamily="34" charset="-120"/>
              </a:rPr>
              <a:t>f :  (large messy pile)  ⟶  ℝ¹⁶     (sixteen numbers)</a:t>
            </a:r>
            <a:endParaRPr lang="en-US" sz="1900" dirty="0"/>
          </a:p>
        </p:txBody>
      </p:sp>
      <p:sp>
        <p:nvSpPr>
          <p:cNvPr id="7" name="Text 5"/>
          <p:cNvSpPr/>
          <p:nvPr/>
        </p:nvSpPr>
        <p:spPr>
          <a:xfrm>
            <a:off x="502920" y="3520440"/>
            <a:ext cx="11155680" cy="457200"/>
          </a:xfrm>
          <a:prstGeom prst="rect">
            <a:avLst/>
          </a:prstGeom>
          <a:noFill/>
          <a:ln/>
        </p:spPr>
        <p:txBody>
          <a:bodyPr wrap="square" lIns="0" tIns="0" rIns="0" bIns="0" rtlCol="0" anchor="t"/>
          <a:lstStyle/>
          <a:p>
            <a:pPr marL="0" indent="0" algn="l">
              <a:lnSpc>
                <a:spcPct val="114000"/>
              </a:lnSpc>
              <a:buNone/>
            </a:pPr>
            <a:r>
              <a:rPr lang="en-US" sz="1350" dirty="0">
                <a:solidFill>
                  <a:srgbClr val="20242B"/>
                </a:solidFill>
                <a:latin typeface="Calibri" pitchFamily="34" charset="0"/>
                <a:ea typeface="Calibri" pitchFamily="34" charset="-122"/>
                <a:cs typeface="Calibri" pitchFamily="34" charset="-120"/>
              </a:rPr>
              <a:t>…and the whole design question is which sixteen numbers. What it is shown, for one district in one season:</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4069080"/>
          <a:ext cx="1120140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7818120">
                  <a:extLst>
                    <a:ext uri="{9D8B030D-6E8A-4147-A177-3AD203B41FA5}">
                      <a16:colId xmlns:a16="http://schemas.microsoft.com/office/drawing/2014/main" val="20002"/>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Input</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Shape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Meaning, in plain words</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Crop condition</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3 × 126</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6 satellite indices × 3 ways of viewing the district × 7 time summaries — at three dates (Jan / Feb / Mar)</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Past weather</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6 × 16</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six time windows of observed weather before 5 March</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Forecast weather</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10 × 16</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ten five-day windows of forecast weather ahead</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6"/>
          <p:cNvSpPr/>
          <p:nvPr/>
        </p:nvSpPr>
        <p:spPr>
          <a:xfrm>
            <a:off x="502920" y="5806440"/>
            <a:ext cx="11155680" cy="914400"/>
          </a:xfrm>
          <a:prstGeom prst="rect">
            <a:avLst/>
          </a:prstGeom>
          <a:noFill/>
          <a:ln/>
        </p:spPr>
        <p:txBody>
          <a:bodyPr wrap="square" lIns="0" tIns="0" rIns="0" bIns="0" rtlCol="0" anchor="t"/>
          <a:lstStyle/>
          <a:p>
            <a:pPr marL="0" indent="0" algn="l">
              <a:lnSpc>
                <a:spcPct val="114000"/>
              </a:lnSpc>
              <a:buNone/>
            </a:pPr>
            <a:r>
              <a:rPr lang="en-US" sz="1200" dirty="0">
                <a:solidFill>
                  <a:srgbClr val="20242B"/>
                </a:solidFill>
                <a:latin typeface="Calibri" pitchFamily="34" charset="0"/>
                <a:ea typeface="Calibri" pitchFamily="34" charset="-122"/>
                <a:cs typeface="Calibri" pitchFamily="34" charset="-120"/>
              </a:rPr>
              <a:t>Each row is a token — one bundle of numbers the network treats as a unit; 19 tokens in total. The six satellite indices measure different things: overall greenness, chlorophyll, water content, and senescence (how far the crop has begun to dry down). At an earlier clock, the not-yet-observed March token is masked — made invisible — so the network cannot accidentally learn from data that would not exist in real use.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4 · THE MATHEMATICS OF ATTENTION</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Each token asks every other: “how relevant are you to me?”</a:t>
            </a:r>
            <a:endParaRPr lang="en-US" sz="2700" dirty="0"/>
          </a:p>
        </p:txBody>
      </p:sp>
      <p:pic>
        <p:nvPicPr>
          <p:cNvPr id="4" name="Image 0" descr="charts/15_network.png"/>
          <p:cNvPicPr>
            <a:picLocks noChangeAspect="1"/>
          </p:cNvPicPr>
          <p:nvPr/>
        </p:nvPicPr>
        <p:blipFill>
          <a:blip r:embed="rId3"/>
          <a:stretch>
            <a:fillRect/>
          </a:stretch>
        </p:blipFill>
        <p:spPr>
          <a:xfrm>
            <a:off x="502920" y="1481328"/>
            <a:ext cx="7635240" cy="3950208"/>
          </a:xfrm>
          <a:prstGeom prst="rect">
            <a:avLst/>
          </a:prstGeom>
        </p:spPr>
      </p:pic>
      <p:sp>
        <p:nvSpPr>
          <p:cNvPr id="5" name="Shape 2"/>
          <p:cNvSpPr/>
          <p:nvPr/>
        </p:nvSpPr>
        <p:spPr>
          <a:xfrm>
            <a:off x="8366760" y="1481328"/>
            <a:ext cx="3337560" cy="3950208"/>
          </a:xfrm>
          <a:prstGeom prst="roundRect">
            <a:avLst>
              <a:gd name="adj" fmla="val 2192"/>
            </a:avLst>
          </a:prstGeom>
          <a:solidFill>
            <a:srgbClr val="EAF1FB"/>
          </a:solidFill>
          <a:ln/>
        </p:spPr>
        <p:txBody>
          <a:bodyPr/>
          <a:lstStyle/>
          <a:p>
            <a:endParaRPr lang="en-US"/>
          </a:p>
        </p:txBody>
      </p:sp>
      <p:sp>
        <p:nvSpPr>
          <p:cNvPr id="6" name="Text 3"/>
          <p:cNvSpPr/>
          <p:nvPr/>
        </p:nvSpPr>
        <p:spPr>
          <a:xfrm>
            <a:off x="8577072" y="1664208"/>
            <a:ext cx="2926080" cy="274320"/>
          </a:xfrm>
          <a:prstGeom prst="rect">
            <a:avLst/>
          </a:prstGeom>
          <a:noFill/>
          <a:ln/>
        </p:spPr>
        <p:txBody>
          <a:bodyPr wrap="square" lIns="0" tIns="0" rIns="0" bIns="0" rtlCol="0" anchor="ctr"/>
          <a:lstStyle/>
          <a:p>
            <a:pPr marL="0" indent="0">
              <a:buNone/>
            </a:pPr>
            <a:r>
              <a:rPr lang="en-US" sz="1050" b="1" kern="0" spc="100" dirty="0">
                <a:solidFill>
                  <a:srgbClr val="2A78D6"/>
                </a:solidFill>
                <a:latin typeface="Calibri" pitchFamily="34" charset="0"/>
                <a:ea typeface="Calibri" pitchFamily="34" charset="-122"/>
                <a:cs typeface="Calibri" pitchFamily="34" charset="-120"/>
              </a:rPr>
              <a:t>READING THE FORMULA</a:t>
            </a:r>
            <a:endParaRPr lang="en-US" sz="1050" dirty="0"/>
          </a:p>
        </p:txBody>
      </p:sp>
      <p:sp>
        <p:nvSpPr>
          <p:cNvPr id="7" name="Text 4"/>
          <p:cNvSpPr/>
          <p:nvPr/>
        </p:nvSpPr>
        <p:spPr>
          <a:xfrm>
            <a:off x="8577072" y="2011680"/>
            <a:ext cx="2926080" cy="3337560"/>
          </a:xfrm>
          <a:prstGeom prst="rect">
            <a:avLst/>
          </a:prstGeom>
          <a:noFill/>
          <a:ln/>
        </p:spPr>
        <p:txBody>
          <a:bodyPr wrap="square" lIns="0" tIns="0" rIns="0" bIns="0" rtlCol="0" anchor="t"/>
          <a:lstStyle/>
          <a:p>
            <a:pPr marL="0" indent="0" algn="l">
              <a:lnSpc>
                <a:spcPct val="108000"/>
              </a:lnSpc>
              <a:buNone/>
            </a:pPr>
            <a:r>
              <a:rPr lang="en-US" sz="1050" b="1" dirty="0">
                <a:solidFill>
                  <a:srgbClr val="1F2B4D"/>
                </a:solidFill>
                <a:latin typeface="Calibri" pitchFamily="34" charset="0"/>
                <a:ea typeface="Calibri" pitchFamily="34" charset="-122"/>
                <a:cs typeface="Calibri" pitchFamily="34" charset="-120"/>
              </a:rPr>
              <a:t>Q, K, V  </a:t>
            </a:r>
            <a:r>
              <a:rPr lang="en-US" sz="1050" dirty="0">
                <a:solidFill>
                  <a:srgbClr val="20242B"/>
                </a:solidFill>
                <a:latin typeface="Calibri" pitchFamily="34" charset="0"/>
                <a:ea typeface="Calibri" pitchFamily="34" charset="-122"/>
                <a:cs typeface="Calibri" pitchFamily="34" charset="-120"/>
              </a:rPr>
              <a:t>— from each token, three vectors are computed by learned matrices: a query (what I'm looking for), a key (what I contain), a value (what I'll pass on).
</a:t>
            </a:r>
            <a:r>
              <a:rPr lang="en-US" sz="1050" b="1" dirty="0">
                <a:solidFill>
                  <a:srgbClr val="1F2B4D"/>
                </a:solidFill>
                <a:latin typeface="Calibri" pitchFamily="34" charset="0"/>
                <a:ea typeface="Calibri" pitchFamily="34" charset="-122"/>
                <a:cs typeface="Calibri" pitchFamily="34" charset="-120"/>
              </a:rPr>
              <a:t>QKᵀ  </a:t>
            </a:r>
            <a:r>
              <a:rPr lang="en-US" sz="1050" dirty="0">
                <a:solidFill>
                  <a:srgbClr val="20242B"/>
                </a:solidFill>
                <a:latin typeface="Calibri" pitchFamily="34" charset="0"/>
                <a:ea typeface="Calibri" pitchFamily="34" charset="-122"/>
                <a:cs typeface="Calibri" pitchFamily="34" charset="-120"/>
              </a:rPr>
              <a:t>— every query dotted with every key: a big score means “you are relevant to me”.
</a:t>
            </a:r>
            <a:r>
              <a:rPr lang="en-US" sz="1050" b="1" dirty="0">
                <a:solidFill>
                  <a:srgbClr val="1F2B4D"/>
                </a:solidFill>
                <a:latin typeface="Calibri" pitchFamily="34" charset="0"/>
                <a:ea typeface="Calibri" pitchFamily="34" charset="-122"/>
                <a:cs typeface="Calibri" pitchFamily="34" charset="-120"/>
              </a:rPr>
              <a:t>÷√8  </a:t>
            </a:r>
            <a:r>
              <a:rPr lang="en-US" sz="1050" dirty="0">
                <a:solidFill>
                  <a:srgbClr val="20242B"/>
                </a:solidFill>
                <a:latin typeface="Calibri" pitchFamily="34" charset="0"/>
                <a:ea typeface="Calibri" pitchFamily="34" charset="-122"/>
                <a:cs typeface="Calibri" pitchFamily="34" charset="-120"/>
              </a:rPr>
              <a:t>— keeps scores in a sensible range (they grow with dimension).
</a:t>
            </a:r>
            <a:r>
              <a:rPr lang="en-US" sz="1050" b="1" dirty="0">
                <a:solidFill>
                  <a:srgbClr val="1F2B4D"/>
                </a:solidFill>
                <a:latin typeface="Calibri" pitchFamily="34" charset="0"/>
                <a:ea typeface="Calibri" pitchFamily="34" charset="-122"/>
                <a:cs typeface="Calibri" pitchFamily="34" charset="-120"/>
              </a:rPr>
              <a:t>softmax  </a:t>
            </a:r>
            <a:r>
              <a:rPr lang="en-US" sz="1050" dirty="0">
                <a:solidFill>
                  <a:srgbClr val="20242B"/>
                </a:solidFill>
                <a:latin typeface="Calibri" pitchFamily="34" charset="0"/>
                <a:ea typeface="Calibri" pitchFamily="34" charset="-122"/>
                <a:cs typeface="Calibri" pitchFamily="34" charset="-120"/>
              </a:rPr>
              <a:t>— turns scores into positive weights that sum to 1.</a:t>
            </a:r>
            <a:endParaRPr lang="en-US" sz="1050" dirty="0"/>
          </a:p>
        </p:txBody>
      </p:sp>
      <p:sp>
        <p:nvSpPr>
          <p:cNvPr id="8" name="Text 5"/>
          <p:cNvSpPr/>
          <p:nvPr/>
        </p:nvSpPr>
        <p:spPr>
          <a:xfrm>
            <a:off x="502920" y="5623560"/>
            <a:ext cx="11201400" cy="1005840"/>
          </a:xfrm>
          <a:prstGeom prst="rect">
            <a:avLst/>
          </a:prstGeom>
          <a:noFill/>
          <a:ln/>
        </p:spPr>
        <p:txBody>
          <a:bodyPr wrap="square" lIns="0" tIns="0" rIns="0" bIns="0" rtlCol="0" anchor="t"/>
          <a:lstStyle/>
          <a:p>
            <a:pPr marL="0" indent="0" algn="l">
              <a:lnSpc>
                <a:spcPct val="114000"/>
              </a:lnSpc>
              <a:buNone/>
            </a:pPr>
            <a:r>
              <a:rPr lang="en-US" sz="1200" b="1" dirty="0">
                <a:solidFill>
                  <a:srgbClr val="20242B"/>
                </a:solidFill>
                <a:latin typeface="Calibri" pitchFamily="34" charset="0"/>
                <a:ea typeface="Calibri" pitchFamily="34" charset="-122"/>
                <a:cs typeface="Calibri" pitchFamily="34" charset="-120"/>
              </a:rPr>
              <a:t>In one sentence: each token looks at all the others, decides how much each one matters, and takes a weighted average of their content. </a:t>
            </a:r>
            <a:r>
              <a:rPr lang="en-US" sz="1200" dirty="0">
                <a:solidFill>
                  <a:srgbClr val="20242B"/>
                </a:solidFill>
                <a:latin typeface="Calibri" pitchFamily="34" charset="0"/>
                <a:ea typeface="Calibri" pitchFamily="34" charset="-122"/>
                <a:cs typeface="Calibri" pitchFamily="34" charset="-120"/>
              </a:rPr>
              <a:t>Four heads do this in parallel with different learned matrices — so the network can attend to several things at once — and the network runs in 32 dimensions (each head gets 8). The crop token then queries the two weather streams separately: “which past weather explains the state I am in?” and “which forecast weather threatens what happens next?”  Total size: 67,359 learned numbers — deliberately tiny.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4 · THE SUPPORTING PIECES</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Four bits of neural-net vocabulary, each in one honest sentence</a:t>
            </a:r>
            <a:endParaRPr lang="en-US" sz="2700" dirty="0"/>
          </a:p>
        </p:txBody>
      </p:sp>
      <p:sp>
        <p:nvSpPr>
          <p:cNvPr id="4" name="Shape 2"/>
          <p:cNvSpPr/>
          <p:nvPr/>
        </p:nvSpPr>
        <p:spPr>
          <a:xfrm>
            <a:off x="502920" y="1600200"/>
            <a:ext cx="5486400" cy="1600200"/>
          </a:xfrm>
          <a:prstGeom prst="roundRect">
            <a:avLst>
              <a:gd name="adj" fmla="val 4000"/>
            </a:avLst>
          </a:prstGeom>
          <a:solidFill>
            <a:srgbClr val="EAF1FB"/>
          </a:solidFill>
          <a:ln/>
        </p:spPr>
        <p:txBody>
          <a:bodyPr/>
          <a:lstStyle/>
          <a:p>
            <a:endParaRPr lang="en-US"/>
          </a:p>
        </p:txBody>
      </p:sp>
      <p:sp>
        <p:nvSpPr>
          <p:cNvPr id="5" name="Text 3"/>
          <p:cNvSpPr/>
          <p:nvPr/>
        </p:nvSpPr>
        <p:spPr>
          <a:xfrm>
            <a:off x="704088" y="1728216"/>
            <a:ext cx="5074920" cy="365760"/>
          </a:xfrm>
          <a:prstGeom prst="rect">
            <a:avLst/>
          </a:prstGeom>
          <a:noFill/>
          <a:ln/>
        </p:spPr>
        <p:txBody>
          <a:bodyPr wrap="square" lIns="0" tIns="0" rIns="0" bIns="0" rtlCol="0" anchor="ctr"/>
          <a:lstStyle/>
          <a:p>
            <a:pPr marL="0" indent="0">
              <a:buNone/>
            </a:pPr>
            <a:r>
              <a:rPr lang="en-US" sz="1400" b="1" dirty="0">
                <a:solidFill>
                  <a:srgbClr val="1F2B4D"/>
                </a:solidFill>
                <a:latin typeface="Calibri" pitchFamily="34" charset="0"/>
                <a:ea typeface="Calibri" pitchFamily="34" charset="-122"/>
                <a:cs typeface="Calibri" pitchFamily="34" charset="-120"/>
              </a:rPr>
              <a:t>Residual connection ( +q )</a:t>
            </a:r>
            <a:endParaRPr lang="en-US" sz="1400" dirty="0"/>
          </a:p>
        </p:txBody>
      </p:sp>
      <p:sp>
        <p:nvSpPr>
          <p:cNvPr id="6" name="Text 4"/>
          <p:cNvSpPr/>
          <p:nvPr/>
        </p:nvSpPr>
        <p:spPr>
          <a:xfrm>
            <a:off x="704088" y="2112264"/>
            <a:ext cx="5120640" cy="1005840"/>
          </a:xfrm>
          <a:prstGeom prst="rect">
            <a:avLst/>
          </a:prstGeom>
          <a:noFill/>
          <a:ln/>
        </p:spPr>
        <p:txBody>
          <a:bodyPr wrap="square" lIns="0" tIns="0" rIns="0" bIns="0" rtlCol="0" anchor="ctr"/>
          <a:lstStyle/>
          <a:p>
            <a:pPr marL="0" indent="0">
              <a:lnSpc>
                <a:spcPct val="112000"/>
              </a:lnSpc>
              <a:buNone/>
            </a:pPr>
            <a:r>
              <a:rPr lang="en-US" sz="1150" dirty="0">
                <a:solidFill>
                  <a:srgbClr val="20242B"/>
                </a:solidFill>
                <a:latin typeface="Calibri" pitchFamily="34" charset="0"/>
                <a:ea typeface="Calibri" pitchFamily="34" charset="-122"/>
                <a:cs typeface="Calibri" pitchFamily="34" charset="-120"/>
              </a:rPr>
              <a:t>the input is added back to a layer's output, so information can skip the layer entirely if the layer turns out to be unhelpful. Layers become optional refinements, not obligatory filters.</a:t>
            </a:r>
            <a:endParaRPr lang="en-US" sz="1150" dirty="0"/>
          </a:p>
        </p:txBody>
      </p:sp>
      <p:sp>
        <p:nvSpPr>
          <p:cNvPr id="7" name="Shape 5"/>
          <p:cNvSpPr/>
          <p:nvPr/>
        </p:nvSpPr>
        <p:spPr>
          <a:xfrm>
            <a:off x="6217920" y="1600200"/>
            <a:ext cx="5486400" cy="1600200"/>
          </a:xfrm>
          <a:prstGeom prst="roundRect">
            <a:avLst>
              <a:gd name="adj" fmla="val 4000"/>
            </a:avLst>
          </a:prstGeom>
          <a:solidFill>
            <a:srgbClr val="F4F5F7"/>
          </a:solidFill>
          <a:ln/>
        </p:spPr>
        <p:txBody>
          <a:bodyPr/>
          <a:lstStyle/>
          <a:p>
            <a:endParaRPr lang="en-US"/>
          </a:p>
        </p:txBody>
      </p:sp>
      <p:sp>
        <p:nvSpPr>
          <p:cNvPr id="8" name="Text 6"/>
          <p:cNvSpPr/>
          <p:nvPr/>
        </p:nvSpPr>
        <p:spPr>
          <a:xfrm>
            <a:off x="6419088" y="1728216"/>
            <a:ext cx="5074920" cy="36576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LayerNorm</a:t>
            </a:r>
            <a:endParaRPr lang="en-US" sz="1400" dirty="0"/>
          </a:p>
        </p:txBody>
      </p:sp>
      <p:sp>
        <p:nvSpPr>
          <p:cNvPr id="9" name="Text 7"/>
          <p:cNvSpPr/>
          <p:nvPr/>
        </p:nvSpPr>
        <p:spPr>
          <a:xfrm>
            <a:off x="6419088" y="2112264"/>
            <a:ext cx="5120640" cy="1005840"/>
          </a:xfrm>
          <a:prstGeom prst="rect">
            <a:avLst/>
          </a:prstGeom>
          <a:noFill/>
          <a:ln/>
        </p:spPr>
        <p:txBody>
          <a:bodyPr wrap="square" lIns="0" tIns="0" rIns="0" bIns="0" rtlCol="0" anchor="ctr"/>
          <a:lstStyle/>
          <a:p>
            <a:pPr marL="0" indent="0">
              <a:lnSpc>
                <a:spcPct val="112000"/>
              </a:lnSpc>
              <a:buNone/>
            </a:pPr>
            <a:r>
              <a:rPr lang="en-US" sz="1150" dirty="0">
                <a:solidFill>
                  <a:srgbClr val="20242B"/>
                </a:solidFill>
                <a:latin typeface="Calibri" pitchFamily="34" charset="0"/>
                <a:ea typeface="Calibri" pitchFamily="34" charset="-122"/>
                <a:cs typeface="Calibri" pitchFamily="34" charset="-120"/>
              </a:rPr>
              <a:t>rescales a vector to mean 0 and standard deviation 1, keeping numbers in a stable range as they pass through layers — without it, values drift and training destabilises.</a:t>
            </a:r>
            <a:endParaRPr lang="en-US" sz="1150" dirty="0"/>
          </a:p>
        </p:txBody>
      </p:sp>
      <p:sp>
        <p:nvSpPr>
          <p:cNvPr id="10" name="Shape 8"/>
          <p:cNvSpPr/>
          <p:nvPr/>
        </p:nvSpPr>
        <p:spPr>
          <a:xfrm>
            <a:off x="502920" y="3383280"/>
            <a:ext cx="5486400" cy="1600200"/>
          </a:xfrm>
          <a:prstGeom prst="roundRect">
            <a:avLst>
              <a:gd name="adj" fmla="val 4000"/>
            </a:avLst>
          </a:prstGeom>
          <a:solidFill>
            <a:srgbClr val="EAF1FB"/>
          </a:solidFill>
          <a:ln/>
        </p:spPr>
        <p:txBody>
          <a:bodyPr/>
          <a:lstStyle/>
          <a:p>
            <a:endParaRPr lang="en-US"/>
          </a:p>
        </p:txBody>
      </p:sp>
      <p:sp>
        <p:nvSpPr>
          <p:cNvPr id="11" name="Text 9"/>
          <p:cNvSpPr/>
          <p:nvPr/>
        </p:nvSpPr>
        <p:spPr>
          <a:xfrm>
            <a:off x="704088" y="3511296"/>
            <a:ext cx="5074920" cy="365760"/>
          </a:xfrm>
          <a:prstGeom prst="rect">
            <a:avLst/>
          </a:prstGeom>
          <a:noFill/>
          <a:ln/>
        </p:spPr>
        <p:txBody>
          <a:bodyPr wrap="square" lIns="0" tIns="0" rIns="0" bIns="0" rtlCol="0" anchor="ctr"/>
          <a:lstStyle/>
          <a:p>
            <a:pPr marL="0" indent="0">
              <a:buNone/>
            </a:pPr>
            <a:r>
              <a:rPr lang="en-US" sz="1400" b="1" dirty="0">
                <a:solidFill>
                  <a:srgbClr val="1F2B4D"/>
                </a:solidFill>
                <a:latin typeface="Calibri" pitchFamily="34" charset="0"/>
                <a:ea typeface="Calibri" pitchFamily="34" charset="-122"/>
                <a:cs typeface="Calibri" pitchFamily="34" charset="-120"/>
              </a:rPr>
              <a:t>Feed-forward network (FFN)</a:t>
            </a:r>
            <a:endParaRPr lang="en-US" sz="1400" dirty="0"/>
          </a:p>
        </p:txBody>
      </p:sp>
      <p:sp>
        <p:nvSpPr>
          <p:cNvPr id="12" name="Text 10"/>
          <p:cNvSpPr/>
          <p:nvPr/>
        </p:nvSpPr>
        <p:spPr>
          <a:xfrm>
            <a:off x="704088" y="3895344"/>
            <a:ext cx="5120640" cy="1005840"/>
          </a:xfrm>
          <a:prstGeom prst="rect">
            <a:avLst/>
          </a:prstGeom>
          <a:noFill/>
          <a:ln/>
        </p:spPr>
        <p:txBody>
          <a:bodyPr wrap="square" lIns="0" tIns="0" rIns="0" bIns="0" rtlCol="0" anchor="ctr"/>
          <a:lstStyle/>
          <a:p>
            <a:pPr marL="0" indent="0">
              <a:lnSpc>
                <a:spcPct val="112000"/>
              </a:lnSpc>
              <a:buNone/>
            </a:pPr>
            <a:r>
              <a:rPr lang="en-US" sz="1150" dirty="0">
                <a:solidFill>
                  <a:srgbClr val="20242B"/>
                </a:solidFill>
                <a:latin typeface="Calibri" pitchFamily="34" charset="0"/>
                <a:ea typeface="Calibri" pitchFamily="34" charset="-122"/>
                <a:cs typeface="Calibri" pitchFamily="34" charset="-120"/>
              </a:rPr>
              <a:t>after attention mixes information across tokens, a small two-layer network processes each token on its own:  32 → 64 → 32 numbers.</a:t>
            </a:r>
            <a:endParaRPr lang="en-US" sz="1150" dirty="0"/>
          </a:p>
        </p:txBody>
      </p:sp>
      <p:sp>
        <p:nvSpPr>
          <p:cNvPr id="13" name="Shape 11"/>
          <p:cNvSpPr/>
          <p:nvPr/>
        </p:nvSpPr>
        <p:spPr>
          <a:xfrm>
            <a:off x="6217920" y="3383280"/>
            <a:ext cx="5486400" cy="1600200"/>
          </a:xfrm>
          <a:prstGeom prst="roundRect">
            <a:avLst>
              <a:gd name="adj" fmla="val 4000"/>
            </a:avLst>
          </a:prstGeom>
          <a:solidFill>
            <a:srgbClr val="F4F5F7"/>
          </a:solidFill>
          <a:ln/>
        </p:spPr>
        <p:txBody>
          <a:bodyPr/>
          <a:lstStyle/>
          <a:p>
            <a:endParaRPr lang="en-US"/>
          </a:p>
        </p:txBody>
      </p:sp>
      <p:sp>
        <p:nvSpPr>
          <p:cNvPr id="14" name="Text 12"/>
          <p:cNvSpPr/>
          <p:nvPr/>
        </p:nvSpPr>
        <p:spPr>
          <a:xfrm>
            <a:off x="6419088" y="3511296"/>
            <a:ext cx="5074920" cy="36576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GELU</a:t>
            </a:r>
            <a:endParaRPr lang="en-US" sz="1400" dirty="0"/>
          </a:p>
        </p:txBody>
      </p:sp>
      <p:sp>
        <p:nvSpPr>
          <p:cNvPr id="15" name="Text 13"/>
          <p:cNvSpPr/>
          <p:nvPr/>
        </p:nvSpPr>
        <p:spPr>
          <a:xfrm>
            <a:off x="6419088" y="3895344"/>
            <a:ext cx="5120640" cy="1005840"/>
          </a:xfrm>
          <a:prstGeom prst="rect">
            <a:avLst/>
          </a:prstGeom>
          <a:noFill/>
          <a:ln/>
        </p:spPr>
        <p:txBody>
          <a:bodyPr wrap="square" lIns="0" tIns="0" rIns="0" bIns="0" rtlCol="0" anchor="ctr"/>
          <a:lstStyle/>
          <a:p>
            <a:pPr marL="0" indent="0">
              <a:lnSpc>
                <a:spcPct val="112000"/>
              </a:lnSpc>
              <a:buNone/>
            </a:pPr>
            <a:r>
              <a:rPr lang="en-US" sz="1150" dirty="0">
                <a:solidFill>
                  <a:srgbClr val="20242B"/>
                </a:solidFill>
                <a:latin typeface="Calibri" pitchFamily="34" charset="0"/>
                <a:ea typeface="Calibri" pitchFamily="34" charset="-122"/>
                <a:cs typeface="Calibri" pitchFamily="34" charset="-120"/>
              </a:rPr>
              <a:t>the activation function between those layers — like a smooth on/off valve that lets small negative values leak through slightly instead of zeroing them abruptly. Smoother valves train more stably.</a:t>
            </a:r>
            <a:endParaRPr lang="en-US" sz="1150" dirty="0"/>
          </a:p>
        </p:txBody>
      </p:sp>
      <p:sp>
        <p:nvSpPr>
          <p:cNvPr id="16" name="Shape 14"/>
          <p:cNvSpPr/>
          <p:nvPr/>
        </p:nvSpPr>
        <p:spPr>
          <a:xfrm>
            <a:off x="502920" y="5349240"/>
            <a:ext cx="11201400" cy="777240"/>
          </a:xfrm>
          <a:prstGeom prst="roundRect">
            <a:avLst>
              <a:gd name="adj" fmla="val 8235"/>
            </a:avLst>
          </a:prstGeom>
          <a:solidFill>
            <a:srgbClr val="EAF1FB"/>
          </a:solidFill>
          <a:ln/>
        </p:spPr>
        <p:txBody>
          <a:bodyPr/>
          <a:lstStyle/>
          <a:p>
            <a:endParaRPr lang="en-US"/>
          </a:p>
        </p:txBody>
      </p:sp>
      <p:sp>
        <p:nvSpPr>
          <p:cNvPr id="17" name="Text 15"/>
          <p:cNvSpPr/>
          <p:nvPr/>
        </p:nvSpPr>
        <p:spPr>
          <a:xfrm>
            <a:off x="640080" y="5349240"/>
            <a:ext cx="10927080" cy="777240"/>
          </a:xfrm>
          <a:prstGeom prst="rect">
            <a:avLst/>
          </a:prstGeom>
          <a:noFill/>
          <a:ln/>
        </p:spPr>
        <p:txBody>
          <a:bodyPr wrap="square" lIns="0" tIns="0" rIns="0" bIns="0" rtlCol="0" anchor="ctr"/>
          <a:lstStyle/>
          <a:p>
            <a:pPr marL="0" indent="0" algn="ctr">
              <a:lnSpc>
                <a:spcPct val="112000"/>
              </a:lnSpc>
              <a:buNone/>
            </a:pPr>
            <a:r>
              <a:rPr lang="en-US" sz="1700" dirty="0">
                <a:solidFill>
                  <a:srgbClr val="20242B"/>
                </a:solidFill>
                <a:latin typeface="Cambria" pitchFamily="34" charset="0"/>
                <a:ea typeface="Cambria" pitchFamily="34" charset="-122"/>
                <a:cs typeface="Cambria" pitchFamily="34" charset="-120"/>
              </a:rPr>
              <a:t>h_fused = LayerNorm( q + c_past + c_future )        FFN(h) = W₂ · GELU(W₁h + b₁) + b₂</a:t>
            </a:r>
            <a:endParaRPr lang="en-US" sz="1700" dirty="0"/>
          </a:p>
        </p:txBody>
      </p:sp>
      <p:sp>
        <p:nvSpPr>
          <p:cNvPr id="18" name="Text 16"/>
          <p:cNvSpPr/>
          <p:nvPr/>
        </p:nvSpPr>
        <p:spPr>
          <a:xfrm>
            <a:off x="502920" y="6263640"/>
            <a:ext cx="11201400" cy="457200"/>
          </a:xfrm>
          <a:prstGeom prst="rect">
            <a:avLst/>
          </a:prstGeom>
          <a:noFill/>
          <a:ln/>
        </p:spPr>
        <p:txBody>
          <a:bodyPr wrap="square" lIns="0" tIns="0" rIns="0" bIns="0" rtlCol="0" anchor="t"/>
          <a:lstStyle/>
          <a:p>
            <a:pPr marL="0" indent="0" algn="l">
              <a:lnSpc>
                <a:spcPct val="114000"/>
              </a:lnSpc>
              <a:buNone/>
            </a:pPr>
            <a:r>
              <a:rPr lang="en-US" sz="1150" dirty="0">
                <a:solidFill>
                  <a:srgbClr val="5A6170"/>
                </a:solidFill>
                <a:latin typeface="Calibri" pitchFamily="34" charset="0"/>
                <a:ea typeface="Calibri" pitchFamily="34" charset="-122"/>
                <a:cs typeface="Calibri" pitchFamily="34" charset="-120"/>
              </a:rPr>
              <a:t>Everything on this slide is standard transformer machinery — the design choices that matter are what it is fed (previous slide) and what it is trained on (next slide).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4 · HOW IT IS TRAINED</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The central design decision: the network never sees a harvest</a:t>
            </a:r>
            <a:endParaRPr lang="en-US" sz="2700" dirty="0"/>
          </a:p>
        </p:txBody>
      </p:sp>
      <p:sp>
        <p:nvSpPr>
          <p:cNvPr id="4" name="Shape 2"/>
          <p:cNvSpPr/>
          <p:nvPr/>
        </p:nvSpPr>
        <p:spPr>
          <a:xfrm>
            <a:off x="502920" y="1481328"/>
            <a:ext cx="6309360" cy="1371600"/>
          </a:xfrm>
          <a:prstGeom prst="roundRect">
            <a:avLst>
              <a:gd name="adj" fmla="val 4667"/>
            </a:avLst>
          </a:prstGeom>
          <a:solidFill>
            <a:srgbClr val="1F2B4D"/>
          </a:solidFill>
          <a:ln/>
        </p:spPr>
        <p:txBody>
          <a:bodyPr/>
          <a:lstStyle/>
          <a:p>
            <a:endParaRPr lang="en-US"/>
          </a:p>
        </p:txBody>
      </p:sp>
      <p:sp>
        <p:nvSpPr>
          <p:cNvPr id="5" name="Text 3"/>
          <p:cNvSpPr/>
          <p:nvPr/>
        </p:nvSpPr>
        <p:spPr>
          <a:xfrm>
            <a:off x="777240" y="1591056"/>
            <a:ext cx="5806440" cy="1188720"/>
          </a:xfrm>
          <a:prstGeom prst="rect">
            <a:avLst/>
          </a:prstGeom>
          <a:noFill/>
          <a:ln/>
        </p:spPr>
        <p:txBody>
          <a:bodyPr wrap="square" lIns="0" tIns="0" rIns="0" bIns="0" rtlCol="0" anchor="ctr"/>
          <a:lstStyle/>
          <a:p>
            <a:pPr marL="0" indent="0">
              <a:lnSpc>
                <a:spcPct val="112000"/>
              </a:lnSpc>
              <a:buNone/>
            </a:pPr>
            <a:r>
              <a:rPr lang="en-US" sz="1250" dirty="0">
                <a:solidFill>
                  <a:srgbClr val="FFFFFF"/>
                </a:solidFill>
                <a:latin typeface="Calibri" pitchFamily="34" charset="0"/>
                <a:ea typeface="Calibri" pitchFamily="34" charset="-122"/>
                <a:cs typeface="Calibri" pitchFamily="34" charset="-120"/>
              </a:rPr>
              <a:t>“How does wheat develop?” is a data-rich question — thousands of examples.
“What will yield be?” is a data-poor one — a few hundred, and correlated.
</a:t>
            </a:r>
            <a:r>
              <a:rPr lang="en-US" sz="1250" b="1" dirty="0">
                <a:solidFill>
                  <a:srgbClr val="E8B95A"/>
                </a:solidFill>
                <a:latin typeface="Calibri" pitchFamily="34" charset="0"/>
                <a:ea typeface="Calibri" pitchFamily="34" charset="-122"/>
                <a:cs typeface="Calibri" pitchFamily="34" charset="-120"/>
              </a:rPr>
              <a:t>So the network learns the rich question, and hands its understanding to a simple model for the poor one.</a:t>
            </a:r>
            <a:endParaRPr lang="en-US" sz="1250" dirty="0"/>
          </a:p>
        </p:txBody>
      </p:sp>
      <p:sp>
        <p:nvSpPr>
          <p:cNvPr id="6" name="Text 4"/>
          <p:cNvSpPr/>
          <p:nvPr/>
        </p:nvSpPr>
        <p:spPr>
          <a:xfrm>
            <a:off x="502920" y="3017520"/>
            <a:ext cx="6309360" cy="548640"/>
          </a:xfrm>
          <a:prstGeom prst="rect">
            <a:avLst/>
          </a:prstGeom>
          <a:noFill/>
          <a:ln/>
        </p:spPr>
        <p:txBody>
          <a:bodyPr wrap="square" lIns="0" tIns="0" rIns="0" bIns="0" rtlCol="0" anchor="t"/>
          <a:lstStyle/>
          <a:p>
            <a:pPr marL="0" indent="0" algn="l">
              <a:lnSpc>
                <a:spcPct val="114000"/>
              </a:lnSpc>
              <a:buNone/>
            </a:pPr>
            <a:r>
              <a:rPr lang="en-US" sz="1300" dirty="0">
                <a:solidFill>
                  <a:srgbClr val="20242B"/>
                </a:solidFill>
                <a:latin typeface="Calibri" pitchFamily="34" charset="0"/>
                <a:ea typeface="Calibri" pitchFamily="34" charset="-122"/>
                <a:cs typeface="Calibri" pitchFamily="34" charset="-120"/>
              </a:rPr>
              <a:t>It is trained to predict how crop condition will change between two dates:  </a:t>
            </a:r>
            <a:r>
              <a:rPr lang="en-US" sz="1300" b="1" dirty="0">
                <a:solidFill>
                  <a:srgbClr val="1F2B4D"/>
                </a:solidFill>
                <a:latin typeface="Cambria" pitchFamily="34" charset="0"/>
                <a:ea typeface="Cambria" pitchFamily="34" charset="-122"/>
                <a:cs typeface="Cambria" pitchFamily="34" charset="-120"/>
              </a:rPr>
              <a:t>Δx = x(next date) − x(current date)</a:t>
            </a:r>
            <a:endParaRPr lang="en-US" sz="1300" dirty="0"/>
          </a:p>
        </p:txBody>
      </p:sp>
      <p:sp>
        <p:nvSpPr>
          <p:cNvPr id="7" name="Text 5"/>
          <p:cNvSpPr/>
          <p:nvPr/>
        </p:nvSpPr>
        <p:spPr>
          <a:xfrm>
            <a:off x="502920" y="3703320"/>
            <a:ext cx="6309360" cy="1463040"/>
          </a:xfrm>
          <a:prstGeom prst="rect">
            <a:avLst/>
          </a:prstGeom>
          <a:noFill/>
          <a:ln/>
        </p:spPr>
        <p:txBody>
          <a:bodyPr wrap="square" lIns="0" tIns="0" rIns="0" bIns="0" rtlCol="0" anchor="t"/>
          <a:lstStyle/>
          <a:p>
            <a:pPr marL="0" indent="0" algn="l">
              <a:lnSpc>
                <a:spcPct val="114000"/>
              </a:lnSpc>
              <a:buNone/>
            </a:pPr>
            <a:r>
              <a:rPr lang="en-US" sz="1250" b="1" dirty="0">
                <a:solidFill>
                  <a:srgbClr val="20242B"/>
                </a:solidFill>
                <a:latin typeface="Calibri" pitchFamily="34" charset="0"/>
                <a:ea typeface="Calibri" pitchFamily="34" charset="-122"/>
                <a:cs typeface="Calibri" pitchFamily="34" charset="-120"/>
              </a:rPr>
              <a:t>Robust standardisation.  </a:t>
            </a:r>
            <a:r>
              <a:rPr lang="en-US" sz="1250" dirty="0">
                <a:solidFill>
                  <a:srgbClr val="20242B"/>
                </a:solidFill>
                <a:latin typeface="Calibri" pitchFamily="34" charset="0"/>
                <a:ea typeface="Calibri" pitchFamily="34" charset="-122"/>
                <a:cs typeface="Calibri" pitchFamily="34" charset="-120"/>
              </a:rPr>
              <a:t>Satellite measures have wildly different scales, and satellite data contains junk (clouds, sensor faults). So each change is standardised with medians, which ignore outliers, instead of means, which are dragged around by them:
</a:t>
            </a:r>
            <a:r>
              <a:rPr lang="en-US" sz="1350" b="1" dirty="0">
                <a:solidFill>
                  <a:srgbClr val="1F2B4D"/>
                </a:solidFill>
                <a:latin typeface="Cambria" pitchFamily="34" charset="0"/>
                <a:ea typeface="Cambria" pitchFamily="34" charset="-122"/>
                <a:cs typeface="Cambria" pitchFamily="34" charset="-120"/>
              </a:rPr>
              <a:t>m = median(Δx),   s = 1.4826 · median|Δx − m|,   Δx̃ = (Δx − m)/s</a:t>
            </a:r>
            <a:endParaRPr lang="en-US" sz="1250" dirty="0"/>
          </a:p>
        </p:txBody>
      </p:sp>
      <p:sp>
        <p:nvSpPr>
          <p:cNvPr id="8" name="Text 6"/>
          <p:cNvSpPr/>
          <p:nvPr/>
        </p:nvSpPr>
        <p:spPr>
          <a:xfrm>
            <a:off x="502920" y="5257800"/>
            <a:ext cx="6309360" cy="1371600"/>
          </a:xfrm>
          <a:prstGeom prst="rect">
            <a:avLst/>
          </a:prstGeom>
          <a:noFill/>
          <a:ln/>
        </p:spPr>
        <p:txBody>
          <a:bodyPr wrap="square" lIns="0" tIns="0" rIns="0" bIns="0" rtlCol="0" anchor="t"/>
          <a:lstStyle/>
          <a:p>
            <a:pPr marL="0" indent="0" algn="l">
              <a:lnSpc>
                <a:spcPct val="114000"/>
              </a:lnSpc>
              <a:buNone/>
            </a:pPr>
            <a:r>
              <a:rPr lang="en-US" sz="1200" dirty="0">
                <a:solidFill>
                  <a:srgbClr val="5A6170"/>
                </a:solidFill>
                <a:latin typeface="Calibri" pitchFamily="34" charset="0"/>
                <a:ea typeface="Calibri" pitchFamily="34" charset="-122"/>
                <a:cs typeface="Calibri" pitchFamily="34" charset="-120"/>
              </a:rPr>
              <a:t>That middle quantity is the median absolute deviation; the constant 1.4826 makes it comparable to a standard deviation for well-behaved data, so the scaled numbers stay interpretable.</a:t>
            </a:r>
            <a:endParaRPr lang="en-US" sz="1200" dirty="0"/>
          </a:p>
        </p:txBody>
      </p:sp>
      <p:sp>
        <p:nvSpPr>
          <p:cNvPr id="9" name="Shape 7"/>
          <p:cNvSpPr/>
          <p:nvPr/>
        </p:nvSpPr>
        <p:spPr>
          <a:xfrm>
            <a:off x="7223760" y="1481328"/>
            <a:ext cx="4480560" cy="5074920"/>
          </a:xfrm>
          <a:prstGeom prst="roundRect">
            <a:avLst>
              <a:gd name="adj" fmla="val 1633"/>
            </a:avLst>
          </a:prstGeom>
          <a:solidFill>
            <a:srgbClr val="F4F5F7"/>
          </a:solidFill>
          <a:ln/>
        </p:spPr>
        <p:txBody>
          <a:bodyPr/>
          <a:lstStyle/>
          <a:p>
            <a:endParaRPr lang="en-US"/>
          </a:p>
        </p:txBody>
      </p:sp>
      <p:sp>
        <p:nvSpPr>
          <p:cNvPr id="10" name="Text 8"/>
          <p:cNvSpPr/>
          <p:nvPr/>
        </p:nvSpPr>
        <p:spPr>
          <a:xfrm>
            <a:off x="7452360" y="1691640"/>
            <a:ext cx="4023360" cy="292608"/>
          </a:xfrm>
          <a:prstGeom prst="rect">
            <a:avLst/>
          </a:prstGeom>
          <a:noFill/>
          <a:ln/>
        </p:spPr>
        <p:txBody>
          <a:bodyPr wrap="square" lIns="0" tIns="0" rIns="0" bIns="0" rtlCol="0" anchor="ctr"/>
          <a:lstStyle/>
          <a:p>
            <a:pPr marL="0" indent="0">
              <a:buNone/>
            </a:pPr>
            <a:r>
              <a:rPr lang="en-US" sz="1050" b="1" kern="0" spc="100" dirty="0">
                <a:solidFill>
                  <a:srgbClr val="5A6170"/>
                </a:solidFill>
                <a:latin typeface="Calibri" pitchFamily="34" charset="0"/>
                <a:ea typeface="Calibri" pitchFamily="34" charset="-122"/>
                <a:cs typeface="Calibri" pitchFamily="34" charset="-120"/>
              </a:rPr>
              <a:t>THE LOSS FUNCTION — WHAT “LEARNING” MEANS HERE</a:t>
            </a:r>
            <a:endParaRPr lang="en-US" sz="1050" dirty="0"/>
          </a:p>
        </p:txBody>
      </p:sp>
      <p:sp>
        <p:nvSpPr>
          <p:cNvPr id="11" name="Shape 9"/>
          <p:cNvSpPr/>
          <p:nvPr/>
        </p:nvSpPr>
        <p:spPr>
          <a:xfrm>
            <a:off x="7452360" y="2103120"/>
            <a:ext cx="4023360" cy="777240"/>
          </a:xfrm>
          <a:prstGeom prst="roundRect">
            <a:avLst>
              <a:gd name="adj" fmla="val 8235"/>
            </a:avLst>
          </a:prstGeom>
          <a:solidFill>
            <a:srgbClr val="FFFFFF"/>
          </a:solidFill>
          <a:ln/>
        </p:spPr>
        <p:txBody>
          <a:bodyPr/>
          <a:lstStyle/>
          <a:p>
            <a:endParaRPr lang="en-US"/>
          </a:p>
        </p:txBody>
      </p:sp>
      <p:sp>
        <p:nvSpPr>
          <p:cNvPr id="12" name="Text 10"/>
          <p:cNvSpPr/>
          <p:nvPr/>
        </p:nvSpPr>
        <p:spPr>
          <a:xfrm>
            <a:off x="7589520" y="2103120"/>
            <a:ext cx="3749040" cy="777240"/>
          </a:xfrm>
          <a:prstGeom prst="rect">
            <a:avLst/>
          </a:prstGeom>
          <a:noFill/>
          <a:ln/>
        </p:spPr>
        <p:txBody>
          <a:bodyPr wrap="square" lIns="0" tIns="0" rIns="0" bIns="0" rtlCol="0" anchor="ctr"/>
          <a:lstStyle/>
          <a:p>
            <a:pPr marL="0" indent="0" algn="ctr">
              <a:lnSpc>
                <a:spcPct val="112000"/>
              </a:lnSpc>
              <a:buNone/>
            </a:pPr>
            <a:r>
              <a:rPr lang="en-US" sz="1400" dirty="0">
                <a:solidFill>
                  <a:srgbClr val="20242B"/>
                </a:solidFill>
                <a:latin typeface="Cambria" pitchFamily="34" charset="0"/>
                <a:ea typeface="Cambria" pitchFamily="34" charset="-122"/>
                <a:cs typeface="Cambria" pitchFamily="34" charset="-120"/>
              </a:rPr>
              <a:t>L = SmoothL1( predicted Δx̃ , actual Δx̃ )</a:t>
            </a:r>
            <a:endParaRPr lang="en-US" sz="1400" dirty="0"/>
          </a:p>
          <a:p>
            <a:pPr marL="0" indent="0" algn="ctr">
              <a:lnSpc>
                <a:spcPct val="112000"/>
              </a:lnSpc>
              <a:buNone/>
            </a:pPr>
            <a:r>
              <a:rPr lang="en-US" sz="1400" dirty="0">
                <a:solidFill>
                  <a:srgbClr val="20242B"/>
                </a:solidFill>
                <a:latin typeface="Cambria" pitchFamily="34" charset="0"/>
                <a:ea typeface="Cambria" pitchFamily="34" charset="-122"/>
                <a:cs typeface="Cambria" pitchFamily="34" charset="-120"/>
              </a:rPr>
              <a:t>      + 0.08 · BCE( direction )</a:t>
            </a:r>
            <a:endParaRPr lang="en-US" sz="1400" dirty="0"/>
          </a:p>
        </p:txBody>
      </p:sp>
      <p:sp>
        <p:nvSpPr>
          <p:cNvPr id="13" name="Text 11"/>
          <p:cNvSpPr/>
          <p:nvPr/>
        </p:nvSpPr>
        <p:spPr>
          <a:xfrm>
            <a:off x="7452360" y="3063240"/>
            <a:ext cx="4023360" cy="3383280"/>
          </a:xfrm>
          <a:prstGeom prst="rect">
            <a:avLst/>
          </a:prstGeom>
          <a:noFill/>
          <a:ln/>
        </p:spPr>
        <p:txBody>
          <a:bodyPr wrap="square" lIns="0" tIns="0" rIns="0" bIns="0" rtlCol="0" anchor="t"/>
          <a:lstStyle/>
          <a:p>
            <a:pPr marL="0" indent="0" algn="l">
              <a:lnSpc>
                <a:spcPct val="114000"/>
              </a:lnSpc>
              <a:buNone/>
            </a:pPr>
            <a:r>
              <a:rPr lang="en-US" sz="1200" b="1" dirty="0">
                <a:solidFill>
                  <a:srgbClr val="1F2B4D"/>
                </a:solidFill>
                <a:latin typeface="Calibri" pitchFamily="34" charset="0"/>
                <a:ea typeface="Calibri" pitchFamily="34" charset="-122"/>
                <a:cs typeface="Calibri" pitchFamily="34" charset="-120"/>
              </a:rPr>
              <a:t>SmoothL1  </a:t>
            </a:r>
            <a:r>
              <a:rPr lang="en-US" sz="1200" dirty="0">
                <a:solidFill>
                  <a:srgbClr val="20242B"/>
                </a:solidFill>
                <a:latin typeface="Calibri" pitchFamily="34" charset="0"/>
                <a:ea typeface="Calibri" pitchFamily="34" charset="-122"/>
                <a:cs typeface="Calibri" pitchFamily="34" charset="-120"/>
              </a:rPr>
              <a:t>behaves like squared error for small mistakes (smooth, easy to optimise) and like absolute error for large ones — so a single outlier cannot dominate training.
</a:t>
            </a:r>
            <a:r>
              <a:rPr lang="en-US" sz="1200" b="1" dirty="0">
                <a:solidFill>
                  <a:srgbClr val="1F2B4D"/>
                </a:solidFill>
                <a:latin typeface="Calibri" pitchFamily="34" charset="0"/>
                <a:ea typeface="Calibri" pitchFamily="34" charset="-122"/>
                <a:cs typeface="Calibri" pitchFamily="34" charset="-120"/>
              </a:rPr>
              <a:t>The BCE term  </a:t>
            </a:r>
            <a:r>
              <a:rPr lang="en-US" sz="1200" dirty="0">
                <a:solidFill>
                  <a:srgbClr val="20242B"/>
                </a:solidFill>
                <a:latin typeface="Calibri" pitchFamily="34" charset="0"/>
                <a:ea typeface="Calibri" pitchFamily="34" charset="-122"/>
                <a:cs typeface="Calibri" pitchFamily="34" charset="-120"/>
              </a:rPr>
              <a:t>is a bonus task: also predict merely whether each measure goes up or down. Adding an easier, related task is a standard way to stabilise training; the 0.08 keeps it minor.
</a:t>
            </a:r>
            <a:r>
              <a:rPr lang="en-US" sz="1200" dirty="0">
                <a:solidFill>
                  <a:srgbClr val="5A6170"/>
                </a:solidFill>
                <a:latin typeface="Calibri" pitchFamily="34" charset="0"/>
                <a:ea typeface="Calibri" pitchFamily="34" charset="-122"/>
                <a:cs typeface="Calibri" pitchFamily="34" charset="-120"/>
              </a:rPr>
              <a:t>Training cost: ~45 minutes on a laptop GPU.</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4 · FROM 16 NUMBERS TO A CORRECTION</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Two tiny tree models — and a finding worth a paper section</a:t>
            </a:r>
            <a:endParaRPr lang="en-US" sz="2700" dirty="0"/>
          </a:p>
        </p:txBody>
      </p:sp>
      <p:sp>
        <p:nvSpPr>
          <p:cNvPr id="4" name="Text 2"/>
          <p:cNvSpPr/>
          <p:nvPr/>
        </p:nvSpPr>
        <p:spPr>
          <a:xfrm>
            <a:off x="502920" y="1463040"/>
            <a:ext cx="6309360" cy="1051560"/>
          </a:xfrm>
          <a:prstGeom prst="rect">
            <a:avLst/>
          </a:prstGeom>
          <a:noFill/>
          <a:ln/>
        </p:spPr>
        <p:txBody>
          <a:bodyPr wrap="square" lIns="0" tIns="0" rIns="0" bIns="0" rtlCol="0" anchor="t"/>
          <a:lstStyle/>
          <a:p>
            <a:pPr marL="0" indent="0" algn="l">
              <a:lnSpc>
                <a:spcPct val="114000"/>
              </a:lnSpc>
              <a:buNone/>
            </a:pPr>
            <a:r>
              <a:rPr lang="en-US" sz="1250" dirty="0">
                <a:solidFill>
                  <a:srgbClr val="20242B"/>
                </a:solidFill>
                <a:latin typeface="Calibri" pitchFamily="34" charset="0"/>
                <a:ea typeface="Calibri" pitchFamily="34" charset="-122"/>
                <a:cs typeface="Calibri" pitchFamily="34" charset="-120"/>
              </a:rPr>
              <a:t>The network outputs 16 numbers per district. Two otherwise identical decision-tree ensembles are trained — one given those numbers, one not. (A decision-tree ensemble asks a sequence of yes/no questions like “was February hotter than normal?” and averages hundreds of tiny question-trees.)</a:t>
            </a:r>
            <a:endParaRPr lang="en-US" sz="1250" dirty="0"/>
          </a:p>
        </p:txBody>
      </p:sp>
      <p:sp>
        <p:nvSpPr>
          <p:cNvPr id="5" name="Shape 3"/>
          <p:cNvSpPr/>
          <p:nvPr/>
        </p:nvSpPr>
        <p:spPr>
          <a:xfrm>
            <a:off x="502920" y="2606040"/>
            <a:ext cx="6309360" cy="777240"/>
          </a:xfrm>
          <a:prstGeom prst="roundRect">
            <a:avLst>
              <a:gd name="adj" fmla="val 8235"/>
            </a:avLst>
          </a:prstGeom>
          <a:solidFill>
            <a:srgbClr val="EAF1FB"/>
          </a:solidFill>
          <a:ln/>
        </p:spPr>
        <p:txBody>
          <a:bodyPr/>
          <a:lstStyle/>
          <a:p>
            <a:endParaRPr lang="en-US"/>
          </a:p>
        </p:txBody>
      </p:sp>
      <p:sp>
        <p:nvSpPr>
          <p:cNvPr id="6" name="Text 4"/>
          <p:cNvSpPr/>
          <p:nvPr/>
        </p:nvSpPr>
        <p:spPr>
          <a:xfrm>
            <a:off x="640080" y="2606040"/>
            <a:ext cx="6035040" cy="777240"/>
          </a:xfrm>
          <a:prstGeom prst="rect">
            <a:avLst/>
          </a:prstGeom>
          <a:noFill/>
          <a:ln/>
        </p:spPr>
        <p:txBody>
          <a:bodyPr wrap="square" lIns="0" tIns="0" rIns="0" bIns="0" rtlCol="0" anchor="ctr"/>
          <a:lstStyle/>
          <a:p>
            <a:pPr marL="0" indent="0" algn="ctr">
              <a:lnSpc>
                <a:spcPct val="112000"/>
              </a:lnSpc>
              <a:buNone/>
            </a:pPr>
            <a:r>
              <a:rPr lang="en-US" sz="1600" b="1" dirty="0">
                <a:solidFill>
                  <a:srgbClr val="20242B"/>
                </a:solidFill>
                <a:latin typeface="Cambria" pitchFamily="34" charset="0"/>
                <a:ea typeface="Cambria" pitchFamily="34" charset="-122"/>
                <a:cs typeface="Cambria" pitchFamily="34" charset="-120"/>
              </a:rPr>
              <a:t>c_crop = ŷ(with the 16) − ŷ(without)</a:t>
            </a:r>
            <a:endParaRPr lang="en-US" sz="1600" dirty="0"/>
          </a:p>
          <a:p>
            <a:pPr marL="0" indent="0" algn="ctr">
              <a:lnSpc>
                <a:spcPct val="112000"/>
              </a:lnSpc>
              <a:buNone/>
            </a:pPr>
            <a:r>
              <a:rPr lang="en-US" sz="1600" b="1" dirty="0">
                <a:solidFill>
                  <a:srgbClr val="20242B"/>
                </a:solidFill>
                <a:latin typeface="Cambria" pitchFamily="34" charset="0"/>
                <a:ea typeface="Cambria" pitchFamily="34" charset="-122"/>
                <a:cs typeface="Cambria" pitchFamily="34" charset="-120"/>
              </a:rPr>
              <a:t>ŷ  +=  2.25 · c_crop</a:t>
            </a:r>
            <a:endParaRPr lang="en-US" sz="1600" dirty="0"/>
          </a:p>
        </p:txBody>
      </p:sp>
      <p:sp>
        <p:nvSpPr>
          <p:cNvPr id="7" name="Text 5"/>
          <p:cNvSpPr/>
          <p:nvPr/>
        </p:nvSpPr>
        <p:spPr>
          <a:xfrm>
            <a:off x="502920" y="3566160"/>
            <a:ext cx="6309360" cy="1234440"/>
          </a:xfrm>
          <a:prstGeom prst="rect">
            <a:avLst/>
          </a:prstGeom>
          <a:noFill/>
          <a:ln/>
        </p:spPr>
        <p:txBody>
          <a:bodyPr wrap="square" lIns="0" tIns="0" rIns="0" bIns="0" rtlCol="0" anchor="t"/>
          <a:lstStyle/>
          <a:p>
            <a:pPr marL="0" indent="0" algn="l">
              <a:lnSpc>
                <a:spcPct val="114000"/>
              </a:lnSpc>
              <a:buNone/>
            </a:pPr>
            <a:r>
              <a:rPr lang="en-US" sz="1250" b="1" dirty="0">
                <a:solidFill>
                  <a:srgbClr val="20242B"/>
                </a:solidFill>
                <a:latin typeface="Calibri" pitchFamily="34" charset="0"/>
                <a:ea typeface="Calibri" pitchFamily="34" charset="-122"/>
                <a:cs typeface="Calibri" pitchFamily="34" charset="-120"/>
              </a:rPr>
              <a:t>Deliberately tiny trees: </a:t>
            </a:r>
            <a:r>
              <a:rPr lang="en-US" sz="1250" dirty="0">
                <a:solidFill>
                  <a:srgbClr val="20242B"/>
                </a:solidFill>
                <a:latin typeface="Calibri" pitchFamily="34" charset="0"/>
                <a:ea typeface="Calibri" pitchFamily="34" charset="-122"/>
                <a:cs typeface="Calibri" pitchFamily="34" charset="-120"/>
              </a:rPr>
              <a:t>350 trees of depth 2 — each asks only two yes/no questions — with strong complexity penalties, two random starts averaged. Depth 2 is a constraint chosen because so few harvests exist to fit on.</a:t>
            </a:r>
            <a:endParaRPr lang="en-US" sz="1250" dirty="0"/>
          </a:p>
        </p:txBody>
      </p:sp>
      <p:sp>
        <p:nvSpPr>
          <p:cNvPr id="8" name="Shape 6"/>
          <p:cNvSpPr/>
          <p:nvPr/>
        </p:nvSpPr>
        <p:spPr>
          <a:xfrm>
            <a:off x="502920" y="4892040"/>
            <a:ext cx="6309360" cy="1645920"/>
          </a:xfrm>
          <a:prstGeom prst="roundRect">
            <a:avLst>
              <a:gd name="adj" fmla="val 3889"/>
            </a:avLst>
          </a:prstGeom>
          <a:solidFill>
            <a:srgbClr val="FBF3E2"/>
          </a:solidFill>
          <a:ln/>
        </p:spPr>
        <p:txBody>
          <a:bodyPr/>
          <a:lstStyle/>
          <a:p>
            <a:endParaRPr lang="en-US"/>
          </a:p>
        </p:txBody>
      </p:sp>
      <p:sp>
        <p:nvSpPr>
          <p:cNvPr id="9" name="Text 7"/>
          <p:cNvSpPr/>
          <p:nvPr/>
        </p:nvSpPr>
        <p:spPr>
          <a:xfrm>
            <a:off x="731520" y="5029200"/>
            <a:ext cx="5852160" cy="1371600"/>
          </a:xfrm>
          <a:prstGeom prst="rect">
            <a:avLst/>
          </a:prstGeom>
          <a:noFill/>
          <a:ln/>
        </p:spPr>
        <p:txBody>
          <a:bodyPr wrap="square" lIns="0" tIns="0" rIns="0" bIns="0" rtlCol="0" anchor="ctr"/>
          <a:lstStyle/>
          <a:p>
            <a:pPr marL="0" indent="0">
              <a:lnSpc>
                <a:spcPct val="118000"/>
              </a:lnSpc>
              <a:buNone/>
            </a:pPr>
            <a:r>
              <a:rPr lang="en-US" sz="1250" b="1" dirty="0">
                <a:solidFill>
                  <a:srgbClr val="C98500"/>
                </a:solidFill>
                <a:latin typeface="Calibri" pitchFamily="34" charset="0"/>
                <a:ea typeface="Calibri" pitchFamily="34" charset="-122"/>
                <a:cs typeface="Calibri" pitchFamily="34" charset="-120"/>
              </a:rPr>
              <a:t>Rewari 2022:  </a:t>
            </a:r>
            <a:r>
              <a:rPr lang="en-US" sz="1250" dirty="0">
                <a:solidFill>
                  <a:srgbClr val="20242B"/>
                </a:solidFill>
                <a:latin typeface="Calibri" pitchFamily="34" charset="0"/>
                <a:ea typeface="Calibri" pitchFamily="34" charset="-122"/>
                <a:cs typeface="Calibri" pitchFamily="34" charset="-120"/>
              </a:rPr>
              <a:t>the network saw a struggling crop the weather models had missed. c_crop = −55.84, amplified: 2.25 × (−55.84) = −125.65. The forecast drops from 4,287.2 to 4,161.6 — and the harvest came in at 4,150.</a:t>
            </a:r>
            <a:endParaRPr lang="en-US" sz="1250" dirty="0"/>
          </a:p>
        </p:txBody>
      </p:sp>
      <p:sp>
        <p:nvSpPr>
          <p:cNvPr id="10" name="Shape 8"/>
          <p:cNvSpPr/>
          <p:nvPr/>
        </p:nvSpPr>
        <p:spPr>
          <a:xfrm>
            <a:off x="7223760" y="1463040"/>
            <a:ext cx="4480560" cy="5074920"/>
          </a:xfrm>
          <a:prstGeom prst="roundRect">
            <a:avLst>
              <a:gd name="adj" fmla="val 1633"/>
            </a:avLst>
          </a:prstGeom>
          <a:solidFill>
            <a:srgbClr val="1F2B4D"/>
          </a:solidFill>
          <a:ln/>
        </p:spPr>
        <p:txBody>
          <a:bodyPr/>
          <a:lstStyle/>
          <a:p>
            <a:endParaRPr lang="en-US"/>
          </a:p>
        </p:txBody>
      </p:sp>
      <p:sp>
        <p:nvSpPr>
          <p:cNvPr id="11" name="Text 9"/>
          <p:cNvSpPr/>
          <p:nvPr/>
        </p:nvSpPr>
        <p:spPr>
          <a:xfrm>
            <a:off x="7498080" y="1691640"/>
            <a:ext cx="3931920" cy="292608"/>
          </a:xfrm>
          <a:prstGeom prst="rect">
            <a:avLst/>
          </a:prstGeom>
          <a:noFill/>
          <a:ln/>
        </p:spPr>
        <p:txBody>
          <a:bodyPr wrap="square" lIns="0" tIns="0" rIns="0" bIns="0" rtlCol="0" anchor="ctr"/>
          <a:lstStyle/>
          <a:p>
            <a:pPr marL="0" indent="0">
              <a:buNone/>
            </a:pPr>
            <a:r>
              <a:rPr lang="en-US" sz="1100" b="1" kern="0" spc="100" dirty="0">
                <a:solidFill>
                  <a:srgbClr val="E8B95A"/>
                </a:solidFill>
                <a:latin typeface="Calibri" pitchFamily="34" charset="0"/>
                <a:ea typeface="Calibri" pitchFamily="34" charset="-122"/>
                <a:cs typeface="Calibri" pitchFamily="34" charset="-120"/>
              </a:rPr>
              <a:t>A FINDING WORTH PRESENTING</a:t>
            </a:r>
            <a:endParaRPr lang="en-US" sz="1100" dirty="0"/>
          </a:p>
        </p:txBody>
      </p:sp>
      <p:sp>
        <p:nvSpPr>
          <p:cNvPr id="12" name="Text 10"/>
          <p:cNvSpPr/>
          <p:nvPr/>
        </p:nvSpPr>
        <p:spPr>
          <a:xfrm>
            <a:off x="7498080" y="2103120"/>
            <a:ext cx="3931920" cy="4206240"/>
          </a:xfrm>
          <a:prstGeom prst="rect">
            <a:avLst/>
          </a:prstGeom>
          <a:noFill/>
          <a:ln/>
        </p:spPr>
        <p:txBody>
          <a:bodyPr wrap="square" lIns="0" tIns="0" rIns="0" bIns="0" rtlCol="0" anchor="t"/>
          <a:lstStyle/>
          <a:p>
            <a:pPr marL="0" indent="0" algn="l">
              <a:lnSpc>
                <a:spcPct val="114000"/>
              </a:lnSpc>
              <a:buNone/>
            </a:pPr>
            <a:r>
              <a:rPr lang="en-US" sz="1200" dirty="0">
                <a:solidFill>
                  <a:srgbClr val="D9E2F5"/>
                </a:solidFill>
                <a:latin typeface="Calibri" pitchFamily="34" charset="0"/>
                <a:ea typeface="Calibri" pitchFamily="34" charset="-122"/>
                <a:cs typeface="Calibri" pitchFamily="34" charset="-120"/>
              </a:rPr>
              <a:t>The earlier model fed 30 numbers into this stage. Six were plain averages of raw satellite indices needing no network at all. Measured against actual errors, they contributed nothing — correlation 0.024, indistinguishable from zero — and made accuracy worse.
Dropping those six and eight other weak inputs leaves 16, which score better than all 30 — and can be trusted at nearly double the weight (2.25 vs 1.25).
</a:t>
            </a:r>
            <a:r>
              <a:rPr lang="en-US" sz="1400" b="1" dirty="0">
                <a:solidFill>
                  <a:srgbClr val="E8B95A"/>
                </a:solidFill>
                <a:latin typeface="Calibri" pitchFamily="34" charset="0"/>
                <a:ea typeface="Calibri" pitchFamily="34" charset="-122"/>
                <a:cs typeface="Calibri" pitchFamily="34" charset="-120"/>
              </a:rPr>
              <a:t>Removing features let the remaining signal be believed harder.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4 · PREVENTING THE MODEL FROM CHEATING</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Two mechanisms, both essential</a:t>
            </a:r>
            <a:endParaRPr lang="en-US" sz="2700" dirty="0"/>
          </a:p>
        </p:txBody>
      </p:sp>
      <p:sp>
        <p:nvSpPr>
          <p:cNvPr id="4" name="Shape 2"/>
          <p:cNvSpPr/>
          <p:nvPr/>
        </p:nvSpPr>
        <p:spPr>
          <a:xfrm>
            <a:off x="502920" y="1600200"/>
            <a:ext cx="5486400" cy="2377440"/>
          </a:xfrm>
          <a:prstGeom prst="roundRect">
            <a:avLst>
              <a:gd name="adj" fmla="val 3077"/>
            </a:avLst>
          </a:prstGeom>
          <a:solidFill>
            <a:srgbClr val="EAF1FB"/>
          </a:solidFill>
          <a:ln/>
        </p:spPr>
        <p:txBody>
          <a:bodyPr/>
          <a:lstStyle/>
          <a:p>
            <a:endParaRPr lang="en-US"/>
          </a:p>
        </p:txBody>
      </p:sp>
      <p:sp>
        <p:nvSpPr>
          <p:cNvPr id="5" name="Text 3"/>
          <p:cNvSpPr/>
          <p:nvPr/>
        </p:nvSpPr>
        <p:spPr>
          <a:xfrm>
            <a:off x="731520" y="1783080"/>
            <a:ext cx="5029200" cy="411480"/>
          </a:xfrm>
          <a:prstGeom prst="rect">
            <a:avLst/>
          </a:prstGeom>
          <a:noFill/>
          <a:ln/>
        </p:spPr>
        <p:txBody>
          <a:bodyPr wrap="square" lIns="0" tIns="0" rIns="0" bIns="0" rtlCol="0" anchor="ctr"/>
          <a:lstStyle/>
          <a:p>
            <a:pPr marL="0" indent="0">
              <a:buNone/>
            </a:pPr>
            <a:r>
              <a:rPr lang="en-US" sz="1600" b="1" dirty="0">
                <a:solidFill>
                  <a:srgbClr val="1F2B4D"/>
                </a:solidFill>
                <a:latin typeface="Calibri" pitchFamily="34" charset="0"/>
                <a:ea typeface="Calibri" pitchFamily="34" charset="-122"/>
                <a:cs typeface="Calibri" pitchFamily="34" charset="-120"/>
              </a:rPr>
              <a:t>Time cutoffs</a:t>
            </a:r>
            <a:endParaRPr lang="en-US" sz="1600" dirty="0"/>
          </a:p>
        </p:txBody>
      </p:sp>
      <p:sp>
        <p:nvSpPr>
          <p:cNvPr id="6" name="Text 4"/>
          <p:cNvSpPr/>
          <p:nvPr/>
        </p:nvSpPr>
        <p:spPr>
          <a:xfrm>
            <a:off x="731520" y="2240280"/>
            <a:ext cx="5074920" cy="1645920"/>
          </a:xfrm>
          <a:prstGeom prst="rect">
            <a:avLst/>
          </a:prstGeom>
          <a:noFill/>
          <a:ln/>
        </p:spPr>
        <p:txBody>
          <a:bodyPr wrap="square" lIns="0" tIns="0" rIns="0" bIns="0" rtlCol="0" anchor="ctr"/>
          <a:lstStyle/>
          <a:p>
            <a:pPr marL="0" indent="0">
              <a:lnSpc>
                <a:spcPct val="115000"/>
              </a:lnSpc>
              <a:buNone/>
            </a:pPr>
            <a:r>
              <a:rPr lang="en-US" sz="1250" dirty="0">
                <a:solidFill>
                  <a:srgbClr val="20242B"/>
                </a:solidFill>
                <a:latin typeface="Calibri" pitchFamily="34" charset="0"/>
                <a:ea typeface="Calibri" pitchFamily="34" charset="-122"/>
                <a:cs typeface="Calibri" pitchFamily="34" charset="-120"/>
              </a:rPr>
              <a:t>For a test season, nothing from that season or later is used anywhere — not for the network, not for the trees, not even for computing the averages used to standardise inputs. The test season simply does not exist during training.</a:t>
            </a:r>
            <a:endParaRPr lang="en-US" sz="1250" dirty="0"/>
          </a:p>
        </p:txBody>
      </p:sp>
      <p:sp>
        <p:nvSpPr>
          <p:cNvPr id="7" name="Shape 5"/>
          <p:cNvSpPr/>
          <p:nvPr/>
        </p:nvSpPr>
        <p:spPr>
          <a:xfrm>
            <a:off x="6217920" y="1600200"/>
            <a:ext cx="5486400" cy="2377440"/>
          </a:xfrm>
          <a:prstGeom prst="roundRect">
            <a:avLst>
              <a:gd name="adj" fmla="val 3077"/>
            </a:avLst>
          </a:prstGeom>
          <a:solidFill>
            <a:srgbClr val="FBF3E2"/>
          </a:solidFill>
          <a:ln/>
        </p:spPr>
        <p:txBody>
          <a:bodyPr/>
          <a:lstStyle/>
          <a:p>
            <a:endParaRPr lang="en-US"/>
          </a:p>
        </p:txBody>
      </p:sp>
      <p:sp>
        <p:nvSpPr>
          <p:cNvPr id="8" name="Text 6"/>
          <p:cNvSpPr/>
          <p:nvPr/>
        </p:nvSpPr>
        <p:spPr>
          <a:xfrm>
            <a:off x="6446520" y="1783080"/>
            <a:ext cx="5029200" cy="411480"/>
          </a:xfrm>
          <a:prstGeom prst="rect">
            <a:avLst/>
          </a:prstGeom>
          <a:noFill/>
          <a:ln/>
        </p:spPr>
        <p:txBody>
          <a:bodyPr wrap="square" lIns="0" tIns="0" rIns="0" bIns="0" rtlCol="0" anchor="ctr"/>
          <a:lstStyle/>
          <a:p>
            <a:pPr marL="0" indent="0">
              <a:buNone/>
            </a:pPr>
            <a:r>
              <a:rPr lang="en-US" sz="1600" b="1" dirty="0">
                <a:solidFill>
                  <a:srgbClr val="C98500"/>
                </a:solidFill>
                <a:latin typeface="Calibri" pitchFamily="34" charset="0"/>
                <a:ea typeface="Calibri" pitchFamily="34" charset="-122"/>
                <a:cs typeface="Calibri" pitchFamily="34" charset="-120"/>
              </a:rPr>
              <a:t>District cross-fitting</a:t>
            </a:r>
            <a:endParaRPr lang="en-US" sz="1600" dirty="0"/>
          </a:p>
        </p:txBody>
      </p:sp>
      <p:sp>
        <p:nvSpPr>
          <p:cNvPr id="9" name="Text 7"/>
          <p:cNvSpPr/>
          <p:nvPr/>
        </p:nvSpPr>
        <p:spPr>
          <a:xfrm>
            <a:off x="6446520" y="2240280"/>
            <a:ext cx="5074920" cy="1645920"/>
          </a:xfrm>
          <a:prstGeom prst="rect">
            <a:avLst/>
          </a:prstGeom>
          <a:noFill/>
          <a:ln/>
        </p:spPr>
        <p:txBody>
          <a:bodyPr wrap="square" lIns="0" tIns="0" rIns="0" bIns="0" rtlCol="0" anchor="ctr"/>
          <a:lstStyle/>
          <a:p>
            <a:pPr marL="0" indent="0">
              <a:lnSpc>
                <a:spcPct val="115000"/>
              </a:lnSpc>
              <a:buNone/>
            </a:pPr>
            <a:r>
              <a:rPr lang="en-US" sz="1250" dirty="0">
                <a:solidFill>
                  <a:srgbClr val="20242B"/>
                </a:solidFill>
                <a:latin typeface="Calibri" pitchFamily="34" charset="0"/>
                <a:ea typeface="Calibri" pitchFamily="34" charset="-122"/>
                <a:cs typeface="Calibri" pitchFamily="34" charset="-120"/>
              </a:rPr>
              <a:t>Districts are split into three groups. The 16 numbers for a district in group 1 come from a network trained without group 1. Otherwise the numbers could look useful merely because the network had memorised those districts.</a:t>
            </a:r>
            <a:endParaRPr lang="en-US" sz="1250" dirty="0"/>
          </a:p>
        </p:txBody>
      </p:sp>
      <p:sp>
        <p:nvSpPr>
          <p:cNvPr id="10" name="Text 8"/>
          <p:cNvSpPr/>
          <p:nvPr/>
        </p:nvSpPr>
        <p:spPr>
          <a:xfrm>
            <a:off x="502920" y="4297680"/>
            <a:ext cx="11201400" cy="914400"/>
          </a:xfrm>
          <a:prstGeom prst="rect">
            <a:avLst/>
          </a:prstGeom>
          <a:noFill/>
          <a:ln/>
        </p:spPr>
        <p:txBody>
          <a:bodyPr wrap="square" lIns="0" tIns="0" rIns="0" bIns="0" rtlCol="0" anchor="t"/>
          <a:lstStyle/>
          <a:p>
            <a:pPr marL="0" indent="0" algn="l">
              <a:lnSpc>
                <a:spcPct val="114000"/>
              </a:lnSpc>
              <a:buNone/>
            </a:pPr>
            <a:r>
              <a:rPr lang="en-US" sz="1350" b="1" dirty="0">
                <a:solidFill>
                  <a:srgbClr val="20242B"/>
                </a:solidFill>
                <a:latin typeface="Calibri" pitchFamily="34" charset="0"/>
                <a:ea typeface="Calibri" pitchFamily="34" charset="-122"/>
                <a:cs typeface="Calibri" pitchFamily="34" charset="-120"/>
              </a:rPr>
              <a:t>Why both?  </a:t>
            </a:r>
            <a:r>
              <a:rPr lang="en-US" sz="1350" dirty="0">
                <a:solidFill>
                  <a:srgbClr val="20242B"/>
                </a:solidFill>
                <a:latin typeface="Calibri" pitchFamily="34" charset="0"/>
                <a:ea typeface="Calibri" pitchFamily="34" charset="-122"/>
                <a:cs typeface="Calibri" pitchFamily="34" charset="-120"/>
              </a:rPr>
              <a:t>Time cutoffs stop the model from seeing the future. Cross-fitting stops it from seeing itself — from being rewarded for recognising districts rather than understanding crops. Each closes a leak the other cannot.</a:t>
            </a:r>
            <a:endParaRPr lang="en-US" sz="1350" dirty="0"/>
          </a:p>
        </p:txBody>
      </p:sp>
      <p:pic>
        <p:nvPicPr>
          <p:cNvPr id="11" name="Image 0" descr="charts/02_ladder.png"/>
          <p:cNvPicPr>
            <a:picLocks noChangeAspect="1"/>
          </p:cNvPicPr>
          <p:nvPr/>
        </p:nvPicPr>
        <p:blipFill>
          <a:blip r:embed="rId3"/>
          <a:stretch>
            <a:fillRect/>
          </a:stretch>
        </p:blipFill>
        <p:spPr>
          <a:xfrm>
            <a:off x="2194560" y="5029200"/>
            <a:ext cx="4937760" cy="1691640"/>
          </a:xfrm>
          <a:prstGeom prst="rect">
            <a:avLst/>
          </a:prstGeom>
        </p:spPr>
      </p:pic>
      <p:sp>
        <p:nvSpPr>
          <p:cNvPr id="12" name="Text 9"/>
          <p:cNvSpPr/>
          <p:nvPr/>
        </p:nvSpPr>
        <p:spPr>
          <a:xfrm>
            <a:off x="7315200" y="5623560"/>
            <a:ext cx="4206240" cy="548640"/>
          </a:xfrm>
          <a:prstGeom prst="rect">
            <a:avLst/>
          </a:prstGeom>
          <a:noFill/>
          <a:ln/>
        </p:spPr>
        <p:txBody>
          <a:bodyPr wrap="square" lIns="0" tIns="0" rIns="0" bIns="0" rtlCol="0" anchor="ctr"/>
          <a:lstStyle/>
          <a:p>
            <a:pPr marL="0" indent="0">
              <a:lnSpc>
                <a:spcPct val="112000"/>
              </a:lnSpc>
              <a:buNone/>
            </a:pPr>
            <a:r>
              <a:rPr lang="en-US" sz="1150" dirty="0">
                <a:solidFill>
                  <a:srgbClr val="5A6170"/>
                </a:solidFill>
                <a:latin typeface="Calibri" pitchFamily="34" charset="0"/>
                <a:ea typeface="Calibri" pitchFamily="34" charset="-122"/>
                <a:cs typeface="Calibri" pitchFamily="34" charset="-120"/>
              </a:rPr>
              <a:t>Accuracy after each stage — the running score so far.</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5 · FROM ONE NUMBER TO A DISTRIBUTION</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Use the errors the model actually made — not an assumed bell curve</a:t>
            </a:r>
            <a:endParaRPr lang="en-US" sz="2700" dirty="0"/>
          </a:p>
        </p:txBody>
      </p:sp>
      <p:sp>
        <p:nvSpPr>
          <p:cNvPr id="4" name="Shape 2"/>
          <p:cNvSpPr/>
          <p:nvPr/>
        </p:nvSpPr>
        <p:spPr>
          <a:xfrm>
            <a:off x="502920" y="1481328"/>
            <a:ext cx="11201400" cy="777240"/>
          </a:xfrm>
          <a:prstGeom prst="roundRect">
            <a:avLst>
              <a:gd name="adj" fmla="val 7059"/>
            </a:avLst>
          </a:prstGeom>
          <a:solidFill>
            <a:srgbClr val="1F2B4D"/>
          </a:solidFill>
          <a:ln/>
        </p:spPr>
        <p:txBody>
          <a:bodyPr/>
          <a:lstStyle/>
          <a:p>
            <a:endParaRPr lang="en-US"/>
          </a:p>
        </p:txBody>
      </p:sp>
      <p:sp>
        <p:nvSpPr>
          <p:cNvPr id="5" name="Text 3"/>
          <p:cNvSpPr/>
          <p:nvPr/>
        </p:nvSpPr>
        <p:spPr>
          <a:xfrm>
            <a:off x="777240" y="1536192"/>
            <a:ext cx="10698480" cy="667512"/>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The idea: if the model has historically come in 300 kg/ha below reality 10% of the time, then the 10% quantile sits 300 below the new forecast. Past honesty about your own mistakes is the best available guide to future uncertainty.</a:t>
            </a:r>
            <a:endParaRPr lang="en-US" sz="1300" dirty="0"/>
          </a:p>
        </p:txBody>
      </p:sp>
      <p:sp>
        <p:nvSpPr>
          <p:cNvPr id="6" name="Shape 4"/>
          <p:cNvSpPr/>
          <p:nvPr/>
        </p:nvSpPr>
        <p:spPr>
          <a:xfrm>
            <a:off x="502920" y="2514600"/>
            <a:ext cx="384048" cy="384048"/>
          </a:xfrm>
          <a:prstGeom prst="ellipse">
            <a:avLst/>
          </a:prstGeom>
          <a:solidFill>
            <a:srgbClr val="C98500"/>
          </a:solidFill>
          <a:ln/>
        </p:spPr>
        <p:txBody>
          <a:bodyPr/>
          <a:lstStyle/>
          <a:p>
            <a:endParaRPr lang="en-US"/>
          </a:p>
        </p:txBody>
      </p:sp>
      <p:sp>
        <p:nvSpPr>
          <p:cNvPr id="7" name="Text 5"/>
          <p:cNvSpPr/>
          <p:nvPr/>
        </p:nvSpPr>
        <p:spPr>
          <a:xfrm>
            <a:off x="502920" y="25054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05840" y="2478024"/>
            <a:ext cx="4572000" cy="45720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Collect past errors</a:t>
            </a:r>
            <a:endParaRPr lang="en-US" sz="1400" dirty="0"/>
          </a:p>
        </p:txBody>
      </p:sp>
      <p:sp>
        <p:nvSpPr>
          <p:cNvPr id="9" name="Text 7"/>
          <p:cNvSpPr/>
          <p:nvPr/>
        </p:nvSpPr>
        <p:spPr>
          <a:xfrm>
            <a:off x="1005840" y="2907792"/>
            <a:ext cx="5120640" cy="731520"/>
          </a:xfrm>
          <a:prstGeom prst="rect">
            <a:avLst/>
          </a:prstGeom>
          <a:noFill/>
          <a:ln/>
        </p:spPr>
        <p:txBody>
          <a:bodyPr wrap="square" lIns="0" tIns="0" rIns="0" bIns="0" rtlCol="0" anchor="t"/>
          <a:lstStyle/>
          <a:p>
            <a:pPr marL="0" indent="0" algn="l">
              <a:lnSpc>
                <a:spcPct val="114000"/>
              </a:lnSpc>
              <a:buNone/>
            </a:pPr>
            <a:r>
              <a:rPr lang="en-US" sz="1200" dirty="0">
                <a:solidFill>
                  <a:srgbClr val="20242B"/>
                </a:solidFill>
                <a:latin typeface="Calibri" pitchFamily="34" charset="0"/>
                <a:ea typeface="Calibri" pitchFamily="34" charset="-122"/>
                <a:cs typeface="Calibri" pitchFamily="34" charset="-120"/>
              </a:rPr>
              <a:t>For every district-season already forecast:  </a:t>
            </a:r>
            <a:r>
              <a:rPr lang="en-US" sz="1200" b="1" dirty="0">
                <a:solidFill>
                  <a:srgbClr val="1F2B4D"/>
                </a:solidFill>
                <a:latin typeface="Cambria" pitchFamily="34" charset="0"/>
                <a:ea typeface="Cambria" pitchFamily="34" charset="-122"/>
                <a:cs typeface="Cambria" pitchFamily="34" charset="-120"/>
              </a:rPr>
              <a:t>eᵢ = yᵢ(actual) − ŷᵢ</a:t>
            </a:r>
            <a:r>
              <a:rPr lang="en-US" sz="1200" dirty="0">
                <a:solidFill>
                  <a:srgbClr val="20242B"/>
                </a:solidFill>
                <a:latin typeface="Calibri" pitchFamily="34" charset="0"/>
                <a:ea typeface="Calibri" pitchFamily="34" charset="-122"/>
                <a:cs typeface="Calibri" pitchFamily="34" charset="-120"/>
              </a:rPr>
              <a:t>.  Only seasons before the one being forecast are allowed.</a:t>
            </a:r>
            <a:endParaRPr lang="en-US" sz="1200" dirty="0"/>
          </a:p>
        </p:txBody>
      </p:sp>
      <p:sp>
        <p:nvSpPr>
          <p:cNvPr id="10" name="Shape 8"/>
          <p:cNvSpPr/>
          <p:nvPr/>
        </p:nvSpPr>
        <p:spPr>
          <a:xfrm>
            <a:off x="502920" y="3794760"/>
            <a:ext cx="384048" cy="384048"/>
          </a:xfrm>
          <a:prstGeom prst="ellipse">
            <a:avLst/>
          </a:prstGeom>
          <a:solidFill>
            <a:srgbClr val="C98500"/>
          </a:solidFill>
          <a:ln/>
        </p:spPr>
        <p:txBody>
          <a:bodyPr/>
          <a:lstStyle/>
          <a:p>
            <a:endParaRPr lang="en-US"/>
          </a:p>
        </p:txBody>
      </p:sp>
      <p:sp>
        <p:nvSpPr>
          <p:cNvPr id="11" name="Text 9"/>
          <p:cNvSpPr/>
          <p:nvPr/>
        </p:nvSpPr>
        <p:spPr>
          <a:xfrm>
            <a:off x="502920" y="37856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005840" y="3758184"/>
            <a:ext cx="5486400" cy="45720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Put errors on a common scale</a:t>
            </a:r>
            <a:endParaRPr lang="en-US" sz="1400" dirty="0"/>
          </a:p>
        </p:txBody>
      </p:sp>
      <p:sp>
        <p:nvSpPr>
          <p:cNvPr id="13" name="Text 11"/>
          <p:cNvSpPr/>
          <p:nvPr/>
        </p:nvSpPr>
        <p:spPr>
          <a:xfrm>
            <a:off x="1005840" y="4187952"/>
            <a:ext cx="5120640" cy="1188720"/>
          </a:xfrm>
          <a:prstGeom prst="rect">
            <a:avLst/>
          </a:prstGeom>
          <a:noFill/>
          <a:ln/>
        </p:spPr>
        <p:txBody>
          <a:bodyPr wrap="square" lIns="0" tIns="0" rIns="0" bIns="0" rtlCol="0" anchor="t"/>
          <a:lstStyle/>
          <a:p>
            <a:pPr marL="0" indent="0" algn="l">
              <a:lnSpc>
                <a:spcPct val="114000"/>
              </a:lnSpc>
              <a:buNone/>
            </a:pPr>
            <a:r>
              <a:rPr lang="en-US" sz="1200" dirty="0">
                <a:solidFill>
                  <a:srgbClr val="20242B"/>
                </a:solidFill>
                <a:latin typeface="Calibri" pitchFamily="34" charset="0"/>
                <a:ea typeface="Calibri" pitchFamily="34" charset="-122"/>
                <a:cs typeface="Calibri" pitchFamily="34" charset="-120"/>
              </a:rPr>
              <a:t>A 300 kg/ha error means something different in a stable district than a volatile one. Each error is divided by a district-specific size:
</a:t>
            </a:r>
            <a:r>
              <a:rPr lang="en-US" sz="1250" b="1" dirty="0">
                <a:solidFill>
                  <a:srgbClr val="1F2B4D"/>
                </a:solidFill>
                <a:latin typeface="Cambria" pitchFamily="34" charset="0"/>
                <a:ea typeface="Cambria" pitchFamily="34" charset="-122"/>
                <a:cs typeface="Cambria" pitchFamily="34" charset="-120"/>
              </a:rPr>
              <a:t>aᵢ = max( SD of recent yields,  7% of normal yield,  150 )     uᵢ = eᵢ / aᵢ</a:t>
            </a:r>
            <a:endParaRPr lang="en-US" sz="1200" dirty="0"/>
          </a:p>
        </p:txBody>
      </p:sp>
      <p:sp>
        <p:nvSpPr>
          <p:cNvPr id="14" name="Shape 12"/>
          <p:cNvSpPr/>
          <p:nvPr/>
        </p:nvSpPr>
        <p:spPr>
          <a:xfrm>
            <a:off x="502920" y="5486400"/>
            <a:ext cx="384048" cy="384048"/>
          </a:xfrm>
          <a:prstGeom prst="ellipse">
            <a:avLst/>
          </a:prstGeom>
          <a:solidFill>
            <a:srgbClr val="C98500"/>
          </a:solidFill>
          <a:ln/>
        </p:spPr>
        <p:txBody>
          <a:bodyPr/>
          <a:lstStyle/>
          <a:p>
            <a:endParaRPr lang="en-US"/>
          </a:p>
        </p:txBody>
      </p:sp>
      <p:sp>
        <p:nvSpPr>
          <p:cNvPr id="15" name="Text 13"/>
          <p:cNvSpPr/>
          <p:nvPr/>
        </p:nvSpPr>
        <p:spPr>
          <a:xfrm>
            <a:off x="502920" y="54772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005840" y="5449824"/>
            <a:ext cx="5486400" cy="45720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Weight every season equally</a:t>
            </a:r>
            <a:endParaRPr lang="en-US" sz="1400" dirty="0"/>
          </a:p>
        </p:txBody>
      </p:sp>
      <p:sp>
        <p:nvSpPr>
          <p:cNvPr id="17" name="Text 15"/>
          <p:cNvSpPr/>
          <p:nvPr/>
        </p:nvSpPr>
        <p:spPr>
          <a:xfrm>
            <a:off x="1005840" y="5879592"/>
            <a:ext cx="5120640" cy="777240"/>
          </a:xfrm>
          <a:prstGeom prst="rect">
            <a:avLst/>
          </a:prstGeom>
          <a:noFill/>
          <a:ln/>
        </p:spPr>
        <p:txBody>
          <a:bodyPr wrap="square" lIns="0" tIns="0" rIns="0" bIns="0" rtlCol="0" anchor="t"/>
          <a:lstStyle/>
          <a:p>
            <a:pPr marL="0" indent="0" algn="l">
              <a:lnSpc>
                <a:spcPct val="114000"/>
              </a:lnSpc>
              <a:buNone/>
            </a:pPr>
            <a:r>
              <a:rPr lang="en-US" sz="1200" dirty="0">
                <a:solidFill>
                  <a:srgbClr val="20242B"/>
                </a:solidFill>
                <a:latin typeface="Calibri" pitchFamily="34" charset="0"/>
                <a:ea typeface="Calibri" pitchFamily="34" charset="-122"/>
                <a:cs typeface="Calibri" pitchFamily="34" charset="-120"/>
              </a:rPr>
              <a:t>If season t has nₜ districts, each row gets weight wᵢ = 1/nₜ — otherwise a season with more districts would dominate the error distribution.</a:t>
            </a:r>
            <a:endParaRPr lang="en-US" sz="1200" dirty="0"/>
          </a:p>
        </p:txBody>
      </p:sp>
      <p:sp>
        <p:nvSpPr>
          <p:cNvPr id="18" name="Shape 16"/>
          <p:cNvSpPr/>
          <p:nvPr/>
        </p:nvSpPr>
        <p:spPr>
          <a:xfrm>
            <a:off x="6492240" y="2514600"/>
            <a:ext cx="5212080" cy="4069080"/>
          </a:xfrm>
          <a:prstGeom prst="roundRect">
            <a:avLst>
              <a:gd name="adj" fmla="val 1798"/>
            </a:avLst>
          </a:prstGeom>
          <a:solidFill>
            <a:srgbClr val="F4F5F7"/>
          </a:solidFill>
          <a:ln/>
        </p:spPr>
        <p:txBody>
          <a:bodyPr/>
          <a:lstStyle/>
          <a:p>
            <a:endParaRPr lang="en-US"/>
          </a:p>
        </p:txBody>
      </p:sp>
      <p:sp>
        <p:nvSpPr>
          <p:cNvPr id="19" name="Text 17"/>
          <p:cNvSpPr/>
          <p:nvPr/>
        </p:nvSpPr>
        <p:spPr>
          <a:xfrm>
            <a:off x="6720840" y="2724912"/>
            <a:ext cx="4754880" cy="274320"/>
          </a:xfrm>
          <a:prstGeom prst="rect">
            <a:avLst/>
          </a:prstGeom>
          <a:noFill/>
          <a:ln/>
        </p:spPr>
        <p:txBody>
          <a:bodyPr wrap="square" lIns="0" tIns="0" rIns="0" bIns="0" rtlCol="0" anchor="ctr"/>
          <a:lstStyle/>
          <a:p>
            <a:pPr marL="0" indent="0">
              <a:buNone/>
            </a:pPr>
            <a:r>
              <a:rPr lang="en-US" sz="1050" b="1" kern="0" spc="100" dirty="0">
                <a:solidFill>
                  <a:srgbClr val="5A6170"/>
                </a:solidFill>
                <a:latin typeface="Calibri" pitchFamily="34" charset="0"/>
                <a:ea typeface="Calibri" pitchFamily="34" charset="-122"/>
                <a:cs typeface="Calibri" pitchFamily="34" charset="-120"/>
              </a:rPr>
              <a:t>WHY THE THREE-WAY MAXIMUM?</a:t>
            </a:r>
            <a:endParaRPr lang="en-US" sz="1050" dirty="0"/>
          </a:p>
        </p:txBody>
      </p:sp>
      <p:sp>
        <p:nvSpPr>
          <p:cNvPr id="20" name="Text 18"/>
          <p:cNvSpPr/>
          <p:nvPr/>
        </p:nvSpPr>
        <p:spPr>
          <a:xfrm>
            <a:off x="6720840" y="3108960"/>
            <a:ext cx="4754880" cy="1737360"/>
          </a:xfrm>
          <a:prstGeom prst="rect">
            <a:avLst/>
          </a:prstGeom>
          <a:noFill/>
          <a:ln/>
        </p:spPr>
        <p:txBody>
          <a:bodyPr wrap="square" lIns="0" tIns="0" rIns="0" bIns="0" rtlCol="0" anchor="t"/>
          <a:lstStyle/>
          <a:p>
            <a:pPr marL="0" indent="0" algn="l">
              <a:lnSpc>
                <a:spcPct val="114000"/>
              </a:lnSpc>
              <a:buNone/>
            </a:pPr>
            <a:r>
              <a:rPr lang="en-US" sz="1250" dirty="0">
                <a:solidFill>
                  <a:srgbClr val="20242B"/>
                </a:solidFill>
                <a:latin typeface="Calibri" pitchFamily="34" charset="0"/>
                <a:ea typeface="Calibri" pitchFamily="34" charset="-122"/>
                <a:cs typeface="Calibri" pitchFamily="34" charset="-120"/>
              </a:rPr>
              <a:t>It is a safety net. A district with a freakishly stable recent history would otherwise be assigned an implausibly narrow forecast range. The floor of 7% of normal yield (and an absolute floor of 150 kg/ha) prevents overconfidence that the data cannot support.</a:t>
            </a:r>
            <a:endParaRPr lang="en-US" sz="1250" dirty="0"/>
          </a:p>
        </p:txBody>
      </p:sp>
      <p:sp>
        <p:nvSpPr>
          <p:cNvPr id="21" name="Text 19"/>
          <p:cNvSpPr/>
          <p:nvPr/>
        </p:nvSpPr>
        <p:spPr>
          <a:xfrm>
            <a:off x="6720840" y="4709160"/>
            <a:ext cx="4754880" cy="274320"/>
          </a:xfrm>
          <a:prstGeom prst="rect">
            <a:avLst/>
          </a:prstGeom>
          <a:noFill/>
          <a:ln/>
        </p:spPr>
        <p:txBody>
          <a:bodyPr wrap="square" lIns="0" tIns="0" rIns="0" bIns="0" rtlCol="0" anchor="ctr"/>
          <a:lstStyle/>
          <a:p>
            <a:pPr marL="0" indent="0">
              <a:buNone/>
            </a:pPr>
            <a:r>
              <a:rPr lang="en-US" sz="1050" b="1" kern="0" spc="100" dirty="0">
                <a:solidFill>
                  <a:srgbClr val="C98500"/>
                </a:solidFill>
                <a:latin typeface="Calibri" pitchFamily="34" charset="0"/>
                <a:ea typeface="Calibri" pitchFamily="34" charset="-122"/>
                <a:cs typeface="Calibri" pitchFamily="34" charset="-120"/>
              </a:rPr>
              <a:t>IN PLAIN WORDS</a:t>
            </a:r>
            <a:endParaRPr lang="en-US" sz="1050" dirty="0"/>
          </a:p>
        </p:txBody>
      </p:sp>
      <p:sp>
        <p:nvSpPr>
          <p:cNvPr id="22" name="Text 20"/>
          <p:cNvSpPr/>
          <p:nvPr/>
        </p:nvSpPr>
        <p:spPr>
          <a:xfrm>
            <a:off x="6720840" y="5074920"/>
            <a:ext cx="4754880" cy="1371600"/>
          </a:xfrm>
          <a:prstGeom prst="rect">
            <a:avLst/>
          </a:prstGeom>
          <a:noFill/>
          <a:ln/>
        </p:spPr>
        <p:txBody>
          <a:bodyPr wrap="square" lIns="0" tIns="0" rIns="0" bIns="0" rtlCol="0" anchor="t"/>
          <a:lstStyle/>
          <a:p>
            <a:pPr marL="0" indent="0" algn="l">
              <a:lnSpc>
                <a:spcPct val="114000"/>
              </a:lnSpc>
              <a:buNone/>
            </a:pPr>
            <a:r>
              <a:rPr lang="en-US" sz="1250" b="1" dirty="0">
                <a:solidFill>
                  <a:srgbClr val="1F2B4D"/>
                </a:solidFill>
                <a:latin typeface="Calibri" pitchFamily="34" charset="0"/>
                <a:ea typeface="Calibri" pitchFamily="34" charset="-122"/>
                <a:cs typeface="Calibri" pitchFamily="34" charset="-120"/>
              </a:rPr>
              <a:t>uᵢ answers: “by how many typical district-sized wobbles did the forecast miss?” Those scaled misses, pooled across history, form the shape of the model's uncertainty.</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5 · THE CALCULATION, FINISHED</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Weighted quantiles, then rescale onto the new forecast</a:t>
            </a:r>
            <a:endParaRPr lang="en-US" sz="2700" dirty="0"/>
          </a:p>
        </p:txBody>
      </p:sp>
      <p:sp>
        <p:nvSpPr>
          <p:cNvPr id="4" name="Shape 2"/>
          <p:cNvSpPr/>
          <p:nvPr/>
        </p:nvSpPr>
        <p:spPr>
          <a:xfrm>
            <a:off x="502920" y="1481328"/>
            <a:ext cx="384048" cy="384048"/>
          </a:xfrm>
          <a:prstGeom prst="ellipse">
            <a:avLst/>
          </a:prstGeom>
          <a:solidFill>
            <a:srgbClr val="C98500"/>
          </a:solidFill>
          <a:ln/>
        </p:spPr>
        <p:txBody>
          <a:bodyPr/>
          <a:lstStyle/>
          <a:p>
            <a:endParaRPr lang="en-US"/>
          </a:p>
        </p:txBody>
      </p:sp>
      <p:sp>
        <p:nvSpPr>
          <p:cNvPr id="5" name="Text 3"/>
          <p:cNvSpPr/>
          <p:nvPr/>
        </p:nvSpPr>
        <p:spPr>
          <a:xfrm>
            <a:off x="502920" y="14721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6" name="Text 4"/>
          <p:cNvSpPr/>
          <p:nvPr/>
        </p:nvSpPr>
        <p:spPr>
          <a:xfrm>
            <a:off x="1005840" y="1444752"/>
            <a:ext cx="8229600" cy="45720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Read weighted quantiles of the scaled errors</a:t>
            </a:r>
            <a:endParaRPr lang="en-US" sz="1400" dirty="0"/>
          </a:p>
        </p:txBody>
      </p:sp>
      <p:sp>
        <p:nvSpPr>
          <p:cNvPr id="7" name="Text 5"/>
          <p:cNvSpPr/>
          <p:nvPr/>
        </p:nvSpPr>
        <p:spPr>
          <a:xfrm>
            <a:off x="1005840" y="1874520"/>
            <a:ext cx="5669280" cy="1234440"/>
          </a:xfrm>
          <a:prstGeom prst="rect">
            <a:avLst/>
          </a:prstGeom>
          <a:noFill/>
          <a:ln/>
        </p:spPr>
        <p:txBody>
          <a:bodyPr wrap="square" lIns="0" tIns="0" rIns="0" bIns="0" rtlCol="0" anchor="t"/>
          <a:lstStyle/>
          <a:p>
            <a:pPr marL="0" indent="0" algn="l">
              <a:lnSpc>
                <a:spcPct val="114000"/>
              </a:lnSpc>
              <a:buNone/>
            </a:pPr>
            <a:r>
              <a:rPr lang="en-US" sz="1150" dirty="0">
                <a:solidFill>
                  <a:srgbClr val="20242B"/>
                </a:solidFill>
                <a:latin typeface="Calibri" pitchFamily="34" charset="0"/>
                <a:ea typeface="Calibri" pitchFamily="34" charset="-122"/>
                <a:cs typeface="Calibri" pitchFamily="34" charset="-120"/>
              </a:rPr>
              <a:t>Sort the u values ascending; the j-th value gets cumulative position
</a:t>
            </a:r>
            <a:r>
              <a:rPr lang="en-US" sz="1400" b="1" dirty="0">
                <a:solidFill>
                  <a:srgbClr val="1F2B4D"/>
                </a:solidFill>
                <a:latin typeface="Cambria" pitchFamily="34" charset="0"/>
                <a:ea typeface="Cambria" pitchFamily="34" charset="-122"/>
                <a:cs typeface="Cambria" pitchFamily="34" charset="-120"/>
              </a:rPr>
              <a:t>cⱼ = ( Σₖ≤ⱼ wₖ − ½wⱼ ) / Σ wₖ
</a:t>
            </a:r>
            <a:r>
              <a:rPr lang="en-US" sz="1150" dirty="0">
                <a:solidFill>
                  <a:srgbClr val="20242B"/>
                </a:solidFill>
                <a:latin typeface="Calibri" pitchFamily="34" charset="0"/>
                <a:ea typeface="Calibri" pitchFamily="34" charset="-122"/>
                <a:cs typeface="Calibri" pitchFamily="34" charset="-120"/>
              </a:rPr>
              <a:t>(the −½wⱼ centres each observation in its own weight, avoiding a half-step bias). Interpolate to read the value at each of 19 levels: 0.05, 0.10, …, 0.95. Call the result u_α — the shape.</a:t>
            </a:r>
            <a:endParaRPr lang="en-US" sz="1150" dirty="0"/>
          </a:p>
        </p:txBody>
      </p:sp>
      <p:sp>
        <p:nvSpPr>
          <p:cNvPr id="8" name="Shape 6"/>
          <p:cNvSpPr/>
          <p:nvPr/>
        </p:nvSpPr>
        <p:spPr>
          <a:xfrm>
            <a:off x="502920" y="3337560"/>
            <a:ext cx="384048" cy="384048"/>
          </a:xfrm>
          <a:prstGeom prst="ellipse">
            <a:avLst/>
          </a:prstGeom>
          <a:solidFill>
            <a:srgbClr val="C98500"/>
          </a:solidFill>
          <a:ln/>
        </p:spPr>
        <p:txBody>
          <a:bodyPr/>
          <a:lstStyle/>
          <a:p>
            <a:endParaRPr lang="en-US"/>
          </a:p>
        </p:txBody>
      </p:sp>
      <p:sp>
        <p:nvSpPr>
          <p:cNvPr id="9" name="Text 7"/>
          <p:cNvSpPr/>
          <p:nvPr/>
        </p:nvSpPr>
        <p:spPr>
          <a:xfrm>
            <a:off x="502920" y="33284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0" name="Text 8"/>
          <p:cNvSpPr/>
          <p:nvPr/>
        </p:nvSpPr>
        <p:spPr>
          <a:xfrm>
            <a:off x="1005840" y="3300984"/>
            <a:ext cx="8229600" cy="45720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Rescale and centre on the new forecast</a:t>
            </a:r>
            <a:endParaRPr lang="en-US" sz="1400" dirty="0"/>
          </a:p>
        </p:txBody>
      </p:sp>
      <p:sp>
        <p:nvSpPr>
          <p:cNvPr id="11" name="Shape 9"/>
          <p:cNvSpPr/>
          <p:nvPr/>
        </p:nvSpPr>
        <p:spPr>
          <a:xfrm>
            <a:off x="1005840" y="3749040"/>
            <a:ext cx="5669280" cy="566928"/>
          </a:xfrm>
          <a:prstGeom prst="roundRect">
            <a:avLst>
              <a:gd name="adj" fmla="val 11290"/>
            </a:avLst>
          </a:prstGeom>
          <a:solidFill>
            <a:srgbClr val="EAF1FB"/>
          </a:solidFill>
          <a:ln/>
        </p:spPr>
        <p:txBody>
          <a:bodyPr/>
          <a:lstStyle/>
          <a:p>
            <a:endParaRPr lang="en-US"/>
          </a:p>
        </p:txBody>
      </p:sp>
      <p:sp>
        <p:nvSpPr>
          <p:cNvPr id="12" name="Text 10"/>
          <p:cNvSpPr/>
          <p:nvPr/>
        </p:nvSpPr>
        <p:spPr>
          <a:xfrm>
            <a:off x="1143000" y="3749040"/>
            <a:ext cx="5394960" cy="566928"/>
          </a:xfrm>
          <a:prstGeom prst="rect">
            <a:avLst/>
          </a:prstGeom>
          <a:noFill/>
          <a:ln/>
        </p:spPr>
        <p:txBody>
          <a:bodyPr wrap="square" lIns="0" tIns="0" rIns="0" bIns="0" rtlCol="0" anchor="ctr"/>
          <a:lstStyle/>
          <a:p>
            <a:pPr marL="0" indent="0" algn="ctr">
              <a:lnSpc>
                <a:spcPct val="112000"/>
              </a:lnSpc>
              <a:buNone/>
            </a:pPr>
            <a:r>
              <a:rPr lang="en-US" sz="1800" b="1" dirty="0">
                <a:solidFill>
                  <a:srgbClr val="20242B"/>
                </a:solidFill>
                <a:latin typeface="Cambria" pitchFamily="34" charset="0"/>
                <a:ea typeface="Cambria" pitchFamily="34" charset="-122"/>
                <a:cs typeface="Cambria" pitchFamily="34" charset="-120"/>
              </a:rPr>
              <a:t>Q_α = ŷ(new) + a(new) · u_α</a:t>
            </a:r>
            <a:endParaRPr lang="en-US" sz="1800" dirty="0"/>
          </a:p>
        </p:txBody>
      </p:sp>
      <p:sp>
        <p:nvSpPr>
          <p:cNvPr id="13" name="Shape 11"/>
          <p:cNvSpPr/>
          <p:nvPr/>
        </p:nvSpPr>
        <p:spPr>
          <a:xfrm>
            <a:off x="502920" y="4572000"/>
            <a:ext cx="384048" cy="384048"/>
          </a:xfrm>
          <a:prstGeom prst="ellipse">
            <a:avLst/>
          </a:prstGeom>
          <a:solidFill>
            <a:srgbClr val="C98500"/>
          </a:solidFill>
          <a:ln/>
        </p:spPr>
        <p:txBody>
          <a:bodyPr/>
          <a:lstStyle/>
          <a:p>
            <a:endParaRPr lang="en-US"/>
          </a:p>
        </p:txBody>
      </p:sp>
      <p:sp>
        <p:nvSpPr>
          <p:cNvPr id="14" name="Text 12"/>
          <p:cNvSpPr/>
          <p:nvPr/>
        </p:nvSpPr>
        <p:spPr>
          <a:xfrm>
            <a:off x="502920" y="45628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5" name="Text 13"/>
          <p:cNvSpPr/>
          <p:nvPr/>
        </p:nvSpPr>
        <p:spPr>
          <a:xfrm>
            <a:off x="1005840" y="4535424"/>
            <a:ext cx="8229600" cy="457200"/>
          </a:xfrm>
          <a:prstGeom prst="rect">
            <a:avLst/>
          </a:prstGeom>
          <a:noFill/>
          <a:ln/>
        </p:spPr>
        <p:txBody>
          <a:bodyPr wrap="square" lIns="0" tIns="0" rIns="0" bIns="0" rtlCol="0" anchor="ctr"/>
          <a:lstStyle/>
          <a:p>
            <a:pPr marL="0" indent="0">
              <a:buNone/>
            </a:pPr>
            <a:r>
              <a:rPr lang="en-US" sz="1400" b="1" dirty="0">
                <a:solidFill>
                  <a:srgbClr val="20242B"/>
                </a:solidFill>
                <a:latin typeface="Calibri" pitchFamily="34" charset="0"/>
                <a:ea typeface="Calibri" pitchFamily="34" charset="-122"/>
                <a:cs typeface="Calibri" pitchFamily="34" charset="-120"/>
              </a:rPr>
              <a:t>Clean up</a:t>
            </a:r>
            <a:endParaRPr lang="en-US" sz="1400" dirty="0"/>
          </a:p>
        </p:txBody>
      </p:sp>
      <p:sp>
        <p:nvSpPr>
          <p:cNvPr id="16" name="Text 14"/>
          <p:cNvSpPr/>
          <p:nvPr/>
        </p:nvSpPr>
        <p:spPr>
          <a:xfrm>
            <a:off x="1005840" y="4956048"/>
            <a:ext cx="5669280" cy="1554480"/>
          </a:xfrm>
          <a:prstGeom prst="rect">
            <a:avLst/>
          </a:prstGeom>
          <a:noFill/>
          <a:ln/>
        </p:spPr>
        <p:txBody>
          <a:bodyPr wrap="square" lIns="0" tIns="0" rIns="0" bIns="0" rtlCol="0" anchor="t"/>
          <a:lstStyle/>
          <a:p>
            <a:pPr marL="0" indent="0" algn="l">
              <a:lnSpc>
                <a:spcPct val="114000"/>
              </a:lnSpc>
              <a:buNone/>
            </a:pPr>
            <a:r>
              <a:rPr lang="en-US" sz="1150" dirty="0">
                <a:solidFill>
                  <a:srgbClr val="20242B"/>
                </a:solidFill>
                <a:latin typeface="Calibri" pitchFamily="34" charset="0"/>
                <a:ea typeface="Calibri" pitchFamily="34" charset="-122"/>
                <a:cs typeface="Calibri" pitchFamily="34" charset="-120"/>
              </a:rPr>
              <a:t>Apply a running maximum so quantiles cannot cross (q75 must never sit below q50 — possible when levels are estimated separately), then clip to the physically possible range 500–7,000 kg/ha.
</a:t>
            </a:r>
            <a:r>
              <a:rPr lang="en-US" sz="1150" b="1" dirty="0">
                <a:solidFill>
                  <a:srgbClr val="20242B"/>
                </a:solidFill>
                <a:latin typeface="Calibri" pitchFamily="34" charset="0"/>
                <a:ea typeface="Calibri" pitchFamily="34" charset="-122"/>
                <a:cs typeface="Calibri" pitchFamily="34" charset="-120"/>
              </a:rPr>
              <a:t>One deleted parameter: </a:t>
            </a:r>
            <a:r>
              <a:rPr lang="en-US" sz="1150" dirty="0">
                <a:solidFill>
                  <a:srgbClr val="20242B"/>
                </a:solidFill>
                <a:latin typeface="Calibri" pitchFamily="34" charset="0"/>
                <a:ea typeface="Calibri" pitchFamily="34" charset="-122"/>
                <a:cs typeface="Calibri" pitchFamily="34" charset="-120"/>
              </a:rPr>
              <a:t>the earlier model multiplied the shape by 0.95 to look sharper. It bought 0.15 of score and cost honesty — “80%” intervals covered 78.4%. At scale 1.00 they cover 80.9%. Simpler and more accurate.</a:t>
            </a:r>
            <a:endParaRPr lang="en-US" sz="1150" dirty="0"/>
          </a:p>
        </p:txBody>
      </p:sp>
      <p:pic>
        <p:nvPicPr>
          <p:cNvPr id="17" name="Image 0" descr="charts/12_uncertainty_method.png"/>
          <p:cNvPicPr>
            <a:picLocks noChangeAspect="1"/>
          </p:cNvPicPr>
          <p:nvPr/>
        </p:nvPicPr>
        <p:blipFill>
          <a:blip r:embed="rId3"/>
          <a:stretch>
            <a:fillRect/>
          </a:stretch>
        </p:blipFill>
        <p:spPr>
          <a:xfrm>
            <a:off x="6949440" y="1600200"/>
            <a:ext cx="4800600" cy="1920240"/>
          </a:xfrm>
          <a:prstGeom prst="rect">
            <a:avLst/>
          </a:prstGeom>
        </p:spPr>
      </p:pic>
      <p:sp>
        <p:nvSpPr>
          <p:cNvPr id="18" name="Shape 15"/>
          <p:cNvSpPr/>
          <p:nvPr/>
        </p:nvSpPr>
        <p:spPr>
          <a:xfrm>
            <a:off x="6949440" y="3749040"/>
            <a:ext cx="4754880" cy="2788920"/>
          </a:xfrm>
          <a:prstGeom prst="roundRect">
            <a:avLst>
              <a:gd name="adj" fmla="val 2623"/>
            </a:avLst>
          </a:prstGeom>
          <a:solidFill>
            <a:srgbClr val="FBF3E2"/>
          </a:solidFill>
          <a:ln/>
        </p:spPr>
        <p:txBody>
          <a:bodyPr/>
          <a:lstStyle/>
          <a:p>
            <a:endParaRPr lang="en-US"/>
          </a:p>
        </p:txBody>
      </p:sp>
      <p:sp>
        <p:nvSpPr>
          <p:cNvPr id="19" name="Text 16"/>
          <p:cNvSpPr/>
          <p:nvPr/>
        </p:nvSpPr>
        <p:spPr>
          <a:xfrm>
            <a:off x="7178040" y="3931920"/>
            <a:ext cx="4297680" cy="274320"/>
          </a:xfrm>
          <a:prstGeom prst="rect">
            <a:avLst/>
          </a:prstGeom>
          <a:noFill/>
          <a:ln/>
        </p:spPr>
        <p:txBody>
          <a:bodyPr wrap="square" lIns="0" tIns="0" rIns="0" bIns="0" rtlCol="0" anchor="ctr"/>
          <a:lstStyle/>
          <a:p>
            <a:pPr marL="0" indent="0">
              <a:buNone/>
            </a:pPr>
            <a:r>
              <a:rPr lang="en-US" sz="1050" b="1" kern="0" spc="100" dirty="0">
                <a:solidFill>
                  <a:srgbClr val="C98500"/>
                </a:solidFill>
                <a:latin typeface="Calibri" pitchFamily="34" charset="0"/>
                <a:ea typeface="Calibri" pitchFamily="34" charset="-122"/>
                <a:cs typeface="Calibri" pitchFamily="34" charset="-120"/>
              </a:rPr>
              <a:t>THE ARITHMETIC, BY HAND</a:t>
            </a:r>
            <a:endParaRPr lang="en-US" sz="1050" dirty="0"/>
          </a:p>
        </p:txBody>
      </p:sp>
      <p:sp>
        <p:nvSpPr>
          <p:cNvPr id="20" name="Text 17"/>
          <p:cNvSpPr/>
          <p:nvPr/>
        </p:nvSpPr>
        <p:spPr>
          <a:xfrm>
            <a:off x="7178040" y="4297680"/>
            <a:ext cx="4297680" cy="2103120"/>
          </a:xfrm>
          <a:prstGeom prst="rect">
            <a:avLst/>
          </a:prstGeom>
          <a:noFill/>
          <a:ln/>
        </p:spPr>
        <p:txBody>
          <a:bodyPr wrap="square" lIns="0" tIns="0" rIns="0" bIns="0" rtlCol="0" anchor="t"/>
          <a:lstStyle/>
          <a:p>
            <a:pPr marL="0" indent="0" algn="l">
              <a:lnSpc>
                <a:spcPct val="114000"/>
              </a:lnSpc>
              <a:buNone/>
            </a:pPr>
            <a:r>
              <a:rPr lang="en-US" sz="1200" dirty="0">
                <a:solidFill>
                  <a:srgbClr val="20242B"/>
                </a:solidFill>
                <a:latin typeface="Calibri" pitchFamily="34" charset="0"/>
                <a:ea typeface="Calibri" pitchFamily="34" charset="-122"/>
                <a:cs typeface="Calibri" pitchFamily="34" charset="-120"/>
              </a:rPr>
              <a:t>Past scaled errors give u₀.₁₀ = −1.20 and u₀.₉₀ = +1.05. A district has forecast 4,162 with scale a = 300:
</a:t>
            </a:r>
            <a:r>
              <a:rPr lang="en-US" sz="1350" b="1" dirty="0">
                <a:solidFill>
                  <a:srgbClr val="1F2B4D"/>
                </a:solidFill>
                <a:latin typeface="Cambria" pitchFamily="34" charset="0"/>
                <a:ea typeface="Cambria" pitchFamily="34" charset="-122"/>
                <a:cs typeface="Cambria" pitchFamily="34" charset="-120"/>
              </a:rPr>
              <a:t>Q₁₀ = 4,162 + 300×(−1.20) = 3,802
Q₉₀ = 4,162 + 300×(+1.05) = 4,477
</a:t>
            </a:r>
            <a:r>
              <a:rPr lang="en-US" sz="1200" b="1" dirty="0">
                <a:solidFill>
                  <a:srgbClr val="20242B"/>
                </a:solidFill>
                <a:latin typeface="Calibri" pitchFamily="34" charset="0"/>
                <a:ea typeface="Calibri" pitchFamily="34" charset="-122"/>
                <a:cs typeface="Calibri" pitchFamily="34" charset="-120"/>
              </a:rPr>
              <a:t>So the 80% range runs 3,802 – 4,477 kg/ha.</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5 · FROM QUANTILES TO A CURVE</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The 19 quantiles ARE the distribution — the curve is just its slope</a:t>
            </a:r>
            <a:endParaRPr lang="en-US" sz="2700" dirty="0"/>
          </a:p>
        </p:txBody>
      </p:sp>
      <p:pic>
        <p:nvPicPr>
          <p:cNvPr id="4" name="Image 0" descr="charts/04_rewari_density.png"/>
          <p:cNvPicPr>
            <a:picLocks noChangeAspect="1"/>
          </p:cNvPicPr>
          <p:nvPr/>
        </p:nvPicPr>
        <p:blipFill>
          <a:blip r:embed="rId3"/>
          <a:stretch>
            <a:fillRect/>
          </a:stretch>
        </p:blipFill>
        <p:spPr>
          <a:xfrm>
            <a:off x="502920" y="1554480"/>
            <a:ext cx="7223760" cy="3429000"/>
          </a:xfrm>
          <a:prstGeom prst="rect">
            <a:avLst/>
          </a:prstGeom>
        </p:spPr>
      </p:pic>
      <p:sp>
        <p:nvSpPr>
          <p:cNvPr id="5" name="Text 2"/>
          <p:cNvSpPr/>
          <p:nvPr/>
        </p:nvSpPr>
        <p:spPr>
          <a:xfrm>
            <a:off x="502920" y="5166360"/>
            <a:ext cx="7223760" cy="1463040"/>
          </a:xfrm>
          <a:prstGeom prst="rect">
            <a:avLst/>
          </a:prstGeom>
          <a:noFill/>
          <a:ln/>
        </p:spPr>
        <p:txBody>
          <a:bodyPr wrap="square" lIns="0" tIns="0" rIns="0" bIns="0" rtlCol="0" anchor="t"/>
          <a:lstStyle/>
          <a:p>
            <a:pPr marL="0" indent="0" algn="l">
              <a:lnSpc>
                <a:spcPct val="114000"/>
              </a:lnSpc>
              <a:buNone/>
            </a:pPr>
            <a:r>
              <a:rPr lang="en-US" sz="1250" b="1" dirty="0">
                <a:solidFill>
                  <a:srgbClr val="20242B"/>
                </a:solidFill>
                <a:latin typeface="Calibri" pitchFamily="34" charset="0"/>
                <a:ea typeface="Calibri" pitchFamily="34" charset="-122"/>
                <a:cs typeface="Calibri" pitchFamily="34" charset="-120"/>
              </a:rPr>
              <a:t>Reading it: </a:t>
            </a:r>
            <a:r>
              <a:rPr lang="en-US" sz="1250" dirty="0">
                <a:solidFill>
                  <a:srgbClr val="20242B"/>
                </a:solidFill>
                <a:latin typeface="Calibri" pitchFamily="34" charset="0"/>
                <a:ea typeface="Calibri" pitchFamily="34" charset="-122"/>
                <a:cs typeface="Calibri" pitchFamily="34" charset="-120"/>
              </a:rPr>
              <a:t>where two quantiles sit close together, a lot of probability is packed into a small range of yields, so the curve is tall. Where they are far apart, probability is thinly spread, so the curve is low. Nineteen points make a jagged slope, so it is smoothed with a small Gaussian kernel (width = 1/25th of the forecast range) and rescaled so the area under it is exactly 1, as any probability density must be.</a:t>
            </a:r>
            <a:endParaRPr lang="en-US" sz="1250" dirty="0"/>
          </a:p>
        </p:txBody>
      </p:sp>
      <p:sp>
        <p:nvSpPr>
          <p:cNvPr id="6" name="Shape 3"/>
          <p:cNvSpPr/>
          <p:nvPr/>
        </p:nvSpPr>
        <p:spPr>
          <a:xfrm>
            <a:off x="8001000" y="1554480"/>
            <a:ext cx="3703320" cy="3429000"/>
          </a:xfrm>
          <a:prstGeom prst="roundRect">
            <a:avLst>
              <a:gd name="adj" fmla="val 2133"/>
            </a:avLst>
          </a:prstGeom>
          <a:solidFill>
            <a:srgbClr val="EAF1FB"/>
          </a:solidFill>
          <a:ln/>
        </p:spPr>
        <p:txBody>
          <a:bodyPr/>
          <a:lstStyle/>
          <a:p>
            <a:endParaRPr lang="en-US"/>
          </a:p>
        </p:txBody>
      </p:sp>
      <p:sp>
        <p:nvSpPr>
          <p:cNvPr id="7" name="Text 4"/>
          <p:cNvSpPr/>
          <p:nvPr/>
        </p:nvSpPr>
        <p:spPr>
          <a:xfrm>
            <a:off x="8229600" y="1755648"/>
            <a:ext cx="3246120" cy="274320"/>
          </a:xfrm>
          <a:prstGeom prst="rect">
            <a:avLst/>
          </a:prstGeom>
          <a:noFill/>
          <a:ln/>
        </p:spPr>
        <p:txBody>
          <a:bodyPr wrap="square" lIns="0" tIns="0" rIns="0" bIns="0" rtlCol="0" anchor="ctr"/>
          <a:lstStyle/>
          <a:p>
            <a:pPr marL="0" indent="0">
              <a:buNone/>
            </a:pPr>
            <a:r>
              <a:rPr lang="en-US" sz="1050" b="1" kern="0" spc="100" dirty="0">
                <a:solidFill>
                  <a:srgbClr val="2A78D6"/>
                </a:solidFill>
                <a:latin typeface="Calibri" pitchFamily="34" charset="0"/>
                <a:ea typeface="Calibri" pitchFamily="34" charset="-122"/>
                <a:cs typeface="Calibri" pitchFamily="34" charset="-120"/>
              </a:rPr>
              <a:t>THE TWO OBJECTS</a:t>
            </a:r>
            <a:endParaRPr lang="en-US" sz="1050" dirty="0"/>
          </a:p>
        </p:txBody>
      </p:sp>
      <p:sp>
        <p:nvSpPr>
          <p:cNvPr id="8" name="Text 5"/>
          <p:cNvSpPr/>
          <p:nvPr/>
        </p:nvSpPr>
        <p:spPr>
          <a:xfrm>
            <a:off x="8229600" y="2103120"/>
            <a:ext cx="3246120" cy="2788920"/>
          </a:xfrm>
          <a:prstGeom prst="rect">
            <a:avLst/>
          </a:prstGeom>
          <a:noFill/>
          <a:ln/>
        </p:spPr>
        <p:txBody>
          <a:bodyPr wrap="square" lIns="0" tIns="0" rIns="0" bIns="0" rtlCol="0" anchor="t"/>
          <a:lstStyle/>
          <a:p>
            <a:pPr marL="0" indent="0" algn="l">
              <a:lnSpc>
                <a:spcPct val="114000"/>
              </a:lnSpc>
              <a:buNone/>
            </a:pPr>
            <a:r>
              <a:rPr lang="en-US" sz="1150" b="1" dirty="0">
                <a:solidFill>
                  <a:srgbClr val="1F2B4D"/>
                </a:solidFill>
                <a:latin typeface="Calibri" pitchFamily="34" charset="0"/>
                <a:ea typeface="Calibri" pitchFamily="34" charset="-122"/>
                <a:cs typeface="Calibri" pitchFamily="34" charset="-120"/>
              </a:rPr>
              <a:t>F(y) — the cumulative curve:  </a:t>
            </a:r>
            <a:r>
              <a:rPr lang="en-US" sz="1150" dirty="0">
                <a:solidFill>
                  <a:srgbClr val="20242B"/>
                </a:solidFill>
                <a:latin typeface="Calibri" pitchFamily="34" charset="0"/>
                <a:ea typeface="Calibri" pitchFamily="34" charset="-122"/>
                <a:cs typeface="Calibri" pitchFamily="34" charset="-120"/>
              </a:rPr>
              <a:t>the probability the harvest comes in at or below y. The quantiles pin it down at 19 points:  F(Q_α) = α.
</a:t>
            </a:r>
            <a:r>
              <a:rPr lang="en-US" sz="1150" b="1" dirty="0">
                <a:solidFill>
                  <a:srgbClr val="1F2B4D"/>
                </a:solidFill>
                <a:latin typeface="Calibri" pitchFamily="34" charset="0"/>
                <a:ea typeface="Calibri" pitchFamily="34" charset="-122"/>
                <a:cs typeface="Calibri" pitchFamily="34" charset="-120"/>
              </a:rPr>
              <a:t>f(y) — the density (bell) curve:  </a:t>
            </a:r>
            <a:r>
              <a:rPr lang="en-US" sz="1150" dirty="0">
                <a:solidFill>
                  <a:srgbClr val="20242B"/>
                </a:solidFill>
                <a:latin typeface="Calibri" pitchFamily="34" charset="0"/>
                <a:ea typeface="Calibri" pitchFamily="34" charset="-122"/>
                <a:cs typeface="Calibri" pitchFamily="34" charset="-120"/>
              </a:rPr>
              <a:t>its slope. Between adjacent quantiles:</a:t>
            </a:r>
            <a:endParaRPr lang="en-US" sz="1150" dirty="0"/>
          </a:p>
          <a:p>
            <a:pPr marL="0" indent="0" algn="l">
              <a:lnSpc>
                <a:spcPct val="114000"/>
              </a:lnSpc>
              <a:buNone/>
            </a:pPr>
            <a:r>
              <a:rPr lang="en-US" sz="1150" dirty="0">
                <a:solidFill>
                  <a:srgbClr val="20242B"/>
                </a:solidFill>
                <a:latin typeface="Calibri" pitchFamily="34" charset="0"/>
                <a:ea typeface="Calibri" pitchFamily="34" charset="-122"/>
                <a:cs typeface="Calibri" pitchFamily="34" charset="-120"/>
              </a:rPr>
              <a:t>f ≈ (α₂ − α₁)/(Q₂ − Q₁)</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STAGE 5 · ANSWERS PEOPLE ACTUALLY ASK FOR</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Every question becomes a lookup on F</a:t>
            </a:r>
            <a:endParaRPr lang="en-US" sz="2700" dirty="0"/>
          </a:p>
        </p:txBody>
      </p:sp>
      <p:sp>
        <p:nvSpPr>
          <p:cNvPr id="4" name="Shape 2"/>
          <p:cNvSpPr/>
          <p:nvPr/>
        </p:nvSpPr>
        <p:spPr>
          <a:xfrm>
            <a:off x="640080" y="1517904"/>
            <a:ext cx="5394960" cy="914400"/>
          </a:xfrm>
          <a:prstGeom prst="roundRect">
            <a:avLst>
              <a:gd name="adj" fmla="val 7000"/>
            </a:avLst>
          </a:prstGeom>
          <a:solidFill>
            <a:srgbClr val="EAF1FB"/>
          </a:solidFill>
          <a:ln/>
        </p:spPr>
        <p:txBody>
          <a:bodyPr/>
          <a:lstStyle/>
          <a:p>
            <a:endParaRPr lang="en-US"/>
          </a:p>
        </p:txBody>
      </p:sp>
      <p:sp>
        <p:nvSpPr>
          <p:cNvPr id="5" name="Text 3"/>
          <p:cNvSpPr/>
          <p:nvPr/>
        </p:nvSpPr>
        <p:spPr>
          <a:xfrm>
            <a:off x="777240" y="1517904"/>
            <a:ext cx="5120640" cy="914400"/>
          </a:xfrm>
          <a:prstGeom prst="rect">
            <a:avLst/>
          </a:prstGeom>
          <a:noFill/>
          <a:ln/>
        </p:spPr>
        <p:txBody>
          <a:bodyPr wrap="square" lIns="0" tIns="0" rIns="0" bIns="0" rtlCol="0" anchor="ctr"/>
          <a:lstStyle/>
          <a:p>
            <a:pPr marL="0" indent="0" algn="ctr">
              <a:lnSpc>
                <a:spcPct val="112000"/>
              </a:lnSpc>
              <a:buNone/>
            </a:pPr>
            <a:r>
              <a:rPr lang="en-US" sz="1600" b="1" dirty="0">
                <a:solidFill>
                  <a:srgbClr val="20242B"/>
                </a:solidFill>
                <a:latin typeface="Cambria" pitchFamily="34" charset="0"/>
                <a:ea typeface="Cambria" pitchFamily="34" charset="-122"/>
                <a:cs typeface="Cambria" pitchFamily="34" charset="-120"/>
              </a:rPr>
              <a:t>P(yield rises) = 1 − F( y_last )</a:t>
            </a:r>
            <a:endParaRPr lang="en-US" sz="1600" dirty="0"/>
          </a:p>
          <a:p>
            <a:pPr marL="0" indent="0" algn="ctr">
              <a:lnSpc>
                <a:spcPct val="112000"/>
              </a:lnSpc>
              <a:buNone/>
            </a:pPr>
            <a:r>
              <a:rPr lang="en-US" sz="1600" b="1" dirty="0">
                <a:solidFill>
                  <a:srgbClr val="20242B"/>
                </a:solidFill>
                <a:latin typeface="Cambria" pitchFamily="34" charset="0"/>
                <a:ea typeface="Cambria" pitchFamily="34" charset="-122"/>
                <a:cs typeface="Cambria" pitchFamily="34" charset="-120"/>
              </a:rPr>
              <a:t>P(fall worse than p%) = F( (1−p) · y_last )</a:t>
            </a:r>
            <a:endParaRPr lang="en-US" sz="1600" dirty="0"/>
          </a:p>
        </p:txBody>
      </p:sp>
      <p:sp>
        <p:nvSpPr>
          <p:cNvPr id="6" name="Text 4"/>
          <p:cNvSpPr/>
          <p:nvPr/>
        </p:nvSpPr>
        <p:spPr>
          <a:xfrm>
            <a:off x="640080" y="2651760"/>
            <a:ext cx="5394960" cy="1737360"/>
          </a:xfrm>
          <a:prstGeom prst="rect">
            <a:avLst/>
          </a:prstGeom>
          <a:noFill/>
          <a:ln/>
        </p:spPr>
        <p:txBody>
          <a:bodyPr wrap="square" lIns="0" tIns="0" rIns="0" bIns="0" rtlCol="0" anchor="t"/>
          <a:lstStyle/>
          <a:p>
            <a:pPr marL="0" indent="0" algn="l">
              <a:lnSpc>
                <a:spcPct val="114000"/>
              </a:lnSpc>
              <a:buNone/>
            </a:pPr>
            <a:r>
              <a:rPr lang="en-US" sz="1250" dirty="0">
                <a:solidFill>
                  <a:srgbClr val="20242B"/>
                </a:solidFill>
                <a:latin typeface="Calibri" pitchFamily="34" charset="0"/>
                <a:ea typeface="Calibri" pitchFamily="34" charset="-122"/>
                <a:cs typeface="Calibri" pitchFamily="34" charset="-120"/>
              </a:rPr>
              <a:t>Between the 19 known points, F is filled in by straight lines; two artificial endpoints (400 kg/ha beyond the outermost quantiles, at probability 0 and 1) make it defined everywhere.
</a:t>
            </a:r>
            <a:r>
              <a:rPr lang="en-US" sz="1250" b="1" dirty="0">
                <a:solidFill>
                  <a:srgbClr val="C98500"/>
                </a:solidFill>
                <a:latin typeface="Calibri" pitchFamily="34" charset="0"/>
                <a:ea typeface="Calibri" pitchFamily="34" charset="-122"/>
                <a:cs typeface="Calibri" pitchFamily="34" charset="-120"/>
              </a:rPr>
              <a:t>Worked, Rewari 2022:  </a:t>
            </a:r>
            <a:r>
              <a:rPr lang="en-US" sz="1250" dirty="0">
                <a:solidFill>
                  <a:srgbClr val="20242B"/>
                </a:solidFill>
                <a:latin typeface="Calibri" pitchFamily="34" charset="0"/>
                <a:ea typeface="Calibri" pitchFamily="34" charset="-122"/>
                <a:cs typeface="Calibri" pitchFamily="34" charset="-120"/>
              </a:rPr>
              <a:t>last season 4,580, so “fall worse than 10%” asks for F(0.90 × 4,580) = F(4,122). The forecast 4,162 sits just above 4,122 — so nearly half the probability mass lies below: 46%.</a:t>
            </a:r>
            <a:endParaRPr lang="en-US" sz="1250" dirty="0"/>
          </a:p>
        </p:txBody>
      </p:sp>
      <p:sp>
        <p:nvSpPr>
          <p:cNvPr id="7" name="Shape 5"/>
          <p:cNvSpPr/>
          <p:nvPr/>
        </p:nvSpPr>
        <p:spPr>
          <a:xfrm>
            <a:off x="640080" y="4572000"/>
            <a:ext cx="5394960" cy="1920240"/>
          </a:xfrm>
          <a:prstGeom prst="roundRect">
            <a:avLst>
              <a:gd name="adj" fmla="val 3333"/>
            </a:avLst>
          </a:prstGeom>
          <a:solidFill>
            <a:srgbClr val="F4F5F7"/>
          </a:solidFill>
          <a:ln/>
        </p:spPr>
        <p:txBody>
          <a:bodyPr/>
          <a:lstStyle/>
          <a:p>
            <a:endParaRPr lang="en-US"/>
          </a:p>
        </p:txBody>
      </p:sp>
      <p:sp>
        <p:nvSpPr>
          <p:cNvPr id="8" name="Text 6"/>
          <p:cNvSpPr/>
          <p:nvPr/>
        </p:nvSpPr>
        <p:spPr>
          <a:xfrm>
            <a:off x="868680" y="4736592"/>
            <a:ext cx="4937760" cy="1600200"/>
          </a:xfrm>
          <a:prstGeom prst="rect">
            <a:avLst/>
          </a:prstGeom>
          <a:noFill/>
          <a:ln/>
        </p:spPr>
        <p:txBody>
          <a:bodyPr wrap="square" lIns="0" tIns="0" rIns="0" bIns="0" rtlCol="0" anchor="ctr"/>
          <a:lstStyle/>
          <a:p>
            <a:pPr marL="0" indent="0">
              <a:lnSpc>
                <a:spcPct val="118000"/>
              </a:lnSpc>
              <a:buNone/>
            </a:pPr>
            <a:r>
              <a:rPr lang="en-US" sz="1250" b="1" dirty="0">
                <a:solidFill>
                  <a:srgbClr val="1F2B4D"/>
                </a:solidFill>
                <a:latin typeface="Calibri" pitchFamily="34" charset="0"/>
                <a:ea typeface="Calibri" pitchFamily="34" charset="-122"/>
                <a:cs typeface="Calibri" pitchFamily="34" charset="-120"/>
              </a:rPr>
              <a:t>Why relative to last season?  </a:t>
            </a:r>
            <a:r>
              <a:rPr lang="en-US" sz="1250" dirty="0">
                <a:solidFill>
                  <a:srgbClr val="20242B"/>
                </a:solidFill>
                <a:latin typeface="Calibri" pitchFamily="34" charset="0"/>
                <a:ea typeface="Calibri" pitchFamily="34" charset="-122"/>
                <a:cs typeface="Calibri" pitchFamily="34" charset="-120"/>
              </a:rPr>
              <a:t>Because that is the question decision-makers actually hold: “will we have less wheat than last year, and how much less?” Absolute yield numbers only acquire meaning against a reference the audience already knows.</a:t>
            </a:r>
            <a:endParaRPr lang="en-US" sz="1250" dirty="0"/>
          </a:p>
        </p:txBody>
      </p:sp>
      <p:pic>
        <p:nvPicPr>
          <p:cNvPr id="9" name="Image 0" descr="charts/05_rewari_events.png"/>
          <p:cNvPicPr>
            <a:picLocks noChangeAspect="1"/>
          </p:cNvPicPr>
          <p:nvPr/>
        </p:nvPicPr>
        <p:blipFill>
          <a:blip r:embed="rId3"/>
          <a:stretch>
            <a:fillRect/>
          </a:stretch>
        </p:blipFill>
        <p:spPr>
          <a:xfrm>
            <a:off x="6355080" y="1737360"/>
            <a:ext cx="5394960" cy="42976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2B4D"/>
        </a:solidFill>
        <a:effectLst/>
      </p:bgPr>
    </p:bg>
    <p:spTree>
      <p:nvGrpSpPr>
        <p:cNvPr id="1" name=""/>
        <p:cNvGrpSpPr/>
        <p:nvPr/>
      </p:nvGrpSpPr>
      <p:grpSpPr>
        <a:xfrm>
          <a:off x="0" y="0"/>
          <a:ext cx="0" cy="0"/>
          <a:chOff x="0" y="0"/>
          <a:chExt cx="0" cy="0"/>
        </a:xfrm>
      </p:grpSpPr>
      <p:sp>
        <p:nvSpPr>
          <p:cNvPr id="2" name="Text 0"/>
          <p:cNvSpPr/>
          <p:nvPr/>
        </p:nvSpPr>
        <p:spPr>
          <a:xfrm>
            <a:off x="822960" y="2103120"/>
            <a:ext cx="10058400" cy="365760"/>
          </a:xfrm>
          <a:prstGeom prst="rect">
            <a:avLst/>
          </a:prstGeom>
          <a:noFill/>
          <a:ln/>
        </p:spPr>
        <p:txBody>
          <a:bodyPr wrap="square" lIns="0" tIns="0" rIns="0" bIns="0" rtlCol="0" anchor="ctr"/>
          <a:lstStyle/>
          <a:p>
            <a:pPr marL="0" indent="0">
              <a:buNone/>
            </a:pPr>
            <a:r>
              <a:rPr lang="en-US" sz="1400" b="1" kern="0" spc="300" dirty="0">
                <a:solidFill>
                  <a:srgbClr val="E8B95A"/>
                </a:solidFill>
                <a:latin typeface="Calibri" pitchFamily="34" charset="0"/>
                <a:ea typeface="Calibri" pitchFamily="34" charset="-122"/>
                <a:cs typeface="Calibri" pitchFamily="34" charset="-120"/>
              </a:rPr>
              <a:t>PART 5 · ONE DISTRICT, END TO END</a:t>
            </a:r>
            <a:endParaRPr lang="en-US" sz="1400" dirty="0"/>
          </a:p>
        </p:txBody>
      </p:sp>
      <p:sp>
        <p:nvSpPr>
          <p:cNvPr id="3" name="Text 1"/>
          <p:cNvSpPr/>
          <p:nvPr/>
        </p:nvSpPr>
        <p:spPr>
          <a:xfrm>
            <a:off x="822960" y="2560320"/>
            <a:ext cx="10515600" cy="91440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Rewari, Haryana — harvest of 2022</a:t>
            </a:r>
            <a:endParaRPr lang="en-US" sz="4000" dirty="0"/>
          </a:p>
        </p:txBody>
      </p:sp>
      <p:sp>
        <p:nvSpPr>
          <p:cNvPr id="4" name="Text 2"/>
          <p:cNvSpPr/>
          <p:nvPr/>
        </p:nvSpPr>
        <p:spPr>
          <a:xfrm>
            <a:off x="822960" y="3611880"/>
            <a:ext cx="10058400" cy="822960"/>
          </a:xfrm>
          <a:prstGeom prst="rect">
            <a:avLst/>
          </a:prstGeom>
          <a:noFill/>
          <a:ln/>
        </p:spPr>
        <p:txBody>
          <a:bodyPr wrap="square" lIns="0" tIns="0" rIns="0" bIns="0" rtlCol="0" anchor="ctr"/>
          <a:lstStyle/>
          <a:p>
            <a:pPr marL="0" indent="0">
              <a:lnSpc>
                <a:spcPct val="125000"/>
              </a:lnSpc>
              <a:buNone/>
            </a:pPr>
            <a:r>
              <a:rPr lang="en-US" sz="1600" dirty="0">
                <a:solidFill>
                  <a:srgbClr val="D9E2F5"/>
                </a:solidFill>
                <a:latin typeface="Calibri" pitchFamily="34" charset="0"/>
                <a:ea typeface="Calibri" pitchFamily="34" charset="-122"/>
                <a:cs typeface="Calibri" pitchFamily="34" charset="-120"/>
              </a:rPr>
              <a:t>Last season this district harvested 4,580 kg/ha. It is 5 March. What will this year bring?</a:t>
            </a:r>
            <a:endParaRPr lang="en-US" sz="1600" dirty="0"/>
          </a:p>
          <a:p>
            <a:pPr marL="0" indent="0">
              <a:lnSpc>
                <a:spcPct val="125000"/>
              </a:lnSpc>
              <a:buNone/>
            </a:pPr>
            <a:r>
              <a:rPr lang="en-US" sz="1600" dirty="0">
                <a:solidFill>
                  <a:srgbClr val="D9E2F5"/>
                </a:solidFill>
                <a:latin typeface="Calibri" pitchFamily="34" charset="0"/>
                <a:ea typeface="Calibri" pitchFamily="34" charset="-122"/>
                <a:cs typeface="Calibri" pitchFamily="34" charset="-120"/>
              </a:rPr>
              <a:t>Every number that follows is from the model's actual output files.</a:t>
            </a:r>
            <a:endParaRPr lang="en-US" sz="1600" dirty="0"/>
          </a:p>
        </p:txBody>
      </p:sp>
      <p:sp>
        <p:nvSpPr>
          <p:cNvPr id="5" name="Shape 3"/>
          <p:cNvSpPr/>
          <p:nvPr/>
        </p:nvSpPr>
        <p:spPr>
          <a:xfrm>
            <a:off x="822960" y="4754880"/>
            <a:ext cx="2560320" cy="1280160"/>
          </a:xfrm>
          <a:prstGeom prst="roundRect">
            <a:avLst>
              <a:gd name="adj" fmla="val 5714"/>
            </a:avLst>
          </a:prstGeom>
          <a:solidFill>
            <a:srgbClr val="2A3A66"/>
          </a:solidFill>
          <a:ln/>
        </p:spPr>
        <p:txBody>
          <a:bodyPr/>
          <a:lstStyle/>
          <a:p>
            <a:endParaRPr lang="en-US"/>
          </a:p>
        </p:txBody>
      </p:sp>
      <p:sp>
        <p:nvSpPr>
          <p:cNvPr id="6" name="Text 4"/>
          <p:cNvSpPr/>
          <p:nvPr/>
        </p:nvSpPr>
        <p:spPr>
          <a:xfrm>
            <a:off x="1005840" y="4919472"/>
            <a:ext cx="2194560" cy="548640"/>
          </a:xfrm>
          <a:prstGeom prst="rect">
            <a:avLst/>
          </a:prstGeom>
          <a:noFill/>
          <a:ln/>
        </p:spPr>
        <p:txBody>
          <a:bodyPr wrap="square" lIns="0" tIns="0" rIns="0" bIns="0" rtlCol="0" anchor="ctr"/>
          <a:lstStyle/>
          <a:p>
            <a:pPr marL="0" indent="0">
              <a:buNone/>
            </a:pPr>
            <a:r>
              <a:rPr lang="en-US" sz="2600" b="1" dirty="0">
                <a:solidFill>
                  <a:srgbClr val="E8B95A"/>
                </a:solidFill>
                <a:latin typeface="Calibri" pitchFamily="34" charset="0"/>
                <a:ea typeface="Calibri" pitchFamily="34" charset="-122"/>
                <a:cs typeface="Calibri" pitchFamily="34" charset="-120"/>
              </a:rPr>
              <a:t>4,580</a:t>
            </a:r>
            <a:endParaRPr lang="en-US" sz="2600" dirty="0"/>
          </a:p>
        </p:txBody>
      </p:sp>
      <p:sp>
        <p:nvSpPr>
          <p:cNvPr id="7" name="Text 5"/>
          <p:cNvSpPr/>
          <p:nvPr/>
        </p:nvSpPr>
        <p:spPr>
          <a:xfrm>
            <a:off x="1005840" y="5468112"/>
            <a:ext cx="2194560" cy="411480"/>
          </a:xfrm>
          <a:prstGeom prst="rect">
            <a:avLst/>
          </a:prstGeom>
          <a:noFill/>
          <a:ln/>
        </p:spPr>
        <p:txBody>
          <a:bodyPr wrap="square" lIns="0" tIns="0" rIns="0" bIns="0" rtlCol="0" anchor="ctr"/>
          <a:lstStyle/>
          <a:p>
            <a:pPr marL="0" indent="0">
              <a:buNone/>
            </a:pPr>
            <a:r>
              <a:rPr lang="en-US" sz="1150" dirty="0">
                <a:solidFill>
                  <a:srgbClr val="D9E2F5"/>
                </a:solidFill>
                <a:latin typeface="Calibri" pitchFamily="34" charset="0"/>
                <a:ea typeface="Calibri" pitchFamily="34" charset="-122"/>
                <a:cs typeface="Calibri" pitchFamily="34" charset="-120"/>
              </a:rPr>
              <a:t>kg/ha last season</a:t>
            </a:r>
            <a:endParaRPr lang="en-US" sz="1150" dirty="0"/>
          </a:p>
        </p:txBody>
      </p:sp>
      <p:sp>
        <p:nvSpPr>
          <p:cNvPr id="8" name="Shape 6"/>
          <p:cNvSpPr/>
          <p:nvPr/>
        </p:nvSpPr>
        <p:spPr>
          <a:xfrm>
            <a:off x="3657600" y="4754880"/>
            <a:ext cx="2560320" cy="1280160"/>
          </a:xfrm>
          <a:prstGeom prst="roundRect">
            <a:avLst>
              <a:gd name="adj" fmla="val 5714"/>
            </a:avLst>
          </a:prstGeom>
          <a:solidFill>
            <a:srgbClr val="2A3A66"/>
          </a:solidFill>
          <a:ln/>
        </p:spPr>
        <p:txBody>
          <a:bodyPr/>
          <a:lstStyle/>
          <a:p>
            <a:endParaRPr lang="en-US"/>
          </a:p>
        </p:txBody>
      </p:sp>
      <p:sp>
        <p:nvSpPr>
          <p:cNvPr id="9" name="Text 7"/>
          <p:cNvSpPr/>
          <p:nvPr/>
        </p:nvSpPr>
        <p:spPr>
          <a:xfrm>
            <a:off x="3840480" y="4919472"/>
            <a:ext cx="2194560" cy="548640"/>
          </a:xfrm>
          <a:prstGeom prst="rect">
            <a:avLst/>
          </a:prstGeom>
          <a:noFill/>
          <a:ln/>
        </p:spPr>
        <p:txBody>
          <a:bodyPr wrap="square" lIns="0" tIns="0" rIns="0" bIns="0" rtlCol="0" anchor="ctr"/>
          <a:lstStyle/>
          <a:p>
            <a:pPr marL="0" indent="0">
              <a:buNone/>
            </a:pPr>
            <a:r>
              <a:rPr lang="en-US" sz="2600" b="1" dirty="0">
                <a:solidFill>
                  <a:srgbClr val="E8B95A"/>
                </a:solidFill>
                <a:latin typeface="Calibri" pitchFamily="34" charset="0"/>
                <a:ea typeface="Calibri" pitchFamily="34" charset="-122"/>
                <a:cs typeface="Calibri" pitchFamily="34" charset="-120"/>
              </a:rPr>
              <a:t>5 March</a:t>
            </a:r>
            <a:endParaRPr lang="en-US" sz="2600" dirty="0"/>
          </a:p>
        </p:txBody>
      </p:sp>
      <p:sp>
        <p:nvSpPr>
          <p:cNvPr id="10" name="Text 8"/>
          <p:cNvSpPr/>
          <p:nvPr/>
        </p:nvSpPr>
        <p:spPr>
          <a:xfrm>
            <a:off x="3840480" y="5468112"/>
            <a:ext cx="2194560" cy="411480"/>
          </a:xfrm>
          <a:prstGeom prst="rect">
            <a:avLst/>
          </a:prstGeom>
          <a:noFill/>
          <a:ln/>
        </p:spPr>
        <p:txBody>
          <a:bodyPr wrap="square" lIns="0" tIns="0" rIns="0" bIns="0" rtlCol="0" anchor="ctr"/>
          <a:lstStyle/>
          <a:p>
            <a:pPr marL="0" indent="0">
              <a:buNone/>
            </a:pPr>
            <a:r>
              <a:rPr lang="en-US" sz="1150" dirty="0">
                <a:solidFill>
                  <a:srgbClr val="D9E2F5"/>
                </a:solidFill>
                <a:latin typeface="Calibri" pitchFamily="34" charset="0"/>
                <a:ea typeface="Calibri" pitchFamily="34" charset="-122"/>
                <a:cs typeface="Calibri" pitchFamily="34" charset="-120"/>
              </a:rPr>
              <a:t>the forecast clock</a:t>
            </a:r>
            <a:endParaRPr lang="en-US" sz="1150" dirty="0"/>
          </a:p>
        </p:txBody>
      </p:sp>
      <p:sp>
        <p:nvSpPr>
          <p:cNvPr id="11" name="Shape 9"/>
          <p:cNvSpPr/>
          <p:nvPr/>
        </p:nvSpPr>
        <p:spPr>
          <a:xfrm>
            <a:off x="6492240" y="4754880"/>
            <a:ext cx="2560320" cy="1280160"/>
          </a:xfrm>
          <a:prstGeom prst="roundRect">
            <a:avLst>
              <a:gd name="adj" fmla="val 5714"/>
            </a:avLst>
          </a:prstGeom>
          <a:solidFill>
            <a:srgbClr val="2A3A66"/>
          </a:solidFill>
          <a:ln/>
        </p:spPr>
        <p:txBody>
          <a:bodyPr/>
          <a:lstStyle/>
          <a:p>
            <a:endParaRPr lang="en-US"/>
          </a:p>
        </p:txBody>
      </p:sp>
      <p:sp>
        <p:nvSpPr>
          <p:cNvPr id="12" name="Text 10"/>
          <p:cNvSpPr/>
          <p:nvPr/>
        </p:nvSpPr>
        <p:spPr>
          <a:xfrm>
            <a:off x="6675120" y="4919472"/>
            <a:ext cx="2194560" cy="548640"/>
          </a:xfrm>
          <a:prstGeom prst="rect">
            <a:avLst/>
          </a:prstGeom>
          <a:noFill/>
          <a:ln/>
        </p:spPr>
        <p:txBody>
          <a:bodyPr wrap="square" lIns="0" tIns="0" rIns="0" bIns="0" rtlCol="0" anchor="ctr"/>
          <a:lstStyle/>
          <a:p>
            <a:pPr marL="0" indent="0">
              <a:buNone/>
            </a:pPr>
            <a:r>
              <a:rPr lang="en-US" sz="2600" b="1" dirty="0">
                <a:solidFill>
                  <a:srgbClr val="E8B95A"/>
                </a:solidFill>
                <a:latin typeface="Calibri" pitchFamily="34" charset="0"/>
                <a:ea typeface="Calibri" pitchFamily="34" charset="-122"/>
                <a:cs typeface="Calibri" pitchFamily="34" charset="-120"/>
              </a:rPr>
              <a:t>?</a:t>
            </a:r>
            <a:endParaRPr lang="en-US" sz="2600" dirty="0"/>
          </a:p>
        </p:txBody>
      </p:sp>
      <p:sp>
        <p:nvSpPr>
          <p:cNvPr id="13" name="Text 11"/>
          <p:cNvSpPr/>
          <p:nvPr/>
        </p:nvSpPr>
        <p:spPr>
          <a:xfrm>
            <a:off x="6675120" y="5468112"/>
            <a:ext cx="2194560" cy="411480"/>
          </a:xfrm>
          <a:prstGeom prst="rect">
            <a:avLst/>
          </a:prstGeom>
          <a:noFill/>
          <a:ln/>
        </p:spPr>
        <p:txBody>
          <a:bodyPr wrap="square" lIns="0" tIns="0" rIns="0" bIns="0" rtlCol="0" anchor="ctr"/>
          <a:lstStyle/>
          <a:p>
            <a:pPr marL="0" indent="0">
              <a:buNone/>
            </a:pPr>
            <a:r>
              <a:rPr lang="en-US" sz="1150" dirty="0">
                <a:solidFill>
                  <a:srgbClr val="D9E2F5"/>
                </a:solidFill>
                <a:latin typeface="Calibri" pitchFamily="34" charset="0"/>
                <a:ea typeface="Calibri" pitchFamily="34" charset="-122"/>
                <a:cs typeface="Calibri" pitchFamily="34" charset="-120"/>
              </a:rPr>
              <a:t>harvest, due in May</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REWARI 2022 · STAGE BY STAGE</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Watch the forecast move as each stage adds its information</a:t>
            </a:r>
            <a:endParaRPr lang="en-US" sz="2700" dirty="0"/>
          </a:p>
        </p:txBody>
      </p:sp>
      <p:pic>
        <p:nvPicPr>
          <p:cNvPr id="4" name="Image 0" descr="charts/03_rewari_waterfall.png"/>
          <p:cNvPicPr>
            <a:picLocks noChangeAspect="1"/>
          </p:cNvPicPr>
          <p:nvPr/>
        </p:nvPicPr>
        <p:blipFill>
          <a:blip r:embed="rId3"/>
          <a:stretch>
            <a:fillRect/>
          </a:stretch>
        </p:blipFill>
        <p:spPr>
          <a:xfrm>
            <a:off x="502920" y="1554480"/>
            <a:ext cx="7452360" cy="3703320"/>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229600" y="1645920"/>
          <a:ext cx="352044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happened</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extLst>
                  <a:ext uri="{0D108BD9-81ED-4DB2-BD59-A6C34878D82A}">
                    <a16:rowId xmlns:a16="http://schemas.microsoft.com/office/drawing/2014/main" val="10000"/>
                  </a:ext>
                </a:extLst>
              </a:tr>
              <a:tr h="457200">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Last season</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4,580</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the starting reference</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850" b="1" dirty="0">
                          <a:solidFill>
                            <a:srgbClr val="20242B"/>
                          </a:solidFill>
                          <a:latin typeface="Calibri" pitchFamily="34" charset="0"/>
                          <a:ea typeface="Calibri" pitchFamily="34" charset="-122"/>
                          <a:cs typeface="Calibri" pitchFamily="34" charset="-120"/>
                        </a:rPr>
                        <a:t>Stage 1 — Blend</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b="1" dirty="0">
                          <a:solidFill>
                            <a:srgbClr val="20242B"/>
                          </a:solidFill>
                          <a:latin typeface="Calibri" pitchFamily="34" charset="0"/>
                          <a:ea typeface="Calibri" pitchFamily="34" charset="-122"/>
                          <a:cs typeface="Calibri" pitchFamily="34" charset="-120"/>
                        </a:rPr>
                        <a:t>4,274.7</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history, weather, satellite and transfer all point down</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Stage 2 — weather ahead</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4,297.0</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10-day forecast mildly favourable: +22.3</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Stage 3 — training data</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4,287.2</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2013+ training nudges it −9.8</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850" b="1" dirty="0">
                          <a:solidFill>
                            <a:srgbClr val="20242B"/>
                          </a:solidFill>
                          <a:latin typeface="Calibri" pitchFamily="34" charset="0"/>
                          <a:ea typeface="Calibri" pitchFamily="34" charset="-122"/>
                          <a:cs typeface="Calibri" pitchFamily="34" charset="-120"/>
                        </a:rPr>
                        <a:t>Stage 4 — crop vision</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b="1" dirty="0">
                          <a:solidFill>
                            <a:srgbClr val="20242B"/>
                          </a:solidFill>
                          <a:latin typeface="Calibri" pitchFamily="34" charset="0"/>
                          <a:ea typeface="Calibri" pitchFamily="34" charset="-122"/>
                          <a:cs typeface="Calibri" pitchFamily="34" charset="-120"/>
                        </a:rPr>
                        <a:t>4,161.6</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dirty="0">
                          <a:solidFill>
                            <a:srgbClr val="20242B"/>
                          </a:solidFill>
                          <a:latin typeface="Calibri" pitchFamily="34" charset="0"/>
                          <a:ea typeface="Calibri" pitchFamily="34" charset="-122"/>
                          <a:cs typeface="Calibri" pitchFamily="34" charset="-120"/>
                        </a:rPr>
                        <a:t>the network sees a struggling crop: −125.6</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850" b="1" dirty="0">
                          <a:solidFill>
                            <a:srgbClr val="1D7A34"/>
                          </a:solidFill>
                          <a:latin typeface="Calibri" pitchFamily="34" charset="0"/>
                          <a:ea typeface="Calibri" pitchFamily="34" charset="-122"/>
                          <a:cs typeface="Calibri" pitchFamily="34" charset="-120"/>
                        </a:rPr>
                        <a:t>Actual harvest</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b="1" dirty="0">
                          <a:solidFill>
                            <a:srgbClr val="1D7A34"/>
                          </a:solidFill>
                          <a:latin typeface="Calibri" pitchFamily="34" charset="0"/>
                          <a:ea typeface="Calibri" pitchFamily="34" charset="-122"/>
                          <a:cs typeface="Calibri" pitchFamily="34" charset="-120"/>
                        </a:rPr>
                        <a:t>4,150.0</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850" dirty="0">
                          <a:solidFill>
                            <a:srgbClr val="1D7A34"/>
                          </a:solidFill>
                          <a:latin typeface="Calibri" pitchFamily="34" charset="0"/>
                          <a:ea typeface="Calibri" pitchFamily="34" charset="-122"/>
                          <a:cs typeface="Calibri" pitchFamily="34" charset="-120"/>
                        </a:rPr>
                        <a:t>error: 11.6 kg/ha — 0.3%</a:t>
                      </a:r>
                      <a:endParaRPr lang="en-US" sz="8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2"/>
          <p:cNvSpPr/>
          <p:nvPr/>
        </p:nvSpPr>
        <p:spPr>
          <a:xfrm>
            <a:off x="502920" y="5532120"/>
            <a:ext cx="7452360" cy="868680"/>
          </a:xfrm>
          <a:prstGeom prst="roundRect">
            <a:avLst>
              <a:gd name="adj" fmla="val 7368"/>
            </a:avLst>
          </a:prstGeom>
          <a:solidFill>
            <a:srgbClr val="FBF3E2"/>
          </a:solidFill>
          <a:ln/>
        </p:spPr>
        <p:txBody>
          <a:bodyPr/>
          <a:lstStyle/>
          <a:p>
            <a:endParaRPr lang="en-US"/>
          </a:p>
        </p:txBody>
      </p:sp>
      <p:sp>
        <p:nvSpPr>
          <p:cNvPr id="7" name="Text 3"/>
          <p:cNvSpPr/>
          <p:nvPr/>
        </p:nvSpPr>
        <p:spPr>
          <a:xfrm>
            <a:off x="640080" y="5532120"/>
            <a:ext cx="7178040" cy="868680"/>
          </a:xfrm>
          <a:prstGeom prst="rect">
            <a:avLst/>
          </a:prstGeom>
          <a:noFill/>
          <a:ln/>
        </p:spPr>
        <p:txBody>
          <a:bodyPr wrap="square" lIns="0" tIns="0" rIns="0" bIns="0" rtlCol="0" anchor="ctr"/>
          <a:lstStyle/>
          <a:p>
            <a:pPr marL="0" indent="0" algn="ctr">
              <a:lnSpc>
                <a:spcPct val="112000"/>
              </a:lnSpc>
              <a:buNone/>
            </a:pPr>
            <a:r>
              <a:rPr lang="en-US" sz="1600" b="1" dirty="0">
                <a:solidFill>
                  <a:srgbClr val="20242B"/>
                </a:solidFill>
                <a:latin typeface="Cambria" pitchFamily="34" charset="0"/>
                <a:ea typeface="Cambria" pitchFamily="34" charset="-122"/>
                <a:cs typeface="Cambria" pitchFamily="34" charset="-120"/>
              </a:rPr>
              <a:t>final = 4,297.01 + 0.25×(−39.09) + 2.25×(−55.84)</a:t>
            </a:r>
            <a:endParaRPr lang="en-US" sz="1600" dirty="0"/>
          </a:p>
          <a:p>
            <a:pPr marL="0" indent="0" algn="ctr">
              <a:lnSpc>
                <a:spcPct val="112000"/>
              </a:lnSpc>
              <a:buNone/>
            </a:pPr>
            <a:r>
              <a:rPr lang="en-US" sz="1600" b="1" dirty="0">
                <a:solidFill>
                  <a:srgbClr val="20242B"/>
                </a:solidFill>
                <a:latin typeface="Cambria" pitchFamily="34" charset="0"/>
                <a:ea typeface="Cambria" pitchFamily="34" charset="-122"/>
                <a:cs typeface="Cambria" pitchFamily="34" charset="-120"/>
              </a:rPr>
              <a:t>= 4,297.01 − 9.77 − 125.65 = 4,161.59</a:t>
            </a:r>
            <a:endParaRPr lang="en-US" sz="1600" dirty="0"/>
          </a:p>
        </p:txBody>
      </p:sp>
      <p:sp>
        <p:nvSpPr>
          <p:cNvPr id="8" name="Text 4"/>
          <p:cNvSpPr/>
          <p:nvPr/>
        </p:nvSpPr>
        <p:spPr>
          <a:xfrm>
            <a:off x="8229600" y="5623560"/>
            <a:ext cx="3520440" cy="1005840"/>
          </a:xfrm>
          <a:prstGeom prst="rect">
            <a:avLst/>
          </a:prstGeom>
          <a:noFill/>
          <a:ln/>
        </p:spPr>
        <p:txBody>
          <a:bodyPr wrap="square" lIns="0" tIns="0" rIns="0" bIns="0" rtlCol="0" anchor="t"/>
          <a:lstStyle/>
          <a:p>
            <a:pPr marL="0" indent="0" algn="l">
              <a:lnSpc>
                <a:spcPct val="114000"/>
              </a:lnSpc>
              <a:buNone/>
            </a:pPr>
            <a:r>
              <a:rPr lang="en-US" sz="1050" dirty="0">
                <a:solidFill>
                  <a:srgbClr val="5A6170"/>
                </a:solidFill>
                <a:latin typeface="Calibri" pitchFamily="34" charset="0"/>
                <a:ea typeface="Calibri" pitchFamily="34" charset="-122"/>
                <a:cs typeface="Calibri" pitchFamily="34" charset="-120"/>
              </a:rPr>
              <a:t>The earlier model said 4,261.7 — an error of 111.7. The network did the work here: it detected crop distress the weather-and-history models missed entirely.</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REWARI 2022 · THE FULL FORECAST</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This is the slide to spend time on</a:t>
            </a:r>
            <a:endParaRPr lang="en-US" sz="27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539496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4747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Quantile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Yield</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Read as</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q05</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3,707</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1-in-20 worst case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q10</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3,822</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bottom of the 80% range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q25</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3,986</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pessimistic</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q50</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4,162</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the point forecast</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q75</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4,352</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optimistic</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q90</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4,529</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top of the 80% range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q95</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4,674</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1-in-20 best case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502920" y="4572000"/>
          <a:ext cx="539496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3383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Question</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Answer</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extLst>
                  <a:ext uri="{0D108BD9-81ED-4DB2-BD59-A6C34878D82A}">
                    <a16:rowId xmlns:a16="http://schemas.microsoft.com/office/drawing/2014/main" val="10000"/>
                  </a:ext>
                </a:extLst>
              </a:tr>
              <a:tr h="338328">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Will yield increase?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Fall more than 5%?</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75%</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Fall more than 10%?</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46%</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Fall more than 20%?</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4"/>
                  </a:ext>
                </a:extLst>
              </a:tr>
              <a:tr h="338328">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Fall more than 30%?</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2"/>
          <p:cNvSpPr/>
          <p:nvPr/>
        </p:nvSpPr>
        <p:spPr>
          <a:xfrm>
            <a:off x="6263640" y="1600200"/>
            <a:ext cx="5440680" cy="2743200"/>
          </a:xfrm>
          <a:prstGeom prst="roundRect">
            <a:avLst>
              <a:gd name="adj" fmla="val 2667"/>
            </a:avLst>
          </a:prstGeom>
          <a:solidFill>
            <a:srgbClr val="1F2B4D"/>
          </a:solidFill>
          <a:ln/>
        </p:spPr>
        <p:txBody>
          <a:bodyPr/>
          <a:lstStyle/>
          <a:p>
            <a:endParaRPr lang="en-US"/>
          </a:p>
        </p:txBody>
      </p:sp>
      <p:sp>
        <p:nvSpPr>
          <p:cNvPr id="7" name="Text 3"/>
          <p:cNvSpPr/>
          <p:nvPr/>
        </p:nvSpPr>
        <p:spPr>
          <a:xfrm>
            <a:off x="6537960" y="1828800"/>
            <a:ext cx="4937760" cy="274320"/>
          </a:xfrm>
          <a:prstGeom prst="rect">
            <a:avLst/>
          </a:prstGeom>
          <a:noFill/>
          <a:ln/>
        </p:spPr>
        <p:txBody>
          <a:bodyPr wrap="square" lIns="0" tIns="0" rIns="0" bIns="0" rtlCol="0" anchor="ctr"/>
          <a:lstStyle/>
          <a:p>
            <a:pPr marL="0" indent="0">
              <a:buNone/>
            </a:pPr>
            <a:r>
              <a:rPr lang="en-US" sz="1100" b="1" kern="0" spc="100" dirty="0">
                <a:solidFill>
                  <a:srgbClr val="E8B95A"/>
                </a:solidFill>
                <a:latin typeface="Calibri" pitchFamily="34" charset="0"/>
                <a:ea typeface="Calibri" pitchFamily="34" charset="-122"/>
                <a:cs typeface="Calibri" pitchFamily="34" charset="-120"/>
              </a:rPr>
              <a:t>WHAT HAPPENED</a:t>
            </a:r>
            <a:endParaRPr lang="en-US" sz="1100" dirty="0"/>
          </a:p>
        </p:txBody>
      </p:sp>
      <p:sp>
        <p:nvSpPr>
          <p:cNvPr id="8" name="Text 4"/>
          <p:cNvSpPr/>
          <p:nvPr/>
        </p:nvSpPr>
        <p:spPr>
          <a:xfrm>
            <a:off x="6537960" y="2194560"/>
            <a:ext cx="4937760" cy="2011680"/>
          </a:xfrm>
          <a:prstGeom prst="rect">
            <a:avLst/>
          </a:prstGeom>
          <a:noFill/>
          <a:ln/>
        </p:spPr>
        <p:txBody>
          <a:bodyPr wrap="square" lIns="0" tIns="0" rIns="0" bIns="0" rtlCol="0" anchor="t"/>
          <a:lstStyle/>
          <a:p>
            <a:pPr marL="0" indent="0" algn="l">
              <a:lnSpc>
                <a:spcPct val="114000"/>
              </a:lnSpc>
              <a:buNone/>
            </a:pPr>
            <a:r>
              <a:rPr lang="en-US" sz="1500" b="1" dirty="0">
                <a:solidFill>
                  <a:srgbClr val="FFFFFF"/>
                </a:solidFill>
                <a:latin typeface="Calibri" pitchFamily="34" charset="0"/>
                <a:ea typeface="Calibri" pitchFamily="34" charset="-122"/>
                <a:cs typeface="Calibri" pitchFamily="34" charset="-120"/>
              </a:rPr>
              <a:t>The harvest came in at 4,150 — a 9.4% fall.
</a:t>
            </a:r>
            <a:r>
              <a:rPr lang="en-US" sz="1300" dirty="0">
                <a:solidFill>
                  <a:srgbClr val="D9E2F5"/>
                </a:solidFill>
                <a:latin typeface="Calibri" pitchFamily="34" charset="0"/>
                <a:ea typeface="Calibri" pitchFamily="34" charset="-122"/>
                <a:cs typeface="Calibri" pitchFamily="34" charset="-120"/>
              </a:rPr>
              <a:t>The model had said a fall was 92% likely, and placed the outcome right at the 10%-fall boundary. The point forecast missed by 11.6 kg/ha.</a:t>
            </a:r>
            <a:endParaRPr lang="en-US" sz="1300" dirty="0"/>
          </a:p>
        </p:txBody>
      </p:sp>
      <p:sp>
        <p:nvSpPr>
          <p:cNvPr id="9" name="Shape 5"/>
          <p:cNvSpPr/>
          <p:nvPr/>
        </p:nvSpPr>
        <p:spPr>
          <a:xfrm>
            <a:off x="6263640" y="4526280"/>
            <a:ext cx="5440680" cy="2057400"/>
          </a:xfrm>
          <a:prstGeom prst="roundRect">
            <a:avLst>
              <a:gd name="adj" fmla="val 3556"/>
            </a:avLst>
          </a:prstGeom>
          <a:solidFill>
            <a:srgbClr val="FBF3E2"/>
          </a:solidFill>
          <a:ln/>
        </p:spPr>
        <p:txBody>
          <a:bodyPr/>
          <a:lstStyle/>
          <a:p>
            <a:endParaRPr lang="en-US"/>
          </a:p>
        </p:txBody>
      </p:sp>
      <p:sp>
        <p:nvSpPr>
          <p:cNvPr id="10" name="Text 6"/>
          <p:cNvSpPr/>
          <p:nvPr/>
        </p:nvSpPr>
        <p:spPr>
          <a:xfrm>
            <a:off x="6537960" y="4709160"/>
            <a:ext cx="4937760" cy="1691640"/>
          </a:xfrm>
          <a:prstGeom prst="rect">
            <a:avLst/>
          </a:prstGeom>
          <a:noFill/>
          <a:ln/>
        </p:spPr>
        <p:txBody>
          <a:bodyPr wrap="square" lIns="0" tIns="0" rIns="0" bIns="0" rtlCol="0" anchor="ctr"/>
          <a:lstStyle/>
          <a:p>
            <a:pPr marL="0" indent="0">
              <a:lnSpc>
                <a:spcPct val="120000"/>
              </a:lnSpc>
              <a:buNone/>
            </a:pPr>
            <a:r>
              <a:rPr lang="en-US" sz="1300" b="1" dirty="0">
                <a:solidFill>
                  <a:srgbClr val="C98500"/>
                </a:solidFill>
                <a:latin typeface="Calibri" pitchFamily="34" charset="0"/>
                <a:ea typeface="Calibri" pitchFamily="34" charset="-122"/>
                <a:cs typeface="Calibri" pitchFamily="34" charset="-120"/>
              </a:rPr>
              <a:t>Why a distribution beats a number:  </a:t>
            </a:r>
            <a:r>
              <a:rPr lang="en-US" sz="1300" dirty="0">
                <a:solidFill>
                  <a:srgbClr val="20242B"/>
                </a:solidFill>
                <a:latin typeface="Calibri" pitchFamily="34" charset="0"/>
                <a:ea typeface="Calibri" pitchFamily="34" charset="-122"/>
                <a:cs typeface="Calibri" pitchFamily="34" charset="-120"/>
              </a:rPr>
              <a:t>“Yield will be 4,162” is brittle and usually wrong. “Yield will very likely fall, most probably to around 4,150, with a 1-in-20 chance of dropping below 3,707” is both true and actionable.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PART 6 · RESULTS</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Are the probabilities honest? The most important table in the project</a:t>
            </a:r>
            <a:endParaRPr lang="en-US" sz="2700" dirty="0"/>
          </a:p>
        </p:txBody>
      </p:sp>
      <p:pic>
        <p:nvPicPr>
          <p:cNvPr id="4" name="Image 0" descr="charts/06_calibration.png"/>
          <p:cNvPicPr>
            <a:picLocks noChangeAspect="1"/>
          </p:cNvPicPr>
          <p:nvPr/>
        </p:nvPicPr>
        <p:blipFill>
          <a:blip r:embed="rId3"/>
          <a:stretch>
            <a:fillRect/>
          </a:stretch>
        </p:blipFill>
        <p:spPr>
          <a:xfrm>
            <a:off x="502920" y="1554480"/>
            <a:ext cx="6949440" cy="3246120"/>
          </a:xfrm>
          <a:prstGeom prst="rect">
            <a:avLst/>
          </a:prstGeom>
        </p:spPr>
      </p:pic>
      <p:sp>
        <p:nvSpPr>
          <p:cNvPr id="5" name="Text 2"/>
          <p:cNvSpPr/>
          <p:nvPr/>
        </p:nvSpPr>
        <p:spPr>
          <a:xfrm>
            <a:off x="502920" y="4983480"/>
            <a:ext cx="6949440" cy="1554480"/>
          </a:xfrm>
          <a:prstGeom prst="rect">
            <a:avLst/>
          </a:prstGeom>
          <a:noFill/>
          <a:ln/>
        </p:spPr>
        <p:txBody>
          <a:bodyPr wrap="square" lIns="0" tIns="0" rIns="0" bIns="0" rtlCol="0" anchor="t"/>
          <a:lstStyle/>
          <a:p>
            <a:pPr marL="0" indent="0" algn="l">
              <a:lnSpc>
                <a:spcPct val="114000"/>
              </a:lnSpc>
              <a:buNone/>
            </a:pPr>
            <a:r>
              <a:rPr lang="en-US" sz="1400" b="1" dirty="0">
                <a:solidFill>
                  <a:srgbClr val="20242B"/>
                </a:solidFill>
                <a:latin typeface="Calibri" pitchFamily="34" charset="0"/>
                <a:ea typeface="Calibri" pitchFamily="34" charset="-122"/>
                <a:cs typeface="Calibri" pitchFamily="34" charset="-120"/>
              </a:rPr>
              <a:t>When the model says “10% chance”, it happens about 10% of the time. </a:t>
            </a:r>
            <a:r>
              <a:rPr lang="en-US" sz="1250" dirty="0">
                <a:solidFill>
                  <a:srgbClr val="20242B"/>
                </a:solidFill>
                <a:latin typeface="Calibri" pitchFamily="34" charset="0"/>
                <a:ea typeface="Calibri" pitchFamily="34" charset="-122"/>
                <a:cs typeface="Calibri" pitchFamily="34" charset="-120"/>
              </a:rPr>
              <a:t>That is what makes these numbers usable for decisions rather than decoration. Verified across all 476 district-seasons: stated 29.9% vs observed 29.2% (falls &gt; 5%); 11.5% vs 10.9% (falls &gt; 10%); 45.9% vs 43.5% (any increase).</a:t>
            </a:r>
            <a:endParaRPr lang="en-US" sz="1300" dirty="0"/>
          </a:p>
        </p:txBody>
      </p:sp>
      <p:sp>
        <p:nvSpPr>
          <p:cNvPr id="6" name="Shape 3"/>
          <p:cNvSpPr/>
          <p:nvPr/>
        </p:nvSpPr>
        <p:spPr>
          <a:xfrm>
            <a:off x="7772400" y="1554480"/>
            <a:ext cx="3931920" cy="4983480"/>
          </a:xfrm>
          <a:prstGeom prst="roundRect">
            <a:avLst>
              <a:gd name="adj" fmla="val 1860"/>
            </a:avLst>
          </a:prstGeom>
          <a:solidFill>
            <a:srgbClr val="FDECEA"/>
          </a:solidFill>
          <a:ln/>
        </p:spPr>
        <p:txBody>
          <a:bodyPr/>
          <a:lstStyle/>
          <a:p>
            <a:endParaRPr lang="en-US"/>
          </a:p>
        </p:txBody>
      </p:sp>
      <p:sp>
        <p:nvSpPr>
          <p:cNvPr id="7" name="Text 4"/>
          <p:cNvSpPr/>
          <p:nvPr/>
        </p:nvSpPr>
        <p:spPr>
          <a:xfrm>
            <a:off x="8001000" y="1783080"/>
            <a:ext cx="3474720" cy="292608"/>
          </a:xfrm>
          <a:prstGeom prst="rect">
            <a:avLst/>
          </a:prstGeom>
          <a:noFill/>
          <a:ln/>
        </p:spPr>
        <p:txBody>
          <a:bodyPr wrap="square" lIns="0" tIns="0" rIns="0" bIns="0" rtlCol="0" anchor="ctr"/>
          <a:lstStyle/>
          <a:p>
            <a:pPr marL="0" indent="0">
              <a:buNone/>
            </a:pPr>
            <a:r>
              <a:rPr lang="en-US" sz="1150" b="1" kern="0" spc="100" dirty="0">
                <a:solidFill>
                  <a:srgbClr val="C63B36"/>
                </a:solidFill>
                <a:latin typeface="Calibri" pitchFamily="34" charset="0"/>
                <a:ea typeface="Calibri" pitchFamily="34" charset="-122"/>
                <a:cs typeface="Calibri" pitchFamily="34" charset="-120"/>
              </a:rPr>
              <a:t>⚠  THE EXCEPTION</a:t>
            </a:r>
            <a:endParaRPr lang="en-US" sz="1150" dirty="0"/>
          </a:p>
        </p:txBody>
      </p:sp>
      <p:sp>
        <p:nvSpPr>
          <p:cNvPr id="8" name="Text 5"/>
          <p:cNvSpPr/>
          <p:nvPr/>
        </p:nvSpPr>
        <p:spPr>
          <a:xfrm>
            <a:off x="8001000" y="2194560"/>
            <a:ext cx="3474720" cy="4114800"/>
          </a:xfrm>
          <a:prstGeom prst="rect">
            <a:avLst/>
          </a:prstGeom>
          <a:noFill/>
          <a:ln/>
        </p:spPr>
        <p:txBody>
          <a:bodyPr wrap="square" lIns="0" tIns="0" rIns="0" bIns="0" rtlCol="0" anchor="t"/>
          <a:lstStyle/>
          <a:p>
            <a:pPr marL="0" indent="0" algn="l">
              <a:lnSpc>
                <a:spcPct val="114000"/>
              </a:lnSpc>
              <a:buNone/>
            </a:pPr>
            <a:r>
              <a:rPr lang="en-US" sz="1250" b="1" dirty="0">
                <a:solidFill>
                  <a:srgbClr val="20242B"/>
                </a:solidFill>
                <a:latin typeface="Calibri" pitchFamily="34" charset="0"/>
                <a:ea typeface="Calibri" pitchFamily="34" charset="-122"/>
                <a:cs typeface="Calibri" pitchFamily="34" charset="-120"/>
              </a:rPr>
              <a:t>The extreme tail. </a:t>
            </a:r>
            <a:r>
              <a:rPr lang="en-US" sz="1250" dirty="0">
                <a:solidFill>
                  <a:srgbClr val="20242B"/>
                </a:solidFill>
                <a:latin typeface="Calibri" pitchFamily="34" charset="0"/>
                <a:ea typeface="Calibri" pitchFamily="34" charset="-122"/>
                <a:cs typeface="Calibri" pitchFamily="34" charset="-120"/>
              </a:rPr>
              <a:t>The model says 1.2% for a collapse worse than 20%, where reality delivers 2.3%.</a:t>
            </a:r>
            <a:endParaRPr lang="en-US" sz="1250" dirty="0"/>
          </a:p>
          <a:p>
            <a:pPr marL="0" indent="0" algn="l">
              <a:lnSpc>
                <a:spcPct val="114000"/>
              </a:lnSpc>
              <a:buNone/>
            </a:pPr>
            <a:endParaRPr lang="en-US" sz="1250" dirty="0"/>
          </a:p>
          <a:p>
            <a:pPr marL="0" indent="0" algn="l">
              <a:lnSpc>
                <a:spcPct val="114000"/>
              </a:lnSpc>
              <a:buNone/>
            </a:pPr>
            <a:r>
              <a:rPr lang="en-US" sz="1250" dirty="0">
                <a:solidFill>
                  <a:srgbClr val="20242B"/>
                </a:solidFill>
                <a:latin typeface="Calibri" pitchFamily="34" charset="0"/>
                <a:ea typeface="Calibri" pitchFamily="34" charset="-122"/>
                <a:cs typeface="Calibri" pitchFamily="34" charset="-120"/>
              </a:rPr>
              <a:t>It is slightly over-confident about catastrophes — worth stating plainly, and unsurprising: those are exactly the events with the fewest examples to learn from.</a:t>
            </a:r>
            <a:endParaRPr lang="en-US" sz="1250" dirty="0"/>
          </a:p>
          <a:p>
            <a:pPr marL="0" indent="0" algn="l">
              <a:lnSpc>
                <a:spcPct val="114000"/>
              </a:lnSpc>
              <a:buNone/>
            </a:pPr>
            <a:endParaRPr lang="en-US" sz="1250" dirty="0"/>
          </a:p>
          <a:p>
            <a:pPr marL="0" indent="0" algn="l">
              <a:lnSpc>
                <a:spcPct val="114000"/>
              </a:lnSpc>
              <a:buNone/>
            </a:pPr>
            <a:r>
              <a:rPr lang="en-US" sz="1250" dirty="0">
                <a:solidFill>
                  <a:srgbClr val="20242B"/>
                </a:solidFill>
                <a:latin typeface="Calibri" pitchFamily="34" charset="0"/>
                <a:ea typeface="Calibri" pitchFamily="34" charset="-122"/>
                <a:cs typeface="Calibri" pitchFamily="34" charset="-120"/>
              </a:rPr>
              <a:t>A user planning for disaster scenarios should roughly double the model's stated probability of one.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PART 6 · RESULTS</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Accuracy: improved in 4 of 4 seasons — say it that way, not “100% confident”</a:t>
            </a:r>
            <a:endParaRPr lang="en-US" sz="2700" dirty="0"/>
          </a:p>
        </p:txBody>
      </p:sp>
      <p:pic>
        <p:nvPicPr>
          <p:cNvPr id="4" name="Image 0" descr="charts/07_per_season.png"/>
          <p:cNvPicPr>
            <a:picLocks noChangeAspect="1"/>
          </p:cNvPicPr>
          <p:nvPr/>
        </p:nvPicPr>
        <p:blipFill>
          <a:blip r:embed="rId3"/>
          <a:stretch>
            <a:fillRect/>
          </a:stretch>
        </p:blipFill>
        <p:spPr>
          <a:xfrm>
            <a:off x="502920" y="1554480"/>
            <a:ext cx="7040880" cy="3291840"/>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726680" y="1691640"/>
          <a:ext cx="3977640" cy="2362200"/>
        </p:xfrm>
        <a:graphic>
          <a:graphicData uri="http://schemas.openxmlformats.org/drawingml/2006/table">
            <a:tbl>
              <a:tblPr/>
              <a:tblGrid>
                <a:gridCol w="23317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Probability measure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Earlier</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This model</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extLst>
                  <a:ext uri="{0D108BD9-81ED-4DB2-BD59-A6C34878D82A}">
                    <a16:rowId xmlns:a16="http://schemas.microsoft.com/office/drawing/2014/main" val="10000"/>
                  </a:ext>
                </a:extLst>
              </a:tr>
              <a:tr h="384048">
                <a:tc>
                  <a:txBody>
                    <a:bodyPr/>
                    <a:lstStyle/>
                    <a:p>
                      <a:pPr marL="0" indent="0">
                        <a:buNone/>
                      </a:pPr>
                      <a:r>
                        <a:rPr lang="en-US" sz="950" dirty="0">
                          <a:solidFill>
                            <a:srgbClr val="20242B"/>
                          </a:solidFill>
                          <a:latin typeface="Calibri" pitchFamily="34" charset="0"/>
                          <a:ea typeface="Calibri" pitchFamily="34" charset="-122"/>
                          <a:cs typeface="Calibri" pitchFamily="34" charset="-120"/>
                        </a:rPr>
                        <a:t>Scoring rule (lower = better)</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950" dirty="0">
                          <a:solidFill>
                            <a:srgbClr val="20242B"/>
                          </a:solidFill>
                          <a:latin typeface="Calibri" pitchFamily="34" charset="0"/>
                          <a:ea typeface="Calibri" pitchFamily="34" charset="-122"/>
                          <a:cs typeface="Calibri" pitchFamily="34" charset="-120"/>
                        </a:rPr>
                        <a:t>151.9</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950" b="1" dirty="0">
                          <a:solidFill>
                            <a:srgbClr val="20242B"/>
                          </a:solidFill>
                          <a:latin typeface="Calibri" pitchFamily="34" charset="0"/>
                          <a:ea typeface="Calibri" pitchFamily="34" charset="-122"/>
                          <a:cs typeface="Calibri" pitchFamily="34" charset="-120"/>
                        </a:rPr>
                        <a:t>149.7</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950" dirty="0">
                          <a:solidFill>
                            <a:srgbClr val="20242B"/>
                          </a:solidFill>
                          <a:latin typeface="Calibri" pitchFamily="34" charset="0"/>
                          <a:ea typeface="Calibri" pitchFamily="34" charset="-122"/>
                          <a:cs typeface="Calibri" pitchFamily="34" charset="-120"/>
                        </a:rPr>
                        <a:t>80% interval coverage (should be 80%)</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950" dirty="0">
                          <a:solidFill>
                            <a:srgbClr val="20242B"/>
                          </a:solidFill>
                          <a:latin typeface="Calibri" pitchFamily="34" charset="0"/>
                          <a:ea typeface="Calibri" pitchFamily="34" charset="-122"/>
                          <a:cs typeface="Calibri" pitchFamily="34" charset="-120"/>
                        </a:rPr>
                        <a:t>78.4%</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950" b="1" dirty="0">
                          <a:solidFill>
                            <a:srgbClr val="20242B"/>
                          </a:solidFill>
                          <a:latin typeface="Calibri" pitchFamily="34" charset="0"/>
                          <a:ea typeface="Calibri" pitchFamily="34" charset="-122"/>
                          <a:cs typeface="Calibri" pitchFamily="34" charset="-120"/>
                        </a:rPr>
                        <a:t>80.9%</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950" dirty="0">
                          <a:solidFill>
                            <a:srgbClr val="20242B"/>
                          </a:solidFill>
                          <a:latin typeface="Calibri" pitchFamily="34" charset="0"/>
                          <a:ea typeface="Calibri" pitchFamily="34" charset="-122"/>
                          <a:cs typeface="Calibri" pitchFamily="34" charset="-120"/>
                        </a:rPr>
                        <a:t>90% interval coverage (should be 90%)</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950" dirty="0">
                          <a:solidFill>
                            <a:srgbClr val="20242B"/>
                          </a:solidFill>
                          <a:latin typeface="Calibri" pitchFamily="34" charset="0"/>
                          <a:ea typeface="Calibri" pitchFamily="34" charset="-122"/>
                          <a:cs typeface="Calibri" pitchFamily="34" charset="-120"/>
                        </a:rPr>
                        <a:t>89.3%</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950" b="1" dirty="0">
                          <a:solidFill>
                            <a:srgbClr val="20242B"/>
                          </a:solidFill>
                          <a:latin typeface="Calibri" pitchFamily="34" charset="0"/>
                          <a:ea typeface="Calibri" pitchFamily="34" charset="-122"/>
                          <a:cs typeface="Calibri" pitchFamily="34" charset="-120"/>
                        </a:rPr>
                        <a:t>91.8%</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950" dirty="0">
                          <a:solidFill>
                            <a:srgbClr val="20242B"/>
                          </a:solidFill>
                          <a:latin typeface="Calibri" pitchFamily="34" charset="0"/>
                          <a:ea typeface="Calibri" pitchFamily="34" charset="-122"/>
                          <a:cs typeface="Calibri" pitchFamily="34" charset="-120"/>
                        </a:rPr>
                        <a:t>Ranking skill — rises (1.0 = perfect)</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950" dirty="0">
                          <a:solidFill>
                            <a:srgbClr val="20242B"/>
                          </a:solidFill>
                          <a:latin typeface="Calibri" pitchFamily="34" charset="0"/>
                          <a:ea typeface="Calibri" pitchFamily="34" charset="-122"/>
                          <a:cs typeface="Calibri" pitchFamily="34" charset="-120"/>
                        </a:rPr>
                        <a:t>0.845</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950" b="1" dirty="0">
                          <a:solidFill>
                            <a:srgbClr val="20242B"/>
                          </a:solidFill>
                          <a:latin typeface="Calibri" pitchFamily="34" charset="0"/>
                          <a:ea typeface="Calibri" pitchFamily="34" charset="-122"/>
                          <a:cs typeface="Calibri" pitchFamily="34" charset="-120"/>
                        </a:rPr>
                        <a:t>0.847</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950" dirty="0">
                          <a:solidFill>
                            <a:srgbClr val="20242B"/>
                          </a:solidFill>
                          <a:latin typeface="Calibri" pitchFamily="34" charset="0"/>
                          <a:ea typeface="Calibri" pitchFamily="34" charset="-122"/>
                          <a:cs typeface="Calibri" pitchFamily="34" charset="-120"/>
                        </a:rPr>
                        <a:t>Ranking skill — &gt;10% falls</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950" dirty="0">
                          <a:solidFill>
                            <a:srgbClr val="20242B"/>
                          </a:solidFill>
                          <a:latin typeface="Calibri" pitchFamily="34" charset="0"/>
                          <a:ea typeface="Calibri" pitchFamily="34" charset="-122"/>
                          <a:cs typeface="Calibri" pitchFamily="34" charset="-120"/>
                        </a:rPr>
                        <a:t>0.809</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950" b="1" dirty="0">
                          <a:solidFill>
                            <a:srgbClr val="20242B"/>
                          </a:solidFill>
                          <a:latin typeface="Calibri" pitchFamily="34" charset="0"/>
                          <a:ea typeface="Calibri" pitchFamily="34" charset="-122"/>
                          <a:cs typeface="Calibri" pitchFamily="34" charset="-120"/>
                        </a:rPr>
                        <a:t>0.820</a:t>
                      </a:r>
                      <a:endParaRPr lang="en-US" sz="9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2"/>
          <p:cNvSpPr/>
          <p:nvPr/>
        </p:nvSpPr>
        <p:spPr>
          <a:xfrm>
            <a:off x="7726680" y="4206240"/>
            <a:ext cx="3977640" cy="914400"/>
          </a:xfrm>
          <a:prstGeom prst="rect">
            <a:avLst/>
          </a:prstGeom>
          <a:noFill/>
          <a:ln/>
        </p:spPr>
        <p:txBody>
          <a:bodyPr wrap="square" lIns="0" tIns="0" rIns="0" bIns="0" rtlCol="0" anchor="t"/>
          <a:lstStyle/>
          <a:p>
            <a:pPr marL="0" indent="0" algn="l">
              <a:lnSpc>
                <a:spcPct val="114000"/>
              </a:lnSpc>
              <a:buNone/>
            </a:pPr>
            <a:r>
              <a:rPr lang="en-US" sz="1050" b="1" dirty="0">
                <a:solidFill>
                  <a:srgbClr val="20242B"/>
                </a:solidFill>
                <a:latin typeface="Calibri" pitchFamily="34" charset="0"/>
                <a:ea typeface="Calibri" pitchFamily="34" charset="-122"/>
                <a:cs typeface="Calibri" pitchFamily="34" charset="-120"/>
              </a:rPr>
              <a:t>Ranking skill: </a:t>
            </a:r>
            <a:r>
              <a:rPr lang="en-US" sz="1050" dirty="0">
                <a:solidFill>
                  <a:srgbClr val="20242B"/>
                </a:solidFill>
                <a:latin typeface="Calibri" pitchFamily="34" charset="0"/>
                <a:ea typeface="Calibri" pitchFamily="34" charset="-122"/>
                <a:cs typeface="Calibri" pitchFamily="34" charset="-120"/>
              </a:rPr>
              <a:t>pick one district that had a bad year and one that didn't — how often does the model give the bad one the higher probability? At 0.82: four times in five.</a:t>
            </a:r>
            <a:endParaRPr lang="en-US" sz="1050" dirty="0"/>
          </a:p>
        </p:txBody>
      </p:sp>
      <p:sp>
        <p:nvSpPr>
          <p:cNvPr id="7" name="Shape 3"/>
          <p:cNvSpPr/>
          <p:nvPr/>
        </p:nvSpPr>
        <p:spPr>
          <a:xfrm>
            <a:off x="502920" y="5120640"/>
            <a:ext cx="11201400" cy="1417320"/>
          </a:xfrm>
          <a:prstGeom prst="roundRect">
            <a:avLst>
              <a:gd name="adj" fmla="val 4516"/>
            </a:avLst>
          </a:prstGeom>
          <a:solidFill>
            <a:srgbClr val="F4F5F7"/>
          </a:solidFill>
          <a:ln/>
        </p:spPr>
        <p:txBody>
          <a:bodyPr/>
          <a:lstStyle/>
          <a:p>
            <a:endParaRPr lang="en-US"/>
          </a:p>
        </p:txBody>
      </p:sp>
      <p:sp>
        <p:nvSpPr>
          <p:cNvPr id="8" name="Text 4"/>
          <p:cNvSpPr/>
          <p:nvPr/>
        </p:nvSpPr>
        <p:spPr>
          <a:xfrm>
            <a:off x="777240" y="5257800"/>
            <a:ext cx="10652760" cy="1143000"/>
          </a:xfrm>
          <a:prstGeom prst="rect">
            <a:avLst/>
          </a:prstGeom>
          <a:noFill/>
          <a:ln/>
        </p:spPr>
        <p:txBody>
          <a:bodyPr wrap="square" lIns="0" tIns="0" rIns="0" bIns="0" rtlCol="0" anchor="ctr"/>
          <a:lstStyle/>
          <a:p>
            <a:pPr marL="0" indent="0">
              <a:lnSpc>
                <a:spcPct val="115000"/>
              </a:lnSpc>
              <a:buNone/>
            </a:pPr>
            <a:r>
              <a:rPr lang="en-US" sz="1250" b="1" dirty="0">
                <a:solidFill>
                  <a:srgbClr val="000000"/>
                </a:solidFill>
                <a:latin typeface="Calibri" pitchFamily="34" charset="0"/>
                <a:ea typeface="Calibri" pitchFamily="34" charset="-122"/>
                <a:cs typeface="Calibri" pitchFamily="34" charset="-120"/>
              </a:rPr>
              <a:t>Direction accuracy is 78.8% — unchanged from the earlier model. </a:t>
            </a:r>
            <a:r>
              <a:rPr lang="en-US" sz="1250" dirty="0">
                <a:solidFill>
                  <a:srgbClr val="000000"/>
                </a:solidFill>
                <a:latin typeface="Calibri" pitchFamily="34" charset="0"/>
                <a:ea typeface="Calibri" pitchFamily="34" charset="-122"/>
                <a:cs typeface="Calibri" pitchFamily="34" charset="-120"/>
              </a:rPr>
              <a:t>The model calls up-vs-down right about four times in five; the gains above came from being closer in magnitude, not from calling more directions right. On a 4,500 kg/ha harvest, 265 kg/ha of typical error is about 5.9%. Stated plainly rather than glossed: the improvement is real, consistent — and small.</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PART 6 · WHY 5 MARCH?</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The forecast date matters more than any modelling choice</a:t>
            </a:r>
            <a:endParaRPr lang="en-US" sz="2700" dirty="0"/>
          </a:p>
        </p:txBody>
      </p:sp>
      <p:pic>
        <p:nvPicPr>
          <p:cNvPr id="4" name="Image 0" descr="charts/09_dates.png"/>
          <p:cNvPicPr>
            <a:picLocks noChangeAspect="1"/>
          </p:cNvPicPr>
          <p:nvPr/>
        </p:nvPicPr>
        <p:blipFill>
          <a:blip r:embed="rId3"/>
          <a:stretch>
            <a:fillRect/>
          </a:stretch>
        </p:blipFill>
        <p:spPr>
          <a:xfrm>
            <a:off x="502920" y="1554480"/>
            <a:ext cx="6766560" cy="3017520"/>
          </a:xfrm>
          <a:prstGeom prst="rect">
            <a:avLst/>
          </a:prstGeom>
        </p:spPr>
      </p:pic>
      <p:sp>
        <p:nvSpPr>
          <p:cNvPr id="5" name="Text 2"/>
          <p:cNvSpPr/>
          <p:nvPr/>
        </p:nvSpPr>
        <p:spPr>
          <a:xfrm>
            <a:off x="502920" y="4754880"/>
            <a:ext cx="6766560" cy="1737360"/>
          </a:xfrm>
          <a:prstGeom prst="rect">
            <a:avLst/>
          </a:prstGeom>
          <a:noFill/>
          <a:ln/>
        </p:spPr>
        <p:txBody>
          <a:bodyPr wrap="square" lIns="0" tIns="0" rIns="0" bIns="0" rtlCol="0" anchor="t"/>
          <a:lstStyle/>
          <a:p>
            <a:pPr marL="0" indent="0" algn="l">
              <a:lnSpc>
                <a:spcPct val="114000"/>
              </a:lnSpc>
              <a:buNone/>
            </a:pPr>
            <a:r>
              <a:rPr lang="en-US" sz="1250" dirty="0">
                <a:solidFill>
                  <a:srgbClr val="20242B"/>
                </a:solidFill>
                <a:latin typeface="Calibri" pitchFamily="34" charset="0"/>
                <a:ea typeface="Calibri" pitchFamily="34" charset="-122"/>
                <a:cs typeface="Calibri" pitchFamily="34" charset="-120"/>
              </a:rPr>
              <a:t>Moving from a January to a March forecast is worth 34 kg/ha and nearly 8 points of direction accuracy — the improvement appears in every measure at once, which is what a genuine information gain looks like. Everything this project added on top is worth a further 8 kg/ha. </a:t>
            </a:r>
            <a:r>
              <a:rPr lang="en-US" sz="1250" dirty="0">
                <a:solidFill>
                  <a:srgbClr val="5A6170"/>
                </a:solidFill>
                <a:latin typeface="Calibri" pitchFamily="34" charset="0"/>
                <a:ea typeface="Calibri" pitchFamily="34" charset="-122"/>
                <a:cs typeface="Calibri" pitchFamily="34" charset="-120"/>
              </a:rPr>
              <a:t>January and February share one locked model by design (their point forecasts are identical); only the probability layer was updated between them.</a:t>
            </a:r>
            <a:endParaRPr lang="en-US" sz="1250" dirty="0"/>
          </a:p>
        </p:txBody>
      </p:sp>
      <p:sp>
        <p:nvSpPr>
          <p:cNvPr id="6" name="Shape 3"/>
          <p:cNvSpPr/>
          <p:nvPr/>
        </p:nvSpPr>
        <p:spPr>
          <a:xfrm>
            <a:off x="7589520" y="1554480"/>
            <a:ext cx="4114800" cy="4937760"/>
          </a:xfrm>
          <a:prstGeom prst="roundRect">
            <a:avLst>
              <a:gd name="adj" fmla="val 1778"/>
            </a:avLst>
          </a:prstGeom>
          <a:solidFill>
            <a:srgbClr val="EAF1FB"/>
          </a:solidFill>
          <a:ln/>
        </p:spPr>
        <p:txBody>
          <a:bodyPr/>
          <a:lstStyle/>
          <a:p>
            <a:endParaRPr lang="en-US"/>
          </a:p>
        </p:txBody>
      </p:sp>
      <p:sp>
        <p:nvSpPr>
          <p:cNvPr id="7" name="Text 4"/>
          <p:cNvSpPr/>
          <p:nvPr/>
        </p:nvSpPr>
        <p:spPr>
          <a:xfrm>
            <a:off x="7818120" y="1783080"/>
            <a:ext cx="3657600" cy="274320"/>
          </a:xfrm>
          <a:prstGeom prst="rect">
            <a:avLst/>
          </a:prstGeom>
          <a:noFill/>
          <a:ln/>
        </p:spPr>
        <p:txBody>
          <a:bodyPr wrap="square" lIns="0" tIns="0" rIns="0" bIns="0" rtlCol="0" anchor="ctr"/>
          <a:lstStyle/>
          <a:p>
            <a:pPr marL="0" indent="0">
              <a:buNone/>
            </a:pPr>
            <a:r>
              <a:rPr lang="en-US" sz="1050" b="1" kern="0" spc="100" dirty="0">
                <a:solidFill>
                  <a:srgbClr val="2A78D6"/>
                </a:solidFill>
                <a:latin typeface="Calibri" pitchFamily="34" charset="0"/>
                <a:ea typeface="Calibri" pitchFamily="34" charset="-122"/>
                <a:cs typeface="Calibri" pitchFamily="34" charset="-120"/>
              </a:rPr>
              <a:t>WHY MARCH KNOWS MORE</a:t>
            </a:r>
            <a:endParaRPr lang="en-US" sz="1050" dirty="0"/>
          </a:p>
        </p:txBody>
      </p:sp>
      <p:sp>
        <p:nvSpPr>
          <p:cNvPr id="8" name="Text 5"/>
          <p:cNvSpPr/>
          <p:nvPr/>
        </p:nvSpPr>
        <p:spPr>
          <a:xfrm>
            <a:off x="7818120" y="2148840"/>
            <a:ext cx="3657600" cy="2286000"/>
          </a:xfrm>
          <a:prstGeom prst="rect">
            <a:avLst/>
          </a:prstGeom>
          <a:noFill/>
          <a:ln/>
        </p:spPr>
        <p:txBody>
          <a:bodyPr wrap="square" lIns="0" tIns="0" rIns="0" bIns="0" rtlCol="0" anchor="t"/>
          <a:lstStyle/>
          <a:p>
            <a:pPr marL="0" indent="0" algn="l">
              <a:lnSpc>
                <a:spcPct val="114000"/>
              </a:lnSpc>
              <a:buNone/>
            </a:pPr>
            <a:r>
              <a:rPr lang="en-US" sz="1250" dirty="0">
                <a:solidFill>
                  <a:srgbClr val="20242B"/>
                </a:solidFill>
                <a:latin typeface="Calibri" pitchFamily="34" charset="0"/>
                <a:ea typeface="Calibri" pitchFamily="34" charset="-122"/>
                <a:cs typeface="Calibri" pitchFamily="34" charset="-120"/>
              </a:rPr>
              <a:t>By early March the crop has stopped growing leaves and started filling grain — its condition is visible from orbit and its remaining weather exposure is short. In January, most of the season's story hasn't happened yet.
</a:t>
            </a:r>
            <a:endParaRPr lang="en-US" sz="1250" dirty="0"/>
          </a:p>
        </p:txBody>
      </p:sp>
      <p:sp>
        <p:nvSpPr>
          <p:cNvPr id="9" name="Text 6"/>
          <p:cNvSpPr/>
          <p:nvPr/>
        </p:nvSpPr>
        <p:spPr>
          <a:xfrm>
            <a:off x="7818120" y="4206240"/>
            <a:ext cx="3657600" cy="2148840"/>
          </a:xfrm>
          <a:prstGeom prst="rect">
            <a:avLst/>
          </a:prstGeom>
          <a:noFill/>
          <a:ln/>
        </p:spPr>
        <p:txBody>
          <a:bodyPr wrap="square" lIns="0" tIns="0" rIns="0" bIns="0" rtlCol="0" anchor="t"/>
          <a:lstStyle/>
          <a:p>
            <a:pPr marL="0" indent="0" algn="l">
              <a:lnSpc>
                <a:spcPct val="114000"/>
              </a:lnSpc>
              <a:buNone/>
            </a:pPr>
            <a:r>
              <a:rPr lang="en-US" sz="1250" b="1" dirty="0">
                <a:solidFill>
                  <a:srgbClr val="20242B"/>
                </a:solidFill>
                <a:latin typeface="Calibri" pitchFamily="34" charset="0"/>
                <a:ea typeface="Calibri" pitchFamily="34" charset="-122"/>
                <a:cs typeface="Calibri" pitchFamily="34" charset="-120"/>
              </a:rPr>
              <a:t>Still, January is not weak:  </a:t>
            </a:r>
            <a:r>
              <a:rPr lang="en-US" sz="1250" dirty="0">
                <a:solidFill>
                  <a:srgbClr val="20242B"/>
                </a:solidFill>
                <a:latin typeface="Calibri" pitchFamily="34" charset="0"/>
                <a:ea typeface="Calibri" pitchFamily="34" charset="-122"/>
                <a:cs typeface="Calibri" pitchFamily="34" charset="-120"/>
              </a:rPr>
              <a:t>~307 kg/ha (≈6.7% error) two months before harvest is usable for early planning. The question is not “January or March?” but “what is each date's answer worth?”</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PART 6 · THE SAME DISTRICT AT BOTH DATES</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What seven extra weeks of information did for Rewari</a:t>
            </a:r>
            <a:endParaRPr lang="en-US" sz="2700" dirty="0"/>
          </a:p>
        </p:txBody>
      </p:sp>
      <p:pic>
        <p:nvPicPr>
          <p:cNvPr id="4" name="Image 0" descr="charts/08_jan_vs_march.png"/>
          <p:cNvPicPr>
            <a:picLocks noChangeAspect="1"/>
          </p:cNvPicPr>
          <p:nvPr/>
        </p:nvPicPr>
        <p:blipFill>
          <a:blip r:embed="rId3"/>
          <a:stretch>
            <a:fillRect/>
          </a:stretch>
        </p:blipFill>
        <p:spPr>
          <a:xfrm>
            <a:off x="502920" y="1554480"/>
            <a:ext cx="7223760" cy="3154680"/>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8001000" y="1645920"/>
          <a:ext cx="3703320" cy="2560320"/>
        </p:xfrm>
        <a:graphic>
          <a:graphicData uri="http://schemas.openxmlformats.org/drawingml/2006/table">
            <a:tbl>
              <a:tblPr/>
              <a:tblGrid>
                <a:gridCol w="16916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65760">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15 Jan</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5 Mar</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extLst>
                  <a:ext uri="{0D108BD9-81ED-4DB2-BD59-A6C34878D82A}">
                    <a16:rowId xmlns:a16="http://schemas.microsoft.com/office/drawing/2014/main" val="10000"/>
                  </a:ext>
                </a:extLst>
              </a:tr>
              <a:tr h="365760">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Point forecast</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4,555</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b="1" dirty="0">
                          <a:solidFill>
                            <a:srgbClr val="20242B"/>
                          </a:solidFill>
                          <a:latin typeface="Calibri" pitchFamily="34" charset="0"/>
                          <a:ea typeface="Calibri" pitchFamily="34" charset="-122"/>
                          <a:cs typeface="Calibri" pitchFamily="34" charset="-120"/>
                        </a:rPr>
                        <a:t>4,162</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Error vs actual 4,150</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405</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b="1" dirty="0">
                          <a:solidFill>
                            <a:srgbClr val="1D7A34"/>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P(increase)</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43%</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P(fall &gt; 5%)</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75%</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P(fall &gt; 10%)</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b="1" dirty="0">
                          <a:solidFill>
                            <a:srgbClr val="20242B"/>
                          </a:solidFill>
                          <a:latin typeface="Calibri" pitchFamily="34" charset="0"/>
                          <a:ea typeface="Calibri" pitchFamily="34" charset="-122"/>
                          <a:cs typeface="Calibri" pitchFamily="34" charset="-120"/>
                        </a:rPr>
                        <a:t>46%</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P(fall &gt; 20%)</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050" dirty="0">
                          <a:solidFill>
                            <a:srgbClr val="20242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2"/>
          <p:cNvSpPr/>
          <p:nvPr/>
        </p:nvSpPr>
        <p:spPr>
          <a:xfrm>
            <a:off x="502920" y="4892040"/>
            <a:ext cx="11201400" cy="1645920"/>
          </a:xfrm>
          <a:prstGeom prst="rect">
            <a:avLst/>
          </a:prstGeom>
          <a:noFill/>
          <a:ln/>
        </p:spPr>
        <p:txBody>
          <a:bodyPr wrap="square" lIns="0" tIns="0" rIns="0" bIns="0" rtlCol="0" anchor="t"/>
          <a:lstStyle/>
          <a:p>
            <a:pPr marL="0" indent="0" algn="l">
              <a:lnSpc>
                <a:spcPct val="114000"/>
              </a:lnSpc>
              <a:buNone/>
            </a:pPr>
            <a:r>
              <a:rPr lang="en-US" sz="1250" dirty="0">
                <a:solidFill>
                  <a:srgbClr val="20242B"/>
                </a:solidFill>
                <a:latin typeface="Calibri" pitchFamily="34" charset="0"/>
                <a:ea typeface="Calibri" pitchFamily="34" charset="-122"/>
                <a:cs typeface="Calibri" pitchFamily="34" charset="-120"/>
              </a:rPr>
              <a:t>In January the model expected a decent year, put a serious decline at 9%, and sat 405 kg/ha too high — the outcome even fell below its 80% range. By March it had seen the crop: the forecast dropped 393 kg/ha, the decline probability rose to 46%, and it landed within 12 kg/ha of the truth. </a:t>
            </a:r>
            <a:r>
              <a:rPr lang="en-US" sz="1250" b="1" dirty="0">
                <a:solidFill>
                  <a:srgbClr val="20242B"/>
                </a:solidFill>
                <a:latin typeface="Calibri" pitchFamily="34" charset="0"/>
                <a:ea typeface="Calibri" pitchFamily="34" charset="-122"/>
                <a:cs typeface="Calibri" pitchFamily="34" charset="-120"/>
              </a:rPr>
              <a:t>The information that arrives during February and early March is what turns a wrong answer into a right one — that is the substantive case for the 5 March clock. </a:t>
            </a:r>
            <a:r>
              <a:rPr lang="en-US" sz="1250" dirty="0">
                <a:solidFill>
                  <a:srgbClr val="5A6170"/>
                </a:solidFill>
                <a:latin typeface="Calibri" pitchFamily="34" charset="0"/>
                <a:ea typeface="Calibri" pitchFamily="34" charset="-122"/>
                <a:cs typeface="Calibri" pitchFamily="34" charset="-120"/>
              </a:rPr>
              <a:t>January is honestly calibrated on average; this district is simply one it got wrong, and its distribution said so only weakly. That is the cost of forecasting seven weeks earlier.</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PART 6 · USING IT ACROSS A WHOLE REGION</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Never average district probabilities — count and sum instead</a:t>
            </a:r>
            <a:endParaRPr lang="en-US" sz="2700" dirty="0"/>
          </a:p>
        </p:txBody>
      </p:sp>
      <p:pic>
        <p:nvPicPr>
          <p:cNvPr id="4" name="Image 0" descr="charts/11_regional.png"/>
          <p:cNvPicPr>
            <a:picLocks noChangeAspect="1"/>
          </p:cNvPicPr>
          <p:nvPr/>
        </p:nvPicPr>
        <p:blipFill>
          <a:blip r:embed="rId3"/>
          <a:stretch>
            <a:fillRect/>
          </a:stretch>
        </p:blipFill>
        <p:spPr>
          <a:xfrm>
            <a:off x="502920" y="1508760"/>
            <a:ext cx="6217920" cy="4480560"/>
          </a:xfrm>
          <a:prstGeom prst="rect">
            <a:avLst/>
          </a:prstGeom>
        </p:spPr>
      </p:pic>
      <p:sp>
        <p:nvSpPr>
          <p:cNvPr id="5" name="Shape 2"/>
          <p:cNvSpPr/>
          <p:nvPr/>
        </p:nvSpPr>
        <p:spPr>
          <a:xfrm>
            <a:off x="6949440" y="1600200"/>
            <a:ext cx="4754880" cy="1078992"/>
          </a:xfrm>
          <a:prstGeom prst="roundRect">
            <a:avLst>
              <a:gd name="adj" fmla="val 5932"/>
            </a:avLst>
          </a:prstGeom>
          <a:solidFill>
            <a:srgbClr val="FBF3E2"/>
          </a:solidFill>
          <a:ln/>
        </p:spPr>
        <p:txBody>
          <a:bodyPr/>
          <a:lstStyle/>
          <a:p>
            <a:endParaRPr lang="en-US"/>
          </a:p>
        </p:txBody>
      </p:sp>
      <p:sp>
        <p:nvSpPr>
          <p:cNvPr id="6" name="Text 3"/>
          <p:cNvSpPr/>
          <p:nvPr/>
        </p:nvSpPr>
        <p:spPr>
          <a:xfrm>
            <a:off x="7178040" y="1691640"/>
            <a:ext cx="4297680" cy="914400"/>
          </a:xfrm>
          <a:prstGeom prst="rect">
            <a:avLst/>
          </a:prstGeom>
          <a:noFill/>
          <a:ln/>
        </p:spPr>
        <p:txBody>
          <a:bodyPr wrap="square" lIns="0" tIns="0" rIns="0" bIns="0" rtlCol="0" anchor="ctr"/>
          <a:lstStyle/>
          <a:p>
            <a:pPr marL="0" indent="0">
              <a:lnSpc>
                <a:spcPct val="108000"/>
              </a:lnSpc>
              <a:buNone/>
            </a:pPr>
            <a:r>
              <a:rPr lang="en-US" sz="1250" b="1" dirty="0">
                <a:solidFill>
                  <a:srgbClr val="1F2B4D"/>
                </a:solidFill>
                <a:latin typeface="Calibri" pitchFamily="34" charset="0"/>
                <a:ea typeface="Calibri" pitchFamily="34" charset="-122"/>
                <a:cs typeface="Calibri" pitchFamily="34" charset="-120"/>
              </a:rPr>
              <a:t>Count the flagged districts
</a:t>
            </a:r>
            <a:r>
              <a:rPr lang="en-US" sz="1100" dirty="0">
                <a:solidFill>
                  <a:srgbClr val="20242B"/>
                </a:solidFill>
                <a:latin typeface="Calibri" pitchFamily="34" charset="0"/>
                <a:ea typeface="Calibri" pitchFamily="34" charset="-122"/>
                <a:cs typeface="Calibri" pitchFamily="34" charset="-120"/>
              </a:rPr>
              <a:t>“N of 119 districts carry a &gt;25% chance of a 10% decline” — a sentence any minister can act on. In 2022, that count was 5.</a:t>
            </a:r>
            <a:endParaRPr lang="en-US" sz="1250" dirty="0"/>
          </a:p>
        </p:txBody>
      </p:sp>
      <p:sp>
        <p:nvSpPr>
          <p:cNvPr id="7" name="Shape 4"/>
          <p:cNvSpPr/>
          <p:nvPr/>
        </p:nvSpPr>
        <p:spPr>
          <a:xfrm>
            <a:off x="6949440" y="2807208"/>
            <a:ext cx="4754880" cy="1078992"/>
          </a:xfrm>
          <a:prstGeom prst="roundRect">
            <a:avLst>
              <a:gd name="adj" fmla="val 5932"/>
            </a:avLst>
          </a:prstGeom>
          <a:solidFill>
            <a:srgbClr val="F4F5F7"/>
          </a:solidFill>
          <a:ln/>
        </p:spPr>
        <p:txBody>
          <a:bodyPr/>
          <a:lstStyle/>
          <a:p>
            <a:endParaRPr lang="en-US"/>
          </a:p>
        </p:txBody>
      </p:sp>
      <p:sp>
        <p:nvSpPr>
          <p:cNvPr id="8" name="Text 5"/>
          <p:cNvSpPr/>
          <p:nvPr/>
        </p:nvSpPr>
        <p:spPr>
          <a:xfrm>
            <a:off x="7178040" y="2898648"/>
            <a:ext cx="4297680" cy="914400"/>
          </a:xfrm>
          <a:prstGeom prst="rect">
            <a:avLst/>
          </a:prstGeom>
          <a:noFill/>
          <a:ln/>
        </p:spPr>
        <p:txBody>
          <a:bodyPr wrap="square" lIns="0" tIns="0" rIns="0" bIns="0" rtlCol="0" anchor="ctr"/>
          <a:lstStyle/>
          <a:p>
            <a:pPr marL="0" indent="0">
              <a:lnSpc>
                <a:spcPct val="108000"/>
              </a:lnSpc>
              <a:buNone/>
            </a:pPr>
            <a:r>
              <a:rPr lang="en-US" sz="1250" b="1" dirty="0">
                <a:solidFill>
                  <a:srgbClr val="1F2B4D"/>
                </a:solidFill>
                <a:latin typeface="Calibri" pitchFamily="34" charset="0"/>
                <a:ea typeface="Calibri" pitchFamily="34" charset="-122"/>
                <a:cs typeface="Calibri" pitchFamily="34" charset="-120"/>
              </a:rPr>
              <a:t>Map or sort the risk
</a:t>
            </a:r>
            <a:r>
              <a:rPr lang="en-US" sz="1100" dirty="0">
                <a:solidFill>
                  <a:srgbClr val="20242B"/>
                </a:solidFill>
                <a:latin typeface="Calibri" pitchFamily="34" charset="0"/>
                <a:ea typeface="Calibri" pitchFamily="34" charset="-122"/>
                <a:cs typeface="Calibri" pitchFamily="34" charset="-120"/>
              </a:rPr>
              <a:t>a sorted bar chart of P(fall &gt; 10%), worst first (left), or the same numbers on a map.</a:t>
            </a:r>
            <a:endParaRPr lang="en-US" sz="1250" dirty="0"/>
          </a:p>
        </p:txBody>
      </p:sp>
      <p:sp>
        <p:nvSpPr>
          <p:cNvPr id="9" name="Shape 6"/>
          <p:cNvSpPr/>
          <p:nvPr/>
        </p:nvSpPr>
        <p:spPr>
          <a:xfrm>
            <a:off x="6949440" y="4014216"/>
            <a:ext cx="4754880" cy="1078992"/>
          </a:xfrm>
          <a:prstGeom prst="roundRect">
            <a:avLst>
              <a:gd name="adj" fmla="val 5932"/>
            </a:avLst>
          </a:prstGeom>
          <a:solidFill>
            <a:srgbClr val="F4F5F7"/>
          </a:solidFill>
          <a:ln/>
        </p:spPr>
        <p:txBody>
          <a:bodyPr/>
          <a:lstStyle/>
          <a:p>
            <a:endParaRPr lang="en-US"/>
          </a:p>
        </p:txBody>
      </p:sp>
      <p:sp>
        <p:nvSpPr>
          <p:cNvPr id="10" name="Text 7"/>
          <p:cNvSpPr/>
          <p:nvPr/>
        </p:nvSpPr>
        <p:spPr>
          <a:xfrm>
            <a:off x="7178040" y="4105656"/>
            <a:ext cx="4297680" cy="914400"/>
          </a:xfrm>
          <a:prstGeom prst="rect">
            <a:avLst/>
          </a:prstGeom>
          <a:noFill/>
          <a:ln/>
        </p:spPr>
        <p:txBody>
          <a:bodyPr wrap="square" lIns="0" tIns="0" rIns="0" bIns="0" rtlCol="0" anchor="ctr"/>
          <a:lstStyle/>
          <a:p>
            <a:pPr marL="0" indent="0">
              <a:lnSpc>
                <a:spcPct val="108000"/>
              </a:lnSpc>
              <a:buNone/>
            </a:pPr>
            <a:r>
              <a:rPr lang="en-US" sz="1250" b="1" dirty="0">
                <a:solidFill>
                  <a:srgbClr val="1F2B4D"/>
                </a:solidFill>
                <a:latin typeface="Calibri" pitchFamily="34" charset="0"/>
                <a:ea typeface="Calibri" pitchFamily="34" charset="-122"/>
                <a:cs typeface="Calibri" pitchFamily="34" charset="-120"/>
              </a:rPr>
              <a:t>Sum expected production
</a:t>
            </a:r>
            <a:r>
              <a:rPr lang="en-US" sz="1100" dirty="0">
                <a:solidFill>
                  <a:srgbClr val="20242B"/>
                </a:solidFill>
                <a:latin typeface="Calibri" pitchFamily="34" charset="0"/>
                <a:ea typeface="Calibri" pitchFamily="34" charset="-122"/>
                <a:cs typeface="Calibri" pitchFamily="34" charset="-120"/>
              </a:rPr>
              <a:t>Σ (point forecast × district area), with a range built by summing the q10 and q90 columns.</a:t>
            </a:r>
            <a:endParaRPr lang="en-US" sz="1250" dirty="0"/>
          </a:p>
        </p:txBody>
      </p:sp>
      <p:sp>
        <p:nvSpPr>
          <p:cNvPr id="11" name="Shape 8"/>
          <p:cNvSpPr/>
          <p:nvPr/>
        </p:nvSpPr>
        <p:spPr>
          <a:xfrm>
            <a:off x="6949440" y="5349240"/>
            <a:ext cx="4754880" cy="1234440"/>
          </a:xfrm>
          <a:prstGeom prst="roundRect">
            <a:avLst>
              <a:gd name="adj" fmla="val 5185"/>
            </a:avLst>
          </a:prstGeom>
          <a:solidFill>
            <a:srgbClr val="FDECEA"/>
          </a:solidFill>
          <a:ln/>
        </p:spPr>
        <p:txBody>
          <a:bodyPr/>
          <a:lstStyle/>
          <a:p>
            <a:endParaRPr lang="en-US"/>
          </a:p>
        </p:txBody>
      </p:sp>
      <p:sp>
        <p:nvSpPr>
          <p:cNvPr id="12" name="Text 9"/>
          <p:cNvSpPr/>
          <p:nvPr/>
        </p:nvSpPr>
        <p:spPr>
          <a:xfrm>
            <a:off x="7178040" y="5440680"/>
            <a:ext cx="4297680" cy="1051560"/>
          </a:xfrm>
          <a:prstGeom prst="rect">
            <a:avLst/>
          </a:prstGeom>
          <a:noFill/>
          <a:ln/>
        </p:spPr>
        <p:txBody>
          <a:bodyPr wrap="square" lIns="0" tIns="0" rIns="0" bIns="0" rtlCol="0" anchor="ctr"/>
          <a:lstStyle/>
          <a:p>
            <a:pPr marL="0" indent="0">
              <a:lnSpc>
                <a:spcPct val="110000"/>
              </a:lnSpc>
              <a:buNone/>
            </a:pPr>
            <a:r>
              <a:rPr lang="en-US" sz="1050" b="1" dirty="0">
                <a:solidFill>
                  <a:srgbClr val="C63B36"/>
                </a:solidFill>
                <a:latin typeface="Calibri" pitchFamily="34" charset="0"/>
                <a:ea typeface="Calibri" pitchFamily="34" charset="-122"/>
                <a:cs typeface="Calibri" pitchFamily="34" charset="-120"/>
              </a:rPr>
              <a:t>⚠ Why not average probabilities?  </a:t>
            </a:r>
            <a:r>
              <a:rPr lang="en-US" sz="1050" dirty="0">
                <a:solidFill>
                  <a:srgbClr val="20242B"/>
                </a:solidFill>
                <a:latin typeface="Calibri" pitchFamily="34" charset="0"/>
                <a:ea typeface="Calibri" pitchFamily="34" charset="-122"/>
                <a:cs typeface="Calibri" pitchFamily="34" charset="-120"/>
              </a:rPr>
              <a:t>Districts fail together — regional weather hits everywhere at once. Averaging throws that dependence away. Summed quantile ranges are deliberately wide for the same reason; say which assumption you used.</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PRACTICAL MATTERS</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The whole pipeline runs on one laptop in about three hours</a:t>
            </a:r>
            <a:endParaRPr lang="en-US" sz="2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6766560" cy="2633472"/>
        </p:xfrm>
        <a:graphic>
          <a:graphicData uri="http://schemas.openxmlformats.org/drawingml/2006/table">
            <a:tbl>
              <a:tblPr/>
              <a:tblGrid>
                <a:gridCol w="3566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43891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Time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Hardware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extLst>
                  <a:ext uri="{0D108BD9-81ED-4DB2-BD59-A6C34878D82A}">
                    <a16:rowId xmlns:a16="http://schemas.microsoft.com/office/drawing/2014/main" val="10000"/>
                  </a:ext>
                </a:extLst>
              </a:tr>
              <a:tr h="438912">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Satellite tile extraction (2,737 requests)</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123 min</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Google Earth Engine (cloud)</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Neural network training, all folds</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~45 min</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laptop GPU</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Decision-tree models, all folds</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~10 min</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6 CPU threads</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Distribution and evaluation</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&lt; 1 min</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dirty="0">
                          <a:solidFill>
                            <a:srgbClr val="20242B"/>
                          </a:solidFill>
                          <a:latin typeface="Calibri" pitchFamily="34" charset="0"/>
                          <a:ea typeface="Calibri" pitchFamily="34" charset="-122"/>
                          <a:cs typeface="Calibri" pitchFamily="34" charset="-120"/>
                        </a:rPr>
                        <a:t>CPU</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Full pipeline from raw data</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 3 hours</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tc>
                  <a:txBody>
                    <a:bodyPr/>
                    <a:lstStyle/>
                    <a:p>
                      <a:pPr marL="0" indent="0">
                        <a:buNone/>
                      </a:pPr>
                      <a:r>
                        <a:rPr lang="en-US" sz="1150" b="1" dirty="0">
                          <a:solidFill>
                            <a:srgbClr val="20242B"/>
                          </a:solidFill>
                          <a:latin typeface="Calibri" pitchFamily="34" charset="0"/>
                          <a:ea typeface="Calibri" pitchFamily="34" charset="-122"/>
                          <a:cs typeface="Calibri" pitchFamily="34" charset="-120"/>
                        </a:rPr>
                        <a:t>one laptop</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502920" y="4206240"/>
            <a:ext cx="6766560" cy="2286000"/>
          </a:xfrm>
          <a:prstGeom prst="roundRect">
            <a:avLst>
              <a:gd name="adj" fmla="val 2800"/>
            </a:avLst>
          </a:prstGeom>
          <a:solidFill>
            <a:srgbClr val="1F2B4D"/>
          </a:solidFill>
          <a:ln/>
        </p:spPr>
        <p:txBody>
          <a:bodyPr/>
          <a:lstStyle/>
          <a:p>
            <a:endParaRPr lang="en-US"/>
          </a:p>
        </p:txBody>
      </p:sp>
      <p:sp>
        <p:nvSpPr>
          <p:cNvPr id="6" name="Text 3"/>
          <p:cNvSpPr/>
          <p:nvPr/>
        </p:nvSpPr>
        <p:spPr>
          <a:xfrm>
            <a:off x="777240" y="4407408"/>
            <a:ext cx="6217920" cy="274320"/>
          </a:xfrm>
          <a:prstGeom prst="rect">
            <a:avLst/>
          </a:prstGeom>
          <a:noFill/>
          <a:ln/>
        </p:spPr>
        <p:txBody>
          <a:bodyPr wrap="square" lIns="0" tIns="0" rIns="0" bIns="0" rtlCol="0" anchor="ctr"/>
          <a:lstStyle/>
          <a:p>
            <a:pPr marL="0" indent="0">
              <a:buNone/>
            </a:pPr>
            <a:r>
              <a:rPr lang="en-US" sz="1050" b="1" kern="0" spc="100" dirty="0">
                <a:solidFill>
                  <a:srgbClr val="E8B95A"/>
                </a:solidFill>
                <a:latin typeface="Calibri" pitchFamily="34" charset="0"/>
                <a:ea typeface="Calibri" pitchFamily="34" charset="-122"/>
                <a:cs typeface="Calibri" pitchFamily="34" charset="-120"/>
              </a:rPr>
              <a:t>REPRODUCE A FULL RUN</a:t>
            </a:r>
            <a:endParaRPr lang="en-US" sz="1050" dirty="0"/>
          </a:p>
        </p:txBody>
      </p:sp>
      <p:sp>
        <p:nvSpPr>
          <p:cNvPr id="7" name="Text 4"/>
          <p:cNvSpPr/>
          <p:nvPr/>
        </p:nvSpPr>
        <p:spPr>
          <a:xfrm>
            <a:off x="777240" y="4754880"/>
            <a:ext cx="6217920" cy="1600200"/>
          </a:xfrm>
          <a:prstGeom prst="rect">
            <a:avLst/>
          </a:prstGeom>
          <a:noFill/>
          <a:ln/>
        </p:spPr>
        <p:txBody>
          <a:bodyPr wrap="square" lIns="0" tIns="0" rIns="0" bIns="0" rtlCol="0" anchor="ctr"/>
          <a:lstStyle/>
          <a:p>
            <a:pPr marL="0" indent="0">
              <a:lnSpc>
                <a:spcPct val="130000"/>
              </a:lnSpc>
              <a:buNone/>
            </a:pPr>
            <a:r>
              <a:rPr lang="en-US" sz="1150" dirty="0">
                <a:solidFill>
                  <a:srgbClr val="D9E2F5"/>
                </a:solidFill>
                <a:latin typeface="Courier New" pitchFamily="34" charset="0"/>
                <a:ea typeface="Courier New" pitchFamily="34" charset="-122"/>
                <a:cs typeface="Courier New" pitchFamily="34" charset="-120"/>
              </a:rPr>
              <a:t>python3 scripts/build_v16_panel.py       # history + satellite</a:t>
            </a:r>
            <a:endParaRPr lang="en-US" sz="1150" dirty="0"/>
          </a:p>
          <a:p>
            <a:pPr marL="0" indent="0">
              <a:lnSpc>
                <a:spcPct val="130000"/>
              </a:lnSpc>
              <a:buNone/>
            </a:pPr>
            <a:r>
              <a:rPr lang="en-US" sz="1150" dirty="0">
                <a:solidFill>
                  <a:srgbClr val="D9E2F5"/>
                </a:solidFill>
                <a:latin typeface="Courier New" pitchFamily="34" charset="0"/>
                <a:ea typeface="Courier New" pitchFamily="34" charset="-122"/>
                <a:cs typeface="Courier New" pitchFamily="34" charset="-120"/>
              </a:rPr>
              <a:t>python3 scripts/build_v16_weather.py     # weather summaries</a:t>
            </a:r>
            <a:endParaRPr lang="en-US" sz="1150" dirty="0"/>
          </a:p>
          <a:p>
            <a:pPr marL="0" indent="0">
              <a:lnSpc>
                <a:spcPct val="130000"/>
              </a:lnSpc>
              <a:buNone/>
            </a:pPr>
            <a:r>
              <a:rPr lang="en-US" sz="1150" dirty="0">
                <a:solidFill>
                  <a:srgbClr val="D9E2F5"/>
                </a:solidFill>
                <a:latin typeface="Courier New" pitchFamily="34" charset="0"/>
                <a:ea typeface="Courier New" pitchFamily="34" charset="-122"/>
                <a:cs typeface="Courier New" pitchFamily="34" charset="-120"/>
              </a:rPr>
              <a:t>python3 scripts/build_final_model.py     # train + evaluate</a:t>
            </a:r>
            <a:endParaRPr lang="en-US" sz="1150" dirty="0"/>
          </a:p>
          <a:p>
            <a:pPr marL="0" indent="0">
              <a:lnSpc>
                <a:spcPct val="130000"/>
              </a:lnSpc>
              <a:buNone/>
            </a:pPr>
            <a:r>
              <a:rPr lang="en-US" sz="1150" dirty="0">
                <a:solidFill>
                  <a:srgbClr val="D9E2F5"/>
                </a:solidFill>
                <a:latin typeface="Courier New" pitchFamily="34" charset="0"/>
                <a:ea typeface="Courier New" pitchFamily="34" charset="-122"/>
                <a:cs typeface="Courier New" pitchFamily="34" charset="-120"/>
              </a:rPr>
              <a:t>python3 scripts/make_probability_output.py   # probabilities</a:t>
            </a:r>
            <a:endParaRPr lang="en-US" sz="1150" dirty="0"/>
          </a:p>
        </p:txBody>
      </p:sp>
      <p:sp>
        <p:nvSpPr>
          <p:cNvPr id="8" name="Text 5"/>
          <p:cNvSpPr/>
          <p:nvPr/>
        </p:nvSpPr>
        <p:spPr>
          <a:xfrm>
            <a:off x="7863840" y="1737360"/>
            <a:ext cx="3840480" cy="713232"/>
          </a:xfrm>
          <a:prstGeom prst="rect">
            <a:avLst/>
          </a:prstGeom>
          <a:noFill/>
          <a:ln/>
        </p:spPr>
        <p:txBody>
          <a:bodyPr wrap="square" lIns="0" tIns="0" rIns="0" bIns="0" rtlCol="0" anchor="ctr"/>
          <a:lstStyle/>
          <a:p>
            <a:pPr marL="0" indent="0" algn="l">
              <a:buNone/>
            </a:pPr>
            <a:r>
              <a:rPr lang="en-US" sz="4000" b="1" dirty="0">
                <a:solidFill>
                  <a:srgbClr val="1F2B4D"/>
                </a:solidFill>
                <a:latin typeface="Calibri" pitchFamily="34" charset="0"/>
                <a:ea typeface="Calibri" pitchFamily="34" charset="-122"/>
                <a:cs typeface="Calibri" pitchFamily="34" charset="-120"/>
              </a:rPr>
              <a:t>67,359</a:t>
            </a:r>
            <a:endParaRPr lang="en-US" sz="4000" dirty="0"/>
          </a:p>
        </p:txBody>
      </p:sp>
      <p:sp>
        <p:nvSpPr>
          <p:cNvPr id="9" name="Text 6"/>
          <p:cNvSpPr/>
          <p:nvPr/>
        </p:nvSpPr>
        <p:spPr>
          <a:xfrm>
            <a:off x="7863840" y="2450592"/>
            <a:ext cx="3840480" cy="1005840"/>
          </a:xfrm>
          <a:prstGeom prst="rect">
            <a:avLst/>
          </a:prstGeom>
          <a:noFill/>
          <a:ln/>
        </p:spPr>
        <p:txBody>
          <a:bodyPr wrap="square" lIns="0" tIns="0" rIns="0" bIns="0" rtlCol="0" anchor="t"/>
          <a:lstStyle/>
          <a:p>
            <a:pPr marL="0" indent="0" algn="l">
              <a:lnSpc>
                <a:spcPct val="105000"/>
              </a:lnSpc>
              <a:buNone/>
            </a:pPr>
            <a:r>
              <a:rPr lang="en-US" sz="1150" dirty="0">
                <a:solidFill>
                  <a:srgbClr val="5A6170"/>
                </a:solidFill>
                <a:latin typeface="Calibri" pitchFamily="34" charset="0"/>
                <a:ea typeface="Calibri" pitchFamily="34" charset="-122"/>
                <a:cs typeface="Calibri" pitchFamily="34" charset="-120"/>
              </a:rPr>
              <a:t>learned numbers in the neural network — about one layer of a small language model. Nothing here needs a cluster or a GPU farm.</a:t>
            </a:r>
            <a:endParaRPr lang="en-US" sz="1150" dirty="0"/>
          </a:p>
        </p:txBody>
      </p:sp>
      <p:sp>
        <p:nvSpPr>
          <p:cNvPr id="10" name="Text 7"/>
          <p:cNvSpPr/>
          <p:nvPr/>
        </p:nvSpPr>
        <p:spPr>
          <a:xfrm>
            <a:off x="7863840" y="3931920"/>
            <a:ext cx="3840480" cy="713232"/>
          </a:xfrm>
          <a:prstGeom prst="rect">
            <a:avLst/>
          </a:prstGeom>
          <a:noFill/>
          <a:ln/>
        </p:spPr>
        <p:txBody>
          <a:bodyPr wrap="square" lIns="0" tIns="0" rIns="0" bIns="0" rtlCol="0" anchor="ctr"/>
          <a:lstStyle/>
          <a:p>
            <a:pPr marL="0" indent="0" algn="l">
              <a:buNone/>
            </a:pPr>
            <a:r>
              <a:rPr lang="en-US" sz="4000" b="1" dirty="0">
                <a:solidFill>
                  <a:srgbClr val="1D7A34"/>
                </a:solidFill>
                <a:latin typeface="Calibri" pitchFamily="34" charset="0"/>
                <a:ea typeface="Calibri" pitchFamily="34" charset="-122"/>
                <a:cs typeface="Calibri" pitchFamily="34" charset="-120"/>
              </a:rPr>
              <a:t>96 / 96</a:t>
            </a:r>
            <a:endParaRPr lang="en-US" sz="4000" dirty="0"/>
          </a:p>
        </p:txBody>
      </p:sp>
      <p:sp>
        <p:nvSpPr>
          <p:cNvPr id="11" name="Text 8"/>
          <p:cNvSpPr/>
          <p:nvPr/>
        </p:nvSpPr>
        <p:spPr>
          <a:xfrm>
            <a:off x="7863840" y="4645152"/>
            <a:ext cx="3840480" cy="1188720"/>
          </a:xfrm>
          <a:prstGeom prst="rect">
            <a:avLst/>
          </a:prstGeom>
          <a:noFill/>
          <a:ln/>
        </p:spPr>
        <p:txBody>
          <a:bodyPr wrap="square" lIns="0" tIns="0" rIns="0" bIns="0" rtlCol="0" anchor="t"/>
          <a:lstStyle/>
          <a:p>
            <a:pPr marL="0" indent="0" algn="l">
              <a:lnSpc>
                <a:spcPct val="105000"/>
              </a:lnSpc>
              <a:buNone/>
            </a:pPr>
            <a:r>
              <a:rPr lang="en-US" sz="1150" dirty="0">
                <a:solidFill>
                  <a:srgbClr val="5A6170"/>
                </a:solidFill>
                <a:latin typeface="Calibri" pitchFamily="34" charset="0"/>
                <a:ea typeface="Calibri" pitchFamily="34" charset="-122"/>
                <a:cs typeface="Calibri" pitchFamily="34" charset="-120"/>
              </a:rPr>
              <a:t>every number in the source walkthrough is machine-verified: a script recomputes each quoted figure from its source artifact and fails loudly on any mismatch.</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9">
    <p:bg>
      <p:bgPr>
        <a:solidFill>
          <a:srgbClr val="1F2B4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E8B95A"/>
                </a:solidFill>
                <a:latin typeface="Calibri" pitchFamily="34" charset="0"/>
                <a:ea typeface="Calibri" pitchFamily="34" charset="-122"/>
                <a:cs typeface="Calibri" pitchFamily="34" charset="-120"/>
              </a:rPr>
              <a:t>THE FIVE-MINUTE SUMMARY</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What to remember</a:t>
            </a:r>
            <a:endParaRPr lang="en-US" sz="3000" dirty="0"/>
          </a:p>
        </p:txBody>
      </p:sp>
      <p:sp>
        <p:nvSpPr>
          <p:cNvPr id="4" name="Shape 2"/>
          <p:cNvSpPr/>
          <p:nvPr/>
        </p:nvSpPr>
        <p:spPr>
          <a:xfrm>
            <a:off x="502920" y="1481328"/>
            <a:ext cx="11201400" cy="914400"/>
          </a:xfrm>
          <a:prstGeom prst="roundRect">
            <a:avLst>
              <a:gd name="adj" fmla="val 6000"/>
            </a:avLst>
          </a:prstGeom>
          <a:solidFill>
            <a:srgbClr val="2A3A66"/>
          </a:solidFill>
          <a:ln/>
        </p:spPr>
        <p:txBody>
          <a:bodyPr/>
          <a:lstStyle/>
          <a:p>
            <a:endParaRPr lang="en-US"/>
          </a:p>
        </p:txBody>
      </p:sp>
      <p:sp>
        <p:nvSpPr>
          <p:cNvPr id="5" name="Text 3"/>
          <p:cNvSpPr/>
          <p:nvPr/>
        </p:nvSpPr>
        <p:spPr>
          <a:xfrm>
            <a:off x="731520" y="1481328"/>
            <a:ext cx="2377440" cy="914400"/>
          </a:xfrm>
          <a:prstGeom prst="rect">
            <a:avLst/>
          </a:prstGeom>
          <a:noFill/>
          <a:ln/>
        </p:spPr>
        <p:txBody>
          <a:bodyPr wrap="square" lIns="0" tIns="0" rIns="0" bIns="0" rtlCol="0" anchor="ctr"/>
          <a:lstStyle/>
          <a:p>
            <a:pPr marL="0" indent="0">
              <a:buNone/>
            </a:pPr>
            <a:r>
              <a:rPr lang="en-US" sz="1400" b="1" dirty="0">
                <a:solidFill>
                  <a:srgbClr val="E8B95A"/>
                </a:solidFill>
                <a:latin typeface="Calibri" pitchFamily="34" charset="0"/>
                <a:ea typeface="Calibri" pitchFamily="34" charset="-122"/>
                <a:cs typeface="Calibri" pitchFamily="34" charset="-120"/>
              </a:rPr>
              <a:t>The task</a:t>
            </a:r>
            <a:endParaRPr lang="en-US" sz="1400" dirty="0"/>
          </a:p>
        </p:txBody>
      </p:sp>
      <p:sp>
        <p:nvSpPr>
          <p:cNvPr id="6" name="Text 4"/>
          <p:cNvSpPr/>
          <p:nvPr/>
        </p:nvSpPr>
        <p:spPr>
          <a:xfrm>
            <a:off x="3200400" y="1536192"/>
            <a:ext cx="8321040" cy="822960"/>
          </a:xfrm>
          <a:prstGeom prst="rect">
            <a:avLst/>
          </a:prstGeom>
          <a:noFill/>
          <a:ln/>
        </p:spPr>
        <p:txBody>
          <a:bodyPr wrap="square" lIns="0" tIns="0" rIns="0" bIns="0" rtlCol="0" anchor="ctr"/>
          <a:lstStyle/>
          <a:p>
            <a:pPr marL="0" indent="0">
              <a:lnSpc>
                <a:spcPct val="108000"/>
              </a:lnSpc>
              <a:buNone/>
            </a:pPr>
            <a:r>
              <a:rPr lang="en-US" sz="1100" dirty="0">
                <a:solidFill>
                  <a:srgbClr val="FFFFFF"/>
                </a:solidFill>
                <a:latin typeface="Calibri" pitchFamily="34" charset="0"/>
                <a:ea typeface="Calibri" pitchFamily="34" charset="-122"/>
                <a:cs typeface="Calibri" pitchFamily="34" charset="-120"/>
              </a:rPr>
              <a:t>Predict district wheat yield on 5 March, eight weeks before harvest, across 119 Indian districts — as a full, honest probability distribution.</a:t>
            </a:r>
            <a:endParaRPr lang="en-US" sz="1100" dirty="0"/>
          </a:p>
        </p:txBody>
      </p:sp>
      <p:sp>
        <p:nvSpPr>
          <p:cNvPr id="7" name="Shape 5"/>
          <p:cNvSpPr/>
          <p:nvPr/>
        </p:nvSpPr>
        <p:spPr>
          <a:xfrm>
            <a:off x="502920" y="2523744"/>
            <a:ext cx="11201400" cy="914400"/>
          </a:xfrm>
          <a:prstGeom prst="roundRect">
            <a:avLst>
              <a:gd name="adj" fmla="val 6000"/>
            </a:avLst>
          </a:prstGeom>
          <a:solidFill>
            <a:srgbClr val="2A3A66"/>
          </a:solidFill>
          <a:ln/>
        </p:spPr>
        <p:txBody>
          <a:bodyPr/>
          <a:lstStyle/>
          <a:p>
            <a:endParaRPr lang="en-US"/>
          </a:p>
        </p:txBody>
      </p:sp>
      <p:sp>
        <p:nvSpPr>
          <p:cNvPr id="8" name="Text 6"/>
          <p:cNvSpPr/>
          <p:nvPr/>
        </p:nvSpPr>
        <p:spPr>
          <a:xfrm>
            <a:off x="731520" y="2523744"/>
            <a:ext cx="2377440" cy="914400"/>
          </a:xfrm>
          <a:prstGeom prst="rect">
            <a:avLst/>
          </a:prstGeom>
          <a:noFill/>
          <a:ln/>
        </p:spPr>
        <p:txBody>
          <a:bodyPr wrap="square" lIns="0" tIns="0" rIns="0" bIns="0" rtlCol="0" anchor="ctr"/>
          <a:lstStyle/>
          <a:p>
            <a:pPr marL="0" indent="0">
              <a:buNone/>
            </a:pPr>
            <a:r>
              <a:rPr lang="en-US" sz="1400" b="1" dirty="0">
                <a:solidFill>
                  <a:srgbClr val="E8B95A"/>
                </a:solidFill>
                <a:latin typeface="Calibri" pitchFamily="34" charset="0"/>
                <a:ea typeface="Calibri" pitchFamily="34" charset="-122"/>
                <a:cs typeface="Calibri" pitchFamily="34" charset="-120"/>
              </a:rPr>
              <a:t>The method</a:t>
            </a:r>
            <a:endParaRPr lang="en-US" sz="1400" dirty="0"/>
          </a:p>
        </p:txBody>
      </p:sp>
      <p:sp>
        <p:nvSpPr>
          <p:cNvPr id="9" name="Text 7"/>
          <p:cNvSpPr/>
          <p:nvPr/>
        </p:nvSpPr>
        <p:spPr>
          <a:xfrm>
            <a:off x="3200400" y="2578608"/>
            <a:ext cx="8321040" cy="822960"/>
          </a:xfrm>
          <a:prstGeom prst="rect">
            <a:avLst/>
          </a:prstGeom>
          <a:noFill/>
          <a:ln/>
        </p:spPr>
        <p:txBody>
          <a:bodyPr wrap="square" lIns="0" tIns="0" rIns="0" bIns="0" rtlCol="0" anchor="ctr"/>
          <a:lstStyle/>
          <a:p>
            <a:pPr marL="0" indent="0">
              <a:lnSpc>
                <a:spcPct val="108000"/>
              </a:lnSpc>
              <a:buNone/>
            </a:pPr>
            <a:r>
              <a:rPr lang="en-US" sz="1100" dirty="0">
                <a:solidFill>
                  <a:srgbClr val="FFFFFF"/>
                </a:solidFill>
                <a:latin typeface="Calibri" pitchFamily="34" charset="0"/>
                <a:ea typeface="Calibri" pitchFamily="34" charset="-122"/>
                <a:cs typeface="Calibri" pitchFamily="34" charset="-120"/>
              </a:rPr>
              <a:t>A conservative three-year average, corrected in four measured stages — a blend of five simple models, a controlled experiment on weather forecasts, a training-data fix, and a small neural network that reads crop condition — then the model's own past errors become its uncertainty.</a:t>
            </a:r>
            <a:endParaRPr lang="en-US" sz="1100" dirty="0"/>
          </a:p>
        </p:txBody>
      </p:sp>
      <p:sp>
        <p:nvSpPr>
          <p:cNvPr id="10" name="Shape 8"/>
          <p:cNvSpPr/>
          <p:nvPr/>
        </p:nvSpPr>
        <p:spPr>
          <a:xfrm>
            <a:off x="502920" y="3566160"/>
            <a:ext cx="11201400" cy="914400"/>
          </a:xfrm>
          <a:prstGeom prst="roundRect">
            <a:avLst>
              <a:gd name="adj" fmla="val 6000"/>
            </a:avLst>
          </a:prstGeom>
          <a:solidFill>
            <a:srgbClr val="2A3A66"/>
          </a:solidFill>
          <a:ln/>
        </p:spPr>
        <p:txBody>
          <a:bodyPr/>
          <a:lstStyle/>
          <a:p>
            <a:endParaRPr lang="en-US"/>
          </a:p>
        </p:txBody>
      </p:sp>
      <p:sp>
        <p:nvSpPr>
          <p:cNvPr id="11" name="Text 9"/>
          <p:cNvSpPr/>
          <p:nvPr/>
        </p:nvSpPr>
        <p:spPr>
          <a:xfrm>
            <a:off x="731520" y="3566160"/>
            <a:ext cx="2377440" cy="914400"/>
          </a:xfrm>
          <a:prstGeom prst="rect">
            <a:avLst/>
          </a:prstGeom>
          <a:noFill/>
          <a:ln/>
        </p:spPr>
        <p:txBody>
          <a:bodyPr wrap="square" lIns="0" tIns="0" rIns="0" bIns="0" rtlCol="0" anchor="ctr"/>
          <a:lstStyle/>
          <a:p>
            <a:pPr marL="0" indent="0">
              <a:buNone/>
            </a:pPr>
            <a:r>
              <a:rPr lang="en-US" sz="1400" b="1" dirty="0">
                <a:solidFill>
                  <a:srgbClr val="E8B95A"/>
                </a:solidFill>
                <a:latin typeface="Calibri" pitchFamily="34" charset="0"/>
                <a:ea typeface="Calibri" pitchFamily="34" charset="-122"/>
                <a:cs typeface="Calibri" pitchFamily="34" charset="-120"/>
              </a:rPr>
              <a:t>The network's role</a:t>
            </a:r>
            <a:endParaRPr lang="en-US" sz="1400" dirty="0"/>
          </a:p>
        </p:txBody>
      </p:sp>
      <p:sp>
        <p:nvSpPr>
          <p:cNvPr id="12" name="Text 10"/>
          <p:cNvSpPr/>
          <p:nvPr/>
        </p:nvSpPr>
        <p:spPr>
          <a:xfrm>
            <a:off x="3200400" y="3621024"/>
            <a:ext cx="8321040" cy="822960"/>
          </a:xfrm>
          <a:prstGeom prst="rect">
            <a:avLst/>
          </a:prstGeom>
          <a:noFill/>
          <a:ln/>
        </p:spPr>
        <p:txBody>
          <a:bodyPr wrap="square" lIns="0" tIns="0" rIns="0" bIns="0" rtlCol="0" anchor="ctr"/>
          <a:lstStyle/>
          <a:p>
            <a:pPr marL="0" indent="0">
              <a:lnSpc>
                <a:spcPct val="108000"/>
              </a:lnSpc>
              <a:buNone/>
            </a:pPr>
            <a:r>
              <a:rPr lang="en-US" sz="1100" dirty="0">
                <a:solidFill>
                  <a:srgbClr val="FFFFFF"/>
                </a:solidFill>
                <a:latin typeface="Calibri" pitchFamily="34" charset="0"/>
                <a:ea typeface="Calibri" pitchFamily="34" charset="-122"/>
                <a:cs typeface="Calibri" pitchFamily="34" charset="-120"/>
              </a:rPr>
              <a:t>It never sees a harvest. It learns how wheat develops (thousands of examples) and hands 16 numbers to a simple model for the data-poor job. Those 16 numbers moved Rewari's forecast 126 kg/ha — onto the truth.</a:t>
            </a:r>
            <a:endParaRPr lang="en-US" sz="1100" dirty="0"/>
          </a:p>
        </p:txBody>
      </p:sp>
      <p:sp>
        <p:nvSpPr>
          <p:cNvPr id="13" name="Shape 11"/>
          <p:cNvSpPr/>
          <p:nvPr/>
        </p:nvSpPr>
        <p:spPr>
          <a:xfrm>
            <a:off x="502920" y="4608576"/>
            <a:ext cx="11201400" cy="914400"/>
          </a:xfrm>
          <a:prstGeom prst="roundRect">
            <a:avLst>
              <a:gd name="adj" fmla="val 6000"/>
            </a:avLst>
          </a:prstGeom>
          <a:solidFill>
            <a:srgbClr val="2A3A66"/>
          </a:solidFill>
          <a:ln/>
        </p:spPr>
        <p:txBody>
          <a:bodyPr/>
          <a:lstStyle/>
          <a:p>
            <a:endParaRPr lang="en-US"/>
          </a:p>
        </p:txBody>
      </p:sp>
      <p:sp>
        <p:nvSpPr>
          <p:cNvPr id="14" name="Text 12"/>
          <p:cNvSpPr/>
          <p:nvPr/>
        </p:nvSpPr>
        <p:spPr>
          <a:xfrm>
            <a:off x="731520" y="4608576"/>
            <a:ext cx="2377440" cy="914400"/>
          </a:xfrm>
          <a:prstGeom prst="rect">
            <a:avLst/>
          </a:prstGeom>
          <a:noFill/>
          <a:ln/>
        </p:spPr>
        <p:txBody>
          <a:bodyPr wrap="square" lIns="0" tIns="0" rIns="0" bIns="0" rtlCol="0" anchor="ctr"/>
          <a:lstStyle/>
          <a:p>
            <a:pPr marL="0" indent="0">
              <a:buNone/>
            </a:pPr>
            <a:r>
              <a:rPr lang="en-US" sz="1400" b="1" dirty="0">
                <a:solidFill>
                  <a:srgbClr val="E8B95A"/>
                </a:solidFill>
                <a:latin typeface="Calibri" pitchFamily="34" charset="0"/>
                <a:ea typeface="Calibri" pitchFamily="34" charset="-122"/>
                <a:cs typeface="Calibri" pitchFamily="34" charset="-120"/>
              </a:rPr>
              <a:t>The results</a:t>
            </a:r>
            <a:endParaRPr lang="en-US" sz="1400" dirty="0"/>
          </a:p>
        </p:txBody>
      </p:sp>
      <p:sp>
        <p:nvSpPr>
          <p:cNvPr id="15" name="Text 13"/>
          <p:cNvSpPr/>
          <p:nvPr/>
        </p:nvSpPr>
        <p:spPr>
          <a:xfrm>
            <a:off x="3200400" y="4663440"/>
            <a:ext cx="8321040" cy="822960"/>
          </a:xfrm>
          <a:prstGeom prst="rect">
            <a:avLst/>
          </a:prstGeom>
          <a:noFill/>
          <a:ln/>
        </p:spPr>
        <p:txBody>
          <a:bodyPr wrap="square" lIns="0" tIns="0" rIns="0" bIns="0" rtlCol="0" anchor="ctr"/>
          <a:lstStyle/>
          <a:p>
            <a:pPr marL="0" indent="0">
              <a:lnSpc>
                <a:spcPct val="108000"/>
              </a:lnSpc>
              <a:buNone/>
            </a:pPr>
            <a:r>
              <a:rPr lang="en-US" sz="1100" dirty="0">
                <a:solidFill>
                  <a:srgbClr val="FFFFFF"/>
                </a:solidFill>
                <a:latin typeface="Calibri" pitchFamily="34" charset="0"/>
                <a:ea typeface="Calibri" pitchFamily="34" charset="-122"/>
                <a:cs typeface="Calibri" pitchFamily="34" charset="-120"/>
              </a:rPr>
              <a:t>265 kg/ha typical error (5.9%), better in 4 of 4 seasons. 80% intervals cover 80.9%. Stated probabilities match reality within ~1 point. Direction right 78.8% of the time.</a:t>
            </a:r>
            <a:endParaRPr lang="en-US" sz="1100" dirty="0"/>
          </a:p>
        </p:txBody>
      </p:sp>
      <p:sp>
        <p:nvSpPr>
          <p:cNvPr id="16" name="Shape 14"/>
          <p:cNvSpPr/>
          <p:nvPr/>
        </p:nvSpPr>
        <p:spPr>
          <a:xfrm>
            <a:off x="502920" y="5650992"/>
            <a:ext cx="11201400" cy="914400"/>
          </a:xfrm>
          <a:prstGeom prst="roundRect">
            <a:avLst>
              <a:gd name="adj" fmla="val 6000"/>
            </a:avLst>
          </a:prstGeom>
          <a:solidFill>
            <a:srgbClr val="2A3A66"/>
          </a:solidFill>
          <a:ln/>
        </p:spPr>
        <p:txBody>
          <a:bodyPr/>
          <a:lstStyle/>
          <a:p>
            <a:endParaRPr lang="en-US"/>
          </a:p>
        </p:txBody>
      </p:sp>
      <p:sp>
        <p:nvSpPr>
          <p:cNvPr id="17" name="Text 15"/>
          <p:cNvSpPr/>
          <p:nvPr/>
        </p:nvSpPr>
        <p:spPr>
          <a:xfrm>
            <a:off x="731520" y="5650992"/>
            <a:ext cx="2377440" cy="914400"/>
          </a:xfrm>
          <a:prstGeom prst="rect">
            <a:avLst/>
          </a:prstGeom>
          <a:noFill/>
          <a:ln/>
        </p:spPr>
        <p:txBody>
          <a:bodyPr wrap="square" lIns="0" tIns="0" rIns="0" bIns="0" rtlCol="0" anchor="ctr"/>
          <a:lstStyle/>
          <a:p>
            <a:pPr marL="0" indent="0">
              <a:buNone/>
            </a:pPr>
            <a:r>
              <a:rPr lang="en-US" sz="1400" b="1" dirty="0">
                <a:solidFill>
                  <a:srgbClr val="E8B95A"/>
                </a:solidFill>
                <a:latin typeface="Calibri" pitchFamily="34" charset="0"/>
                <a:ea typeface="Calibri" pitchFamily="34" charset="-122"/>
                <a:cs typeface="Calibri" pitchFamily="34" charset="-120"/>
              </a:rPr>
              <a:t>The real lesson</a:t>
            </a:r>
            <a:endParaRPr lang="en-US" sz="1400" dirty="0"/>
          </a:p>
        </p:txBody>
      </p:sp>
      <p:sp>
        <p:nvSpPr>
          <p:cNvPr id="18" name="Text 16"/>
          <p:cNvSpPr/>
          <p:nvPr/>
        </p:nvSpPr>
        <p:spPr>
          <a:xfrm>
            <a:off x="3200400" y="5705856"/>
            <a:ext cx="8321040" cy="822960"/>
          </a:xfrm>
          <a:prstGeom prst="rect">
            <a:avLst/>
          </a:prstGeom>
          <a:noFill/>
          <a:ln/>
        </p:spPr>
        <p:txBody>
          <a:bodyPr wrap="square" lIns="0" tIns="0" rIns="0" bIns="0" rtlCol="0" anchor="ctr"/>
          <a:lstStyle/>
          <a:p>
            <a:pPr marL="0" indent="0">
              <a:lnSpc>
                <a:spcPct val="108000"/>
              </a:lnSpc>
              <a:buNone/>
            </a:pPr>
            <a:r>
              <a:rPr lang="en-US" sz="1100" dirty="0">
                <a:solidFill>
                  <a:srgbClr val="FFFFFF"/>
                </a:solidFill>
                <a:latin typeface="Calibri" pitchFamily="34" charset="0"/>
                <a:ea typeface="Calibri" pitchFamily="34" charset="-122"/>
                <a:cs typeface="Calibri" pitchFamily="34" charset="-120"/>
              </a:rPr>
              <a:t>Almost nothing survived honest measurement. The best improvement was removing fourteen useless inputs. The biggest apparent win flipped sign on a longer test. Resolution and sample size were the binding constraints — not architecture.</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APPENDIX</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The one-slide summary — for reuse in your paper or talk</a:t>
            </a:r>
            <a:endParaRPr lang="en-US" sz="27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201400" cy="4535424"/>
        </p:xfrm>
        <a:graphic>
          <a:graphicData uri="http://schemas.openxmlformats.org/drawingml/2006/table">
            <a:tbl>
              <a:tblPr/>
              <a:tblGrid>
                <a:gridCol w="1920240">
                  <a:extLst>
                    <a:ext uri="{9D8B030D-6E8A-4147-A177-3AD203B41FA5}">
                      <a16:colId xmlns:a16="http://schemas.microsoft.com/office/drawing/2014/main" val="20000"/>
                    </a:ext>
                  </a:extLst>
                </a:gridCol>
                <a:gridCol w="9281160">
                  <a:extLst>
                    <a:ext uri="{9D8B030D-6E8A-4147-A177-3AD203B41FA5}">
                      <a16:colId xmlns:a16="http://schemas.microsoft.com/office/drawing/2014/main" val="20001"/>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Task</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200" dirty="0">
                          <a:solidFill>
                            <a:srgbClr val="20242B"/>
                          </a:solidFill>
                          <a:latin typeface="Calibri" pitchFamily="34" charset="0"/>
                          <a:ea typeface="Calibri" pitchFamily="34" charset="-122"/>
                          <a:cs typeface="Calibri" pitchFamily="34" charset="-120"/>
                        </a:rPr>
                        <a:t>District wheat yield, forecast on 5 March, eight weeks before harvest</a:t>
                      </a:r>
                      <a:endParaRPr lang="en-US" sz="12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Coverage</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200" dirty="0">
                          <a:solidFill>
                            <a:srgbClr val="20242B"/>
                          </a:solidFill>
                          <a:latin typeface="Calibri" pitchFamily="34" charset="0"/>
                          <a:ea typeface="Calibri" pitchFamily="34" charset="-122"/>
                          <a:cs typeface="Calibri" pitchFamily="34" charset="-120"/>
                        </a:rPr>
                        <a:t>119 districts — Haryana, Punjab, Uttar Pradesh; evaluated on seasons 2019–2022 (476 district-seasons)</a:t>
                      </a:r>
                      <a:endParaRPr lang="en-US" sz="12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Output</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200" dirty="0">
                          <a:solidFill>
                            <a:srgbClr val="20242B"/>
                          </a:solidFill>
                          <a:latin typeface="Calibri" pitchFamily="34" charset="0"/>
                          <a:ea typeface="Calibri" pitchFamily="34" charset="-122"/>
                          <a:cs typeface="Calibri" pitchFamily="34" charset="-120"/>
                        </a:rPr>
                        <a:t>Point forecast, 19 quantiles, probability of rise and of 5 / 10 / 20 / 30% falls — all relative to last season</a:t>
                      </a:r>
                      <a:endParaRPr lang="en-US" sz="12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200" dirty="0">
                          <a:solidFill>
                            <a:srgbClr val="20242B"/>
                          </a:solidFill>
                          <a:latin typeface="Calibri" pitchFamily="34" charset="0"/>
                          <a:ea typeface="Calibri" pitchFamily="34" charset="-122"/>
                          <a:cs typeface="Calibri" pitchFamily="34" charset="-120"/>
                        </a:rPr>
                        <a:t>ŷ = Blend + 1.75·c_ahead + 0.25·c_data + 2.25·c_crop, then distribution from the model's own past errors</a:t>
                      </a:r>
                      <a:endParaRPr lang="en-US" sz="12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200" dirty="0">
                          <a:solidFill>
                            <a:srgbClr val="20242B"/>
                          </a:solidFill>
                          <a:latin typeface="Calibri" pitchFamily="34" charset="0"/>
                          <a:ea typeface="Calibri" pitchFamily="34" charset="-122"/>
                          <a:cs typeface="Calibri" pitchFamily="34" charset="-120"/>
                        </a:rPr>
                        <a:t>265 kg/ha typical error (≈5.9%); direction right 78.8%; improved in 4 of 4 available seasons</a:t>
                      </a:r>
                      <a:endParaRPr lang="en-US" sz="12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Honesty</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200" dirty="0">
                          <a:solidFill>
                            <a:srgbClr val="20242B"/>
                          </a:solidFill>
                          <a:latin typeface="Calibri" pitchFamily="34" charset="0"/>
                          <a:ea typeface="Calibri" pitchFamily="34" charset="-122"/>
                          <a:cs typeface="Calibri" pitchFamily="34" charset="-120"/>
                        </a:rPr>
                        <a:t>80% ranges cover 80.9%; 90% cover 91.8%; stated probabilities match reality within ~1 point (except deep tail)</a:t>
                      </a:r>
                      <a:endParaRPr lang="en-US" sz="12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Early warning</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200" dirty="0">
                          <a:solidFill>
                            <a:srgbClr val="20242B"/>
                          </a:solidFill>
                          <a:latin typeface="Calibri" pitchFamily="34" charset="0"/>
                          <a:ea typeface="Calibri" pitchFamily="34" charset="-122"/>
                          <a:cs typeface="Calibri" pitchFamily="34" charset="-120"/>
                        </a:rPr>
                        <a:t>Ranks a &gt;10% collapse correctly 82% of the time (ranking skill 0.820)</a:t>
                      </a:r>
                      <a:endParaRPr lang="en-US" sz="12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6"/>
                  </a:ext>
                </a:extLst>
              </a:tr>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Cost</a:t>
                      </a:r>
                      <a:endParaRPr lang="en-US" sz="115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solidFill>
                      <a:srgbClr val="1F2B4D"/>
                    </a:solidFill>
                  </a:tcPr>
                </a:tc>
                <a:tc>
                  <a:txBody>
                    <a:bodyPr/>
                    <a:lstStyle/>
                    <a:p>
                      <a:pPr marL="0" indent="0">
                        <a:buNone/>
                      </a:pPr>
                      <a:r>
                        <a:rPr lang="en-US" sz="1200" dirty="0">
                          <a:solidFill>
                            <a:srgbClr val="20242B"/>
                          </a:solidFill>
                          <a:latin typeface="Calibri" pitchFamily="34" charset="0"/>
                          <a:ea typeface="Calibri" pitchFamily="34" charset="-122"/>
                          <a:cs typeface="Calibri" pitchFamily="34" charset="-120"/>
                        </a:rPr>
                        <a:t>≈3 hours end-to-end on one laptop; the network has 67,359 parameters</a:t>
                      </a:r>
                      <a:endParaRPr lang="en-US" sz="1200" dirty="0">
                        <a:latin typeface="Calibri" charset="0"/>
                        <a:ea typeface="Calibri" charset="0"/>
                        <a:cs typeface="Calibri" charset="0"/>
                      </a:endParaRPr>
                    </a:p>
                  </a:txBody>
                  <a:tcPr anchor="ctr">
                    <a:lnL w="9525" cap="flat" cmpd="sng" algn="ctr">
                      <a:solidFill>
                        <a:srgbClr val="E3E5EA"/>
                      </a:solidFill>
                      <a:prstDash val="solid"/>
                      <a:round/>
                      <a:headEnd type="none" w="med" len="med"/>
                      <a:tailEnd type="none" w="med" len="med"/>
                    </a:lnL>
                    <a:lnR w="9525" cap="flat" cmpd="sng" algn="ctr">
                      <a:solidFill>
                        <a:srgbClr val="E3E5EA"/>
                      </a:solidFill>
                      <a:prstDash val="solid"/>
                      <a:round/>
                      <a:headEnd type="none" w="med" len="med"/>
                      <a:tailEnd type="none" w="med" len="med"/>
                    </a:lnR>
                    <a:lnT w="9525" cap="flat" cmpd="sng" algn="ctr">
                      <a:solidFill>
                        <a:srgbClr val="E3E5EA"/>
                      </a:solidFill>
                      <a:prstDash val="solid"/>
                      <a:round/>
                      <a:headEnd type="none" w="med" len="med"/>
                      <a:tailEnd type="none" w="med" len="med"/>
                    </a:lnT>
                    <a:lnB w="9525" cap="flat" cmpd="sng" algn="ctr">
                      <a:solidFill>
                        <a:srgbClr val="E3E5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292608"/>
          </a:xfrm>
          <a:prstGeom prst="rect">
            <a:avLst/>
          </a:prstGeom>
          <a:noFill/>
          <a:ln/>
        </p:spPr>
        <p:txBody>
          <a:bodyPr wrap="square" lIns="0" tIns="0" rIns="0" bIns="0" rtlCol="0" anchor="ctr"/>
          <a:lstStyle/>
          <a:p>
            <a:pPr marL="0" indent="0">
              <a:buNone/>
            </a:pPr>
            <a:r>
              <a:rPr lang="en-US" sz="1200" b="1" kern="0" spc="200" dirty="0">
                <a:solidFill>
                  <a:srgbClr val="C98500"/>
                </a:solidFill>
                <a:latin typeface="Calibri" pitchFamily="34" charset="0"/>
                <a:ea typeface="Calibri" pitchFamily="34" charset="-122"/>
                <a:cs typeface="Calibri" pitchFamily="34" charset="-120"/>
              </a:rPr>
              <a:t>APPENDIX</a:t>
            </a:r>
            <a:endParaRPr lang="en-US" sz="1200" dirty="0"/>
          </a:p>
        </p:txBody>
      </p:sp>
      <p:sp>
        <p:nvSpPr>
          <p:cNvPr id="3" name="Text 1"/>
          <p:cNvSpPr/>
          <p:nvPr/>
        </p:nvSpPr>
        <p:spPr>
          <a:xfrm>
            <a:off x="502920" y="566928"/>
            <a:ext cx="11247120" cy="777240"/>
          </a:xfrm>
          <a:prstGeom prst="rect">
            <a:avLst/>
          </a:prstGeom>
          <a:noFill/>
          <a:ln/>
        </p:spPr>
        <p:txBody>
          <a:bodyPr wrap="square" lIns="0" tIns="0" rIns="0" bIns="0" rtlCol="0" anchor="t"/>
          <a:lstStyle/>
          <a:p>
            <a:pPr marL="0" indent="0">
              <a:buNone/>
            </a:pPr>
            <a:r>
              <a:rPr lang="en-US" sz="2700" b="1" dirty="0">
                <a:solidFill>
                  <a:srgbClr val="20242B"/>
                </a:solidFill>
                <a:latin typeface="Calibri" pitchFamily="34" charset="0"/>
                <a:ea typeface="Calibri" pitchFamily="34" charset="-122"/>
                <a:cs typeface="Calibri" pitchFamily="34" charset="-120"/>
              </a:rPr>
              <a:t>Glossary — every technical term used in this deck</a:t>
            </a:r>
            <a:endParaRPr lang="en-US" sz="2700" dirty="0"/>
          </a:p>
        </p:txBody>
      </p:sp>
      <p:sp>
        <p:nvSpPr>
          <p:cNvPr id="4" name="Text 2"/>
          <p:cNvSpPr/>
          <p:nvPr/>
        </p:nvSpPr>
        <p:spPr>
          <a:xfrm>
            <a:off x="502920" y="1554480"/>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Attention  —  </a:t>
            </a:r>
            <a:r>
              <a:rPr lang="en-US" sz="1050" dirty="0">
                <a:solidFill>
                  <a:srgbClr val="5A6170"/>
                </a:solidFill>
                <a:latin typeface="Calibri" pitchFamily="34" charset="0"/>
                <a:ea typeface="Calibri" pitchFamily="34" charset="-122"/>
                <a:cs typeface="Calibri" pitchFamily="34" charset="-120"/>
              </a:rPr>
              <a:t>the operation where each token scores all others for relevance and takes a weighted average of their content</a:t>
            </a:r>
            <a:endParaRPr lang="en-US" sz="1050" dirty="0"/>
          </a:p>
        </p:txBody>
      </p:sp>
      <p:sp>
        <p:nvSpPr>
          <p:cNvPr id="5" name="Text 3"/>
          <p:cNvSpPr/>
          <p:nvPr/>
        </p:nvSpPr>
        <p:spPr>
          <a:xfrm>
            <a:off x="6217920" y="1554480"/>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BCE  —  </a:t>
            </a:r>
            <a:r>
              <a:rPr lang="en-US" sz="1050" dirty="0">
                <a:solidFill>
                  <a:srgbClr val="5A6170"/>
                </a:solidFill>
                <a:latin typeface="Calibri" pitchFamily="34" charset="0"/>
                <a:ea typeface="Calibri" pitchFamily="34" charset="-122"/>
                <a:cs typeface="Calibri" pitchFamily="34" charset="-120"/>
              </a:rPr>
              <a:t>binary cross-entropy: the standard penalty for yes/no predictions</a:t>
            </a:r>
            <a:endParaRPr lang="en-US" sz="1050" dirty="0"/>
          </a:p>
        </p:txBody>
      </p:sp>
      <p:sp>
        <p:nvSpPr>
          <p:cNvPr id="6" name="Text 4"/>
          <p:cNvSpPr/>
          <p:nvPr/>
        </p:nvSpPr>
        <p:spPr>
          <a:xfrm>
            <a:off x="502920" y="2167128"/>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Blend  —  </a:t>
            </a:r>
            <a:r>
              <a:rPr lang="en-US" sz="1050" dirty="0">
                <a:solidFill>
                  <a:srgbClr val="5A6170"/>
                </a:solidFill>
                <a:latin typeface="Calibri" pitchFamily="34" charset="0"/>
                <a:ea typeface="Calibri" pitchFamily="34" charset="-122"/>
                <a:cs typeface="Calibri" pitchFamily="34" charset="-120"/>
              </a:rPr>
              <a:t>Stage 1's weighted average of five separate yield estimates</a:t>
            </a:r>
            <a:endParaRPr lang="en-US" sz="1050" dirty="0"/>
          </a:p>
        </p:txBody>
      </p:sp>
      <p:sp>
        <p:nvSpPr>
          <p:cNvPr id="7" name="Text 5"/>
          <p:cNvSpPr/>
          <p:nvPr/>
        </p:nvSpPr>
        <p:spPr>
          <a:xfrm>
            <a:off x="6217920" y="2167128"/>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Decision-tree ensemble  —  </a:t>
            </a:r>
            <a:r>
              <a:rPr lang="en-US" sz="1050" dirty="0">
                <a:solidFill>
                  <a:srgbClr val="5A6170"/>
                </a:solidFill>
                <a:latin typeface="Calibri" pitchFamily="34" charset="0"/>
                <a:ea typeface="Calibri" pitchFamily="34" charset="-122"/>
                <a:cs typeface="Calibri" pitchFamily="34" charset="-120"/>
              </a:rPr>
              <a:t>hundreds of tiny yes/no question-trees, averaged; reliable when data is scarce</a:t>
            </a:r>
            <a:endParaRPr lang="en-US" sz="1050" dirty="0"/>
          </a:p>
        </p:txBody>
      </p:sp>
      <p:sp>
        <p:nvSpPr>
          <p:cNvPr id="8" name="Text 6"/>
          <p:cNvSpPr/>
          <p:nvPr/>
        </p:nvSpPr>
        <p:spPr>
          <a:xfrm>
            <a:off x="502920" y="2779776"/>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GELU  —  </a:t>
            </a:r>
            <a:r>
              <a:rPr lang="en-US" sz="1050" dirty="0">
                <a:solidFill>
                  <a:srgbClr val="5A6170"/>
                </a:solidFill>
                <a:latin typeface="Calibri" pitchFamily="34" charset="0"/>
                <a:ea typeface="Calibri" pitchFamily="34" charset="-122"/>
                <a:cs typeface="Calibri" pitchFamily="34" charset="-120"/>
              </a:rPr>
              <a:t>a smooth activation function; lets small negative values leak through</a:t>
            </a:r>
            <a:endParaRPr lang="en-US" sz="1050" dirty="0"/>
          </a:p>
        </p:txBody>
      </p:sp>
      <p:sp>
        <p:nvSpPr>
          <p:cNvPr id="9" name="Text 7"/>
          <p:cNvSpPr/>
          <p:nvPr/>
        </p:nvSpPr>
        <p:spPr>
          <a:xfrm>
            <a:off x="6217920" y="2779776"/>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LayerNorm  —  </a:t>
            </a:r>
            <a:r>
              <a:rPr lang="en-US" sz="1050" dirty="0">
                <a:solidFill>
                  <a:srgbClr val="5A6170"/>
                </a:solidFill>
                <a:latin typeface="Calibri" pitchFamily="34" charset="0"/>
                <a:ea typeface="Calibri" pitchFamily="34" charset="-122"/>
                <a:cs typeface="Calibri" pitchFamily="34" charset="-120"/>
              </a:rPr>
              <a:t>rescales a vector to mean 0, SD 1, for training stability</a:t>
            </a:r>
            <a:endParaRPr lang="en-US" sz="1050" dirty="0"/>
          </a:p>
        </p:txBody>
      </p:sp>
      <p:sp>
        <p:nvSpPr>
          <p:cNvPr id="10" name="Text 8"/>
          <p:cNvSpPr/>
          <p:nvPr/>
        </p:nvSpPr>
        <p:spPr>
          <a:xfrm>
            <a:off x="502920" y="3392424"/>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MAD  —  </a:t>
            </a:r>
            <a:r>
              <a:rPr lang="en-US" sz="1050" dirty="0">
                <a:solidFill>
                  <a:srgbClr val="5A6170"/>
                </a:solidFill>
                <a:latin typeface="Calibri" pitchFamily="34" charset="0"/>
                <a:ea typeface="Calibri" pitchFamily="34" charset="-122"/>
                <a:cs typeface="Calibri" pitchFamily="34" charset="-120"/>
              </a:rPr>
              <a:t>median absolute deviation — an outlier-proof measure of spread</a:t>
            </a:r>
            <a:endParaRPr lang="en-US" sz="1050" dirty="0"/>
          </a:p>
        </p:txBody>
      </p:sp>
      <p:sp>
        <p:nvSpPr>
          <p:cNvPr id="11" name="Text 9"/>
          <p:cNvSpPr/>
          <p:nvPr/>
        </p:nvSpPr>
        <p:spPr>
          <a:xfrm>
            <a:off x="6217920" y="3392424"/>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Mask (M)  —  </a:t>
            </a:r>
            <a:r>
              <a:rPr lang="en-US" sz="1050" dirty="0">
                <a:solidFill>
                  <a:srgbClr val="5A6170"/>
                </a:solidFill>
                <a:latin typeface="Calibri" pitchFamily="34" charset="0"/>
                <a:ea typeface="Calibri" pitchFamily="34" charset="-122"/>
                <a:cs typeface="Calibri" pitchFamily="34" charset="-120"/>
              </a:rPr>
              <a:t>−∞ scores for forbidden tokens, so future data gets zero attention weight</a:t>
            </a:r>
            <a:endParaRPr lang="en-US" sz="1050" dirty="0"/>
          </a:p>
        </p:txBody>
      </p:sp>
      <p:sp>
        <p:nvSpPr>
          <p:cNvPr id="12" name="Text 10"/>
          <p:cNvSpPr/>
          <p:nvPr/>
        </p:nvSpPr>
        <p:spPr>
          <a:xfrm>
            <a:off x="502920" y="4005072"/>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MODIS / Sentinel-2  —  </a:t>
            </a:r>
            <a:r>
              <a:rPr lang="en-US" sz="1050" dirty="0">
                <a:solidFill>
                  <a:srgbClr val="5A6170"/>
                </a:solidFill>
                <a:latin typeface="Calibri" pitchFamily="34" charset="0"/>
                <a:ea typeface="Calibri" pitchFamily="34" charset="-122"/>
                <a:cs typeface="Calibri" pitchFamily="34" charset="-120"/>
              </a:rPr>
              <a:t>NASA satellite (250 m, since 2000) / European satellite (10 m, since 2017)</a:t>
            </a:r>
            <a:endParaRPr lang="en-US" sz="1050" dirty="0"/>
          </a:p>
        </p:txBody>
      </p:sp>
      <p:sp>
        <p:nvSpPr>
          <p:cNvPr id="13" name="Text 11"/>
          <p:cNvSpPr/>
          <p:nvPr/>
        </p:nvSpPr>
        <p:spPr>
          <a:xfrm>
            <a:off x="6217920" y="4005072"/>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Quantile (q10, q50…)  —  </a:t>
            </a:r>
            <a:r>
              <a:rPr lang="en-US" sz="1050" dirty="0">
                <a:solidFill>
                  <a:srgbClr val="5A6170"/>
                </a:solidFill>
                <a:latin typeface="Calibri" pitchFamily="34" charset="0"/>
                <a:ea typeface="Calibri" pitchFamily="34" charset="-122"/>
                <a:cs typeface="Calibri" pitchFamily="34" charset="-120"/>
              </a:rPr>
              <a:t>the value with a given chance of not being exceeded; q50 = median</a:t>
            </a:r>
            <a:endParaRPr lang="en-US" sz="1050" dirty="0"/>
          </a:p>
        </p:txBody>
      </p:sp>
      <p:sp>
        <p:nvSpPr>
          <p:cNvPr id="14" name="Text 12"/>
          <p:cNvSpPr/>
          <p:nvPr/>
        </p:nvSpPr>
        <p:spPr>
          <a:xfrm>
            <a:off x="502920" y="4617720"/>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Residual (r = y − b)  —  </a:t>
            </a:r>
            <a:r>
              <a:rPr lang="en-US" sz="1050" dirty="0">
                <a:solidFill>
                  <a:srgbClr val="5A6170"/>
                </a:solidFill>
                <a:latin typeface="Calibri" pitchFamily="34" charset="0"/>
                <a:ea typeface="Calibri" pitchFamily="34" charset="-122"/>
                <a:cs typeface="Calibri" pitchFamily="34" charset="-120"/>
              </a:rPr>
              <a:t>how much this season differs from business as usual</a:t>
            </a:r>
            <a:endParaRPr lang="en-US" sz="1050" dirty="0"/>
          </a:p>
        </p:txBody>
      </p:sp>
      <p:sp>
        <p:nvSpPr>
          <p:cNvPr id="15" name="Text 13"/>
          <p:cNvSpPr/>
          <p:nvPr/>
        </p:nvSpPr>
        <p:spPr>
          <a:xfrm>
            <a:off x="6217920" y="4617720"/>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RMSE / typical error  —  </a:t>
            </a:r>
            <a:r>
              <a:rPr lang="en-US" sz="1050" dirty="0">
                <a:solidFill>
                  <a:srgbClr val="5A6170"/>
                </a:solidFill>
                <a:latin typeface="Calibri" pitchFamily="34" charset="0"/>
                <a:ea typeface="Calibri" pitchFamily="34" charset="-122"/>
                <a:cs typeface="Calibri" pitchFamily="34" charset="-120"/>
              </a:rPr>
              <a:t>root-mean-square error: square errors, average, square-root</a:t>
            </a:r>
            <a:endParaRPr lang="en-US" sz="1050" dirty="0"/>
          </a:p>
        </p:txBody>
      </p:sp>
      <p:sp>
        <p:nvSpPr>
          <p:cNvPr id="16" name="Text 14"/>
          <p:cNvSpPr/>
          <p:nvPr/>
        </p:nvSpPr>
        <p:spPr>
          <a:xfrm>
            <a:off x="502920" y="5230368"/>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Shrinkage  —  </a:t>
            </a:r>
            <a:r>
              <a:rPr lang="en-US" sz="1050" dirty="0">
                <a:solidFill>
                  <a:srgbClr val="5A6170"/>
                </a:solidFill>
                <a:latin typeface="Calibri" pitchFamily="34" charset="0"/>
                <a:ea typeface="Calibri" pitchFamily="34" charset="-122"/>
                <a:cs typeface="Calibri" pitchFamily="34" charset="-120"/>
              </a:rPr>
              <a:t>deliberately taking only a fraction of a noisy signal (the 0.25 in Stage 3)</a:t>
            </a:r>
            <a:endParaRPr lang="en-US" sz="1050" dirty="0"/>
          </a:p>
        </p:txBody>
      </p:sp>
      <p:sp>
        <p:nvSpPr>
          <p:cNvPr id="17" name="Text 15"/>
          <p:cNvSpPr/>
          <p:nvPr/>
        </p:nvSpPr>
        <p:spPr>
          <a:xfrm>
            <a:off x="6217920" y="5230368"/>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Softmax  —  </a:t>
            </a:r>
            <a:r>
              <a:rPr lang="en-US" sz="1050" dirty="0">
                <a:solidFill>
                  <a:srgbClr val="5A6170"/>
                </a:solidFill>
                <a:latin typeface="Calibri" pitchFamily="34" charset="0"/>
                <a:ea typeface="Calibri" pitchFamily="34" charset="-122"/>
                <a:cs typeface="Calibri" pitchFamily="34" charset="-120"/>
              </a:rPr>
              <a:t>turns any list of scores into positive weights that sum to 1</a:t>
            </a:r>
            <a:endParaRPr lang="en-US" sz="1050" dirty="0"/>
          </a:p>
        </p:txBody>
      </p:sp>
      <p:sp>
        <p:nvSpPr>
          <p:cNvPr id="18" name="Text 16"/>
          <p:cNvSpPr/>
          <p:nvPr/>
        </p:nvSpPr>
        <p:spPr>
          <a:xfrm>
            <a:off x="502920" y="5843016"/>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Token  —  </a:t>
            </a:r>
            <a:r>
              <a:rPr lang="en-US" sz="1050" dirty="0">
                <a:solidFill>
                  <a:srgbClr val="5A6170"/>
                </a:solidFill>
                <a:latin typeface="Calibri" pitchFamily="34" charset="0"/>
                <a:ea typeface="Calibri" pitchFamily="34" charset="-122"/>
                <a:cs typeface="Calibri" pitchFamily="34" charset="-120"/>
              </a:rPr>
              <a:t>one row of numbers a transformer treats as a unit (19 here)</a:t>
            </a:r>
            <a:endParaRPr lang="en-US" sz="1050" dirty="0"/>
          </a:p>
        </p:txBody>
      </p:sp>
      <p:sp>
        <p:nvSpPr>
          <p:cNvPr id="19" name="Text 17"/>
          <p:cNvSpPr/>
          <p:nvPr/>
        </p:nvSpPr>
        <p:spPr>
          <a:xfrm>
            <a:off x="6217920" y="5843016"/>
            <a:ext cx="5532120" cy="566928"/>
          </a:xfrm>
          <a:prstGeom prst="rect">
            <a:avLst/>
          </a:prstGeom>
          <a:noFill/>
          <a:ln/>
        </p:spPr>
        <p:txBody>
          <a:bodyPr wrap="square" lIns="0" tIns="0" rIns="0" bIns="0" rtlCol="0" anchor="t"/>
          <a:lstStyle/>
          <a:p>
            <a:pPr marL="0" indent="0">
              <a:lnSpc>
                <a:spcPct val="102000"/>
              </a:lnSpc>
              <a:buNone/>
            </a:pPr>
            <a:r>
              <a:rPr lang="en-US" sz="1050" b="1" dirty="0">
                <a:solidFill>
                  <a:srgbClr val="1F2B4D"/>
                </a:solidFill>
                <a:latin typeface="Calibri" pitchFamily="34" charset="0"/>
                <a:ea typeface="Calibri" pitchFamily="34" charset="-122"/>
                <a:cs typeface="Calibri" pitchFamily="34" charset="-120"/>
              </a:rPr>
              <a:t>Transfer model  —  </a:t>
            </a:r>
            <a:r>
              <a:rPr lang="en-US" sz="1050" dirty="0">
                <a:solidFill>
                  <a:srgbClr val="5A6170"/>
                </a:solidFill>
                <a:latin typeface="Calibri" pitchFamily="34" charset="0"/>
                <a:ea typeface="Calibri" pitchFamily="34" charset="-122"/>
                <a:cs typeface="Calibri" pitchFamily="34" charset="-120"/>
              </a:rPr>
              <a:t>trained on wheat elsewhere in the world, applied here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8580</Words>
  <Application>Microsoft Macintosh PowerPoint</Application>
  <PresentationFormat>Widescreen</PresentationFormat>
  <Paragraphs>571</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Aaryan Agarwal</cp:lastModifiedBy>
  <cp:revision>2</cp:revision>
  <dcterms:created xsi:type="dcterms:W3CDTF">2026-07-26T23:40:25Z</dcterms:created>
  <dcterms:modified xsi:type="dcterms:W3CDTF">2026-07-27T19:31:55Z</dcterms:modified>
</cp:coreProperties>
</file>